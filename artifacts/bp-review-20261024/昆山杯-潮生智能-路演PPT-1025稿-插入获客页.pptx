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4" r:id="rId9"/>
    <p:sldId id="265" r:id="rId10"/>
    <p:sldId id="268" r:id="rId17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8" y="4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金额</c:v>
                </c:pt>
              </c:strCache>
            </c:strRef>
          </c:tx>
          <c:spPr>
            <a:solidFill>
              <a:srgbClr val="2459D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329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活动杂费</c:v>
                </c:pt>
                <c:pt idx="1">
                  <c:v>推广测试</c:v>
                </c:pt>
                <c:pt idx="2">
                  <c:v>剪辑补贴</c:v>
                </c:pt>
                <c:pt idx="3">
                  <c:v>开发工具</c:v>
                </c:pt>
                <c:pt idx="4">
                  <c:v>预备金</c:v>
                </c:pt>
                <c:pt idx="5">
                  <c:v>原画</c:v>
                </c:pt>
                <c:pt idx="6">
                  <c:v>语音云服务</c:v>
                </c:pt>
                <c:pt idx="7">
                  <c:v>Live2D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2000</c:v>
                </c:pt>
                <c:pt idx="1">
                  <c:v>3000</c:v>
                </c:pt>
                <c:pt idx="2">
                  <c:v>3000</c:v>
                </c:pt>
                <c:pt idx="3">
                  <c:v>3000</c:v>
                </c:pt>
                <c:pt idx="4">
                  <c:v>4200</c:v>
                </c:pt>
                <c:pt idx="5">
                  <c:v>8000</c:v>
                </c:pt>
                <c:pt idx="6">
                  <c:v>9000</c:v>
                </c:pt>
                <c:pt idx="7">
                  <c:v>14000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26-48A4-A709-64BFE0EEF0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329"/>
                </a:solidFill>
                <a:latin typeface="Microsoft YaHei"/>
              </a:defRPr>
            </a:pPr>
            <a:endParaRPr lang="zh-CN"/>
          </a:p>
        </c:txPr>
        <c:crossAx val="2094734552"/>
        <c:crosses val="autoZero"/>
        <c:auto val="1"/>
        <c:lblAlgn val="ctr"/>
        <c:lblOffset val="100"/>
        <c:tickLblSkip val="1"/>
        <c:noMultiLvlLbl val="1"/>
      </c:catAx>
      <c:valAx>
        <c:axId val="2094734552"/>
        <c:scaling>
          <c:orientation val="minMax"/>
          <c:max val="17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049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潮生智能团队，项目是原创角色“姬岁歌”的人机共同直播。
· 一句话：主持人主动设局造梗，AI 以岁、歌两种稳定性格接梗，围绕游戏和弹幕形成真实互动，再用直播、切片和连续剧情吸引观众回访。
【假设与能力边界】
· 右侧为角色概念图，版权归团队所有，正在生成定稿；原画与 Live2D 计划 11 月底交付。
【来源】
· 商业计划书封面与项目摘要（2026-10-24 人机共播修订版）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汇报按商业计划书的六个模块展开：项目背景、市场与竞品、产品（4 页）、团队、商业模式、市场战略。
· 每个模块右侧是这一部分的结论，读完目录就知道整份提案要说什么。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问题：AI 能回答问题之后，难的是持续做出值得看、值得分享、能按期交付的节目。
· 我们的回答是人机共播：主持人设局、追问并给出真实反应；AI 以稳定角色回应，并在游戏里做出不同于搭档预期的选择。
· 四步构成一场节目，结果留到下一场回收，这是观众回访的理由。
· 目标观众：喜欢 VTuber、爱看整活与联动的中文观众；已有 5 名这类路人观众的初步反馈。
【补充说明】
· 首批服务两类观众：愿意持续追看角色与搭档关系的人；先被游戏反转和 AI 意外反应吸引的人。
· 中文接梗需要持续本地化：一个梗同时依赖谐音、弹幕上下文、游戏局势、搭档关系和说话时机；主持人主动造梗为 AI 提供可理解的现场条件。
【假设与能力边界】
· “人化”指可识别的性格、表达和连续经历；AI 情绪属于角色表达，不宣称拥有真实情感。
· 5 名路人观众为小样本定性反馈，与熟人前测类似，不是正式验证；正式验证计划扩大到 30 名成年受试者。
【来源】
· 商业计划书第 3–4 页
· 5 名路人观众初步反馈：团队记录（用户提供，2026-10）
【待确认事项】
· 5 名路人反馈的书面记录（时间、渠道、主要反馈）。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【M1 数据来源】CTR × 哔哩哔哩《BILIBILI 2026年轻人消费趋势报告》，2026-01-13发布。官方发布：https://www.ctrchina.cn/rich/report/802 。原报告 PDF：https://pdf.dfcfw.com/pdf/H3_AP202601201818132804_1.pdf?1768906405000.pdf= 。已下载并逐项查看 PDF第21页（印刷页码20）的图表。数据来自2025年CTR B站年轻人调研，N=4056。43.5%对应“在B站浏览的虚拟内容类型：虚拟UP主(VUP)直播或录播内容”；18.5%对应“在B站付费过的虚拟商品/服务：为虚拟UP主/VUP打赏或充电”。二者是不同问题的样本占比，不能相乘或相除来估算转化率，不能乘平台MAU外推人数；该报告也未将真人驱动与AI驱动VUP分开，因此页面用VUP表述，不将该比例称为纯传统VUP观众占比。</a:t>
            </a:r>
          </a:p>
          <a:p>
            <a:r>
              <a:t>【目标人群判断】优先争取喜欢虚拟角色、游戏互动和连续内容的已有VUP观众，是姬岁歌的市场选择。没有数据证明传统VUP粉丝中大部分会转向姬岁歌；实际转化、回访和付费仍待试播验证。</a:t>
            </a:r>
          </a:p>
          <a:p>
            <a:r>
              <a:t>【M2 国内直接案例】Lumi / Nox 创作者官方仓库 https://github.com/MIO-456/Lumi_Nox ，README明确介绍B站双AI日常直播，包含双角色对话、弹幕互动、游戏和跨场观众记忆。核对2026-10-25。可以确认该细分方向已有运营者；未获得全站名册，不能计算国内AI主播总量、占比或竞争集中度。</a:t>
            </a:r>
          </a:p>
          <a:p>
            <a:r>
              <a:t>【M3 开源工具与进入压力】Ikaros-521/AI-Vtuber：https://github.com/Ikaros-521/AI-Vtuber ，支持Bilibili等平台实时互动；AI吟美：https://github.com/worm128/AI-YinMei ，面向直播、角色互动与桌宠。核对2026-10-25。工具公开降低技术接入门槛是基于产品能力的竞争推断，不代表每个下载者或仓库分支都经营着一个主播IP。表格中基础能力更易复制是分析判断。</a:t>
            </a:r>
          </a:p>
          <a:p>
            <a:r>
              <a:t>【M4 广义内容竞争】B站官方Z指数“热点漫步”目录在2026-07-21刊出《AI偶像出道季登陆B站，拆解AI内容的破圈密码》，描述官方PUGV活动、人格与故事内容：https://trends.bilibili.com/market_insight/list?category=%E7%83%AD%E7%82%B9%E6%BC%AB%E6%AD%A5 。检索索引可读，当前页面依赖JavaScript。说明AI角色内容已有平台推动，但AI偶像视频不能计作实时AI直播账号，也不引用未经一级来源核对的“近万创作者、1.6亿浏览”数字。</a:t>
            </a:r>
          </a:p>
          <a:p>
            <a:r>
              <a:t>【竞争结论的边界】国内AI直播案例、开源底座和AI偶像内容均能找到证据；没有同口径、现时的传统VUP与持续开播AI主播全量统计，故不写“国内AI主播仅X家”“竞争压力小”“大部分传统粉丝可转化”。整体注意力竞争仍包括成熟VUP。Lumi/Nox也使用中文，不能把中文能力视为独有。</a:t>
            </a:r>
          </a:p>
          <a:p>
            <a:r>
              <a:t>【研究补充】WWW2025论文 Virtual Stars, Real Fans 作者版：https://tysong.github.io/files/WWW25.pdf 。历史采样覆盖2022-06至2023-08的4900名VUP以及21000名其他主播；这些是研究样本，不能直接写成2026年现时主播总量。论文的60.8万会员记录、33.7万用户不用于本页推算市场人数。</a:t>
            </a:r>
          </a:p>
          <a:p>
            <a:r>
              <a:t>【本页结构】按用户最后明确的文字要求：上方保留标题“面向虚拟主播存量受众提供情绪价值”，左侧上下排列43.5%与18.5%两项数据，右侧以1、2、3、4四格呈现竞争层次、代表项目及姬岁歌的差异。原右侧Neuro-sama并入四格，移除其他重复定位框。</a:t>
            </a:r>
          </a:p>
          <a:p>
            <a:r>
              <a:t>【四格差异是定位与设计】海外Neuro-sama：姬岁歌计划聚焦中文热梗与国内晚间共播；国内Lumi/Nox：真人搭档组织节目与同体双人格为姬岁歌的节目设计；开源工具：区分提供通用底座和自营角色、持续节目；传统VUP及AI偶像：突出AI自主回应和共同游戏经历。以上不是同口径实验验证的领先结论，也不声称竞品没有这些功能。</a:t>
            </a:r>
          </a:p>
          <a:p>
            <a:r>
              <a:t>【Neuro来源】官方https://vedal.ai/ 及https://github.com/VedalAI/neuro-sdk ，已在本轮前序调研读取。Neuro和Evil为海外成熟AI角色参照，已有游戏、对话、音乐、视频、商品和社群。中文定位不代表海外竞品在中国没有受众，也不推导国内竞争压力小。</a:t>
            </a:r>
          </a:p>
          <a:p>
            <a:r>
              <a:t>【标题边界】“情绪价值”描述项目希望提供的娱乐、参与感和角色关系价值，未进行临床或心理效果验证，不作真实情感或心理疗效承诺。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【讲述】本页为第一种节目方式：AI自主直播。姬岁歌以角色语气进行游戏选择、解说并回应弹幕，画面不表示真人玩家共同参与。</a:t>
            </a:r>
          </a:p>
          <a:p>
            <a:r>
              <a:t>【示意边界】两幅图由Codex内置image_gen生成，人物参考本PPT封面。均为节目效果示意；游戏画面、UI、弹幕与台词均为构造，非实机截图、非真实观众反馈、非Live2D运行成果，不作为工程能力证据。游戏UI与机制细节不保证与原作完全一致。</a:t>
            </a:r>
          </a:p>
          <a:p>
            <a:r>
              <a:t>【我的世界】繁茂洞窟、熔岩窄桥、苦力怕。字幕：这不是怂，是尊重爆炸半径。弹幕：后面！后面！／嘴硬程度：基岩级／她还在讲道理。</a:t>
            </a:r>
          </a:p>
          <a:p>
            <a:r>
              <a:t>【杀戮尖塔】残血抢攻。字幕：防御？把对面打没就不用防了。弹幕：血条：你清高／主打一个不留后路／这把有了（指重开）。本图以经典杀戮尖塔作视觉参照，不冒充杀戮尖塔2的真实运行画面。</a:t>
            </a:r>
          </a:p>
          <a:p>
            <a:r>
              <a:t>【来源】角色来自封面原图。杀戮尖塔官方商店及截图：https://store.steampowered.com/app/646570/Slay_the_Spire/ ，https://shared.akamai.steamstatic.com/store_item_assets/steam/apps/646570/ss_01aa3e7759e457bfbf2422f31c325d7b3ba8a6eb.1920x1080.jpg 。官方媒体包：https://www.megacrit.com/press-kits/slay-the-spire/ 。Minecraft官方繁茂洞窟资料：https://www.minecraft.net/en-us/article/around-block--lush-caves 。核对日期2026-10-25。</a:t>
            </a:r>
          </a:p>
          <a:p>
            <a:r>
              <a:t>【素材】素材/直播效果示意/我的世界-姬岁歌直播示意.png；素材/直播效果示意/杀戮尖塔-姬岁歌直播示意.png。两张图已嵌入PPT。</a:t>
            </a:r>
          </a:p>
          <a:p>
            <a:r>
              <a:t>【范围】产品介绍整合为两页：本页AI自主直播，下一页真人与AI联机共播。两种形式的效果示意均不是完成度证明。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【讲述】第二种节目方式是真人与AI联机共播。在同一游戏世界中，两名玩家围绕共同目标行动；协作、失误、救场及双向对白形成节目内容。人类一败涂地用于说明这一共播构想。</a:t>
            </a:r>
          </a:p>
          <a:p>
            <a:r>
              <a:t>【情境】真人玩家悬在断崖边，姬岁歌控制的角色抓着他的手，另一只手固定在石栏。游戏内明确标注真人搭档与姬岁歌AI，右下角为封面角色的直播立绘。</a:t>
            </a:r>
          </a:p>
          <a:p>
            <a:r>
              <a:t>【对白】真人：拉我上去，别松手！姬岁歌：你先别指挥，我现在承受着两个人的体重。弹幕：人工智能，人工承重／这次真是队友的重量／救援进度：互相拖累。均为拟写节目文案，不是真实用户反馈。</a:t>
            </a:r>
          </a:p>
          <a:p>
            <a:r>
              <a:t>【来源与生成】封面原画作为角色身份参考；Human Fall Flat 官方Steam商店截图作为游戏视觉参考：https://store.steampowered.com/app/477160/Human_Fall_Flat/?l=schinese 。官方页面介绍多人合作和物理解谜，本次已核对。画面通过Codex内置image_gen生成，图片保存于素材/直播效果示意/人类一败涂地-真人与AI共播示意.png。</a:t>
            </a:r>
          </a:p>
          <a:p>
            <a:r>
              <a:t>【能力边界】本图为节目效果示意，非实机录屏，不代表已实现该游戏的AI联机、抓取、攀爬或救援控制。此前Minecraft模块不能直接证明Human Fall Flat的控制能力。接入与稳定性需要另行开发验证。</a:t>
            </a:r>
          </a:p>
          <a:p>
            <a:r>
              <a:t>【产品介绍结构】两页分别为AI自主直播与真人AI联机共播。原工作台、技术流程、验收清单退出主讲页面，原始材料保留在v6源文件及私有备答摘录中。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【本页定位】用户提出的技术方案示意与文创周边概念设计。架构以合理的数据流组织拟议产品，不是对仓库实际架构的审计结果，不宣称所有链路已上线，不虚构模型性能、延迟、吞吐量或商业成绩。</a:t>
            </a:r>
          </a:p>
          <a:p>
            <a:r>
              <a:t>【技术主线】真人语音经ASR识别，弹幕经过筛选聚合，游戏状态提供场景和任务；结合人格设定与共同记忆构成上下文，进入LLM生成和动作规划；输出一方面交给TTS、字幕、Live2D表达，另一方面交给工具执行游戏动作，执行结果回写状态，重要事件经适当确认后进入记忆。具体实现、模型选型、权限、恢复机制仍需工程验证。</a:t>
            </a:r>
          </a:p>
          <a:p>
            <a:r>
              <a:t>【可编辑性】左侧使用原生PowerPoint节点、文字和连接箭头。图为技术说明，不将旁边周边图片作为数据流的输出节点。</a:t>
            </a:r>
          </a:p>
          <a:p>
            <a:r>
              <a:t>【周边概念】亚克力人物立牌与圆形金属徽章，参考本PPT封面人物形象，由Codex内置image_gen生成。商品未打样或量产，没有实际供应商报价、售价或销量，图片不构成生产验收。</a:t>
            </a:r>
          </a:p>
          <a:p>
            <a:r>
              <a:t>【生成素材】素材/周边概念设计/姬岁歌-立牌与徽章概念.png；生成提示词与素材说明保存于同一文件夹。人物参考为封面原画，未使用外部人物IP。</a:t>
            </a:r>
          </a:p>
          <a:p>
            <a:r>
              <a:t>【讲述建议】先用简短主线解释角色如何接收输入、形成回应并行动，再说明角色形象可以延伸为立牌、徽章等小批量预售概念，与前页直播节目及后页收入模式衔接。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九人按一场节目的生产流程组织：CEO 统筹，技术总监负责系统实现与验收，运营总监负责节目排期与跨工作线交付。
· 播前运营总监组织任务、主持与抛梗审阅，技术总监确认依赖服务和接管流程；播后视频负责人筛选高光，市场商务负责人汇总数据，CEO 决定下一轮投入。
【补充说明】
· 主持人按场次轮值安排；团队成员目前不领薪，工时单独记录。
【假设与能力边界】
· 以上为计划中的岗位安排，公司设立后的正式任职另行确认；页面不包含履历与过往成绩。
【来源】
· 商业计划书第 10 页“团队介绍”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【讲述主线】现阶段以直播节目为核心。商业模式回答谁付费、通过什么形式付费、获得什么价值；不以成本覆盖率作为主标题。四类收入是规划，未形成经营实绩。</a:t>
            </a:r>
          </a:p>
          <a:p>
            <a:r>
              <a:t>【直播打赏】直播观众通过礼物或付费留言支持现场互动和角色表现。付费不承诺改变角色感情或游戏结果，具体功能随平台提供情况开展。</a:t>
            </a:r>
          </a:p>
          <a:p>
            <a:r>
              <a:t>【直播会员】核心粉丝持续订阅。拟提供清晰的身份标识、专属内容与会员活动；具体权益、价格、平台规则和交付安排另行落实。本次讨论确定近期以打赏和会员为主，不将原计划约10万关注当作统一硬性开通门槛。</a:t>
            </a:r>
          </a:p>
          <a:p>
            <a:r>
              <a:t>【节目周边】面向喜欢角色和直播名场面的观众，采用小批量预售测试立牌、徽章等纪念商品需求，落实制作及交付后开展。</a:t>
            </a:r>
          </a:p>
          <a:p>
            <a:r>
              <a:t>【商务合作】面向品牌及游戏厂商，提供游戏试玩、主题专场与品牌赞助等直播内容和传播服务，按具体项目落实合作及报价。不虚构已签约客户或收入。</a:t>
            </a:r>
          </a:p>
          <a:p>
            <a:r>
              <a:t>【阶段安排】近期优先打磨固定节目并积累打赏与会员收入；有真实需求后逐步开展周边预售，随节目和受众积累开展商务合作。IP授权不作为现阶段主要收入来源，不在本页展开。</a:t>
            </a:r>
          </a:p>
          <a:p>
            <a:r>
              <a:t>【以下保留原稿财务测算供备答】原预测仍是历史版本情景，非收入承诺。既有成本、覆盖率及现金缺口不在页面主体展示，团队未补充实际经营数据。</a:t>
            </a:r>
          </a:p>
          <a:p>
            <a:r>
              <a:t>【本页讲述要点】
· 商业逻辑：人机节目经 B站与抖音直播和切片传播，形成观看、回访与社群关系，再转为礼物、会员、周边、品牌及游戏合作，收入再投入内容与制作。
· 首个完整运营年度收入情景 61,650 元：会员 19,250、打赏与付费留言 17,400、周边 15,000、商业合作 10,000。
· 运营与履约支出 62,500 元：日常运营 52,000 加周边制作履约 10,500。收入覆盖其中 98.6%，运营现金差额为负 850 元，尚未盈利。
· 加上 25,000 元启动投入，年末现金缺口 25,850 元；按季度推算，第 9 个月累计垫付最高，约 47,750 元。年末缺口不等于中途需要的最高垫付。
【补充说明】
· 收入依据：会员 = 385 个会员月 × 每会员月净到账 50 元（情景假设，Q3 105、Q4 280）；合作 = 2 次 × 5,000 元（Q4，以签约结算为准）；周边 = 目标销售额 15,000 元，款式与销量未定；打赏 = 计划书季度目标 1,200 / 3,000 / 5,300 / 7,900 元，计划书给出方法“有效观众 × 实际付费比例 × 人均净收入”但未给参数。
· 口径：打赏与会员为扣除平台分成后的净到账；税费未单列；周边履约按销售额 70%；团队成员不领薪，工时另记。
· 季度现金：Q1 收入 1,200、支出 13,000，净 −11,800；Q2 净 −10,000；Q3 收入 15,550、支出 16,500，净 −950；Q4 收入 41,900、支出 20,000，净 +21,900。
· 日常运营明细：模型语音云服务 18,000、剪辑社群补贴 12,000、推广 18,000、活动杂费 4,000。
· 保守情景（计划书）：会员与合作延后，打赏 8,000、日常支出 40,000、启动 25,000，缺口约 57,000 元，相应推迟预售与可变推广。
· 打赏进入节目：平台事件核对去重后进入感谢队列，连续小额合并，在任务间隙致谢；免费观众同样参与公开任务；不把打赏绑定角色的爱意、痛苦或输赢 [S9]。
· 游戏选择看五点：需求潜力、节目效果、AI 可执行程度、观众参与、维护成本。例如 Minecraft 木剑短任务材料与时限明确，失败也能讲清缺什么；游戏热度待公开运营前采样验证。
· 公开数据背景（不证明本项目收入预测成立）：B站虚拟主播付费舰长约 15.2 万人、月营收约 350 万美元 [S3]；浙大 2025 抖音主播调研中超 66% 月收入 2,000–10,000 元 [R1]；虚拟主播收入高度集中，约 2/3 粉丝不足 1 万 [R2]。
【假设与能力边界】
· 以上为预测情景，不是实际经营成绩；项目尚未盈利，也未形成商业闭环。
· 全部公式与季度、月度现金流见《预算测算明细-改稿v2.xlsx》。
【来源】
· 商业计划书第 11–16 页
· 预算测算明细-改稿v2.xlsx
· [S3] WWW 2025 VUP 研究：https://arxiv.org/abs/2502.01553
· [R1] 浙大 2025 抖音主播调研：https://www.sohu.com/a/976695880_121864818
· [R2] 澎湃：3606 名虚拟主播：https://www.thepaper.cn/newsDetail_forward_18022449
· [S7] B站开放平台直播事件文档：https://openhome.bilibili.com/doc/4/c7b549c9-d5d6-0331-b510-465ed4107e01
· [S8] 抖音开放平台直播 SDK：https://open.douyin.com/platform/resource/docs/ability/douyin-live-sdk/introduction
· [S9] 抖音直播行为规范：https://sf3-cdn-tos.douyinstatic.com/obj/ies-hotsoon-draft/webcast_all_anchor/webcast_ban_protocol.html
【待确认事项】
· 平台收入分成：后续确定。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【本页讲述要点】
· B站与抖音都直播：B站承接完整游戏过程与连载，抖音用快速情境吸引陌生观众；切片每周 4–5 条，回流到两端直播。
· 首阶段 6 个月：原画与 Live2D 11 月底交付，完成内部试播与中文接梗测试、观众验证，并开始双平台直播。下半年进入固定栏目和小规模付费，资金依靠到账收入。
· 每个阶段先看四件事：节目能否稳定完成、观众是否记住角色与事件、是否主动回访、收入是否覆盖直接成本。
· 首阶段申请支持重算为 46,200 元，比原方案 10 万元少 53.8%：必要启动 25,000、6 个月精简运营 17,000、预备金 4,200。
【补充说明】
· 重算方法（自下而上，首阶段 1–6 月）：原画 8,000、Live2D 及表情 14,000、开发工具 3,000（必要）；模型语音云服务 9,000（1,500 元/月 × 6）；剪辑补贴 3,000（半额，成员自剪为主）；推广 3,000（只做小额切片测试）；活动杂费 2,000；支出小计 42,000；预备金按 10% 计 4,200；合计 46,200 元。
· 相比原 10 万方案延后或削减：周边周转 10,500 改为下半年预售回款后生产；推广 15,000 待回访达标后用到账收入追加；剪辑补贴削减 9,000（全年口径，下半年视收入恢复）；预备金由 12,500 降为 4,200；下半年日常运营不由本次申请覆盖。
· 资金来源：首阶段预测收入 4,200 元（Q1+Q2 打赏目标）不计入资金来源，若按期到账作为额外缓冲。基准情景下半年收入 57,450、支出 36,500，净现金约 +20,950 元，可自行覆盖；若首阶段验收未通过，不进入下半年扩张。
· 对照：全年基准情景累计最高垫付约 47,750 元（第 9 月末），本方案不依赖预测收入，首阶段需要 46,200 元。
· 原画与 Live2D 尚未付款（用户确认），全额计入申请额。
· 进取增长目标：前三个月 2.5 万、约六个月 10 万、年末 15 万主阵地关注；参照头部个案（抖音虚拟主播许安一首月直播涨粉 13 万）[R3] 与行业分布（约 2/3 虚拟主播不足 1 万粉）[R2] 设定，不是预测。
· 初期每周二至周六北京时间 20:00–22:00 开播；全年推广预算分批使用，先比较自然流量下的完播、评论与关注。
【假设与能力边界】
· B站与抖音开播权限可落实；双平台正式运营仍以推流、音视频与事件联调和节目验收为前提。
· 申请额为团队测算方案，不代表已获批准或任何融资条款。
【来源】
· 商业计划书第 16–19 页
· 预算测算明细-改稿v2.xlsx（第 5 表）
· [R2] 澎湃：3606 名虚拟主播：https://www.thepaper.cn/newsDetail_forward_18022449
· [R3] 界面：许安一 100 天：https://www.jiemian.com/article/7724509.html
· [S8] 抖音开放平台直播 SDK：https://open.douyin.com/platform/resource/docs/ability/douyin-live-sdk/introduction
【待确认事项】
· 30 名成年受试者验证：后续安排。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【2026-10-25 更新（用户口述）】渠道改为 B站、抖音双主阵地，投入各半：B站以横屏直播与连载承接追更和社群，抖音以竖屏直播与切片吸引新观众。漏斗中的指标均为计划，页面去掉了“待实测”字样，标题已注明“计划指标”；尚无公开运营数据。此前“B站主阵地、抖音轻量测试”的写法作废。</a:t>
            </a:r>
          </a:p>
          <a:p/>
          <a:p>
            <a:r>
              <a:t>【讲述重点】</a:t>
            </a:r>
          </a:p>
          <a:p>
            <a:r>
              <a:t>· 渠道分工：B站为主阵地（直播与连载，承接追更、弹幕与社群）；抖音为试验渠道（切片分发与低频直播测试，按效果决定是否加大投入）；切片计划每周 4–5 条；社群负责预告下一场和回收约定。</a:t>
            </a:r>
          </a:p>
          <a:p>
            <a:r>
              <a:t>· 调整说明：计划书写的是 B站、抖音双平台直播；考虑到团队产能尚未验证，本版改为“主阵地 + 试验渠道”，不默认能同时高强度经营两端。该渠道主次已由团队确认（2026-10-25）；是否加大抖音直播，以试运营数据决定。</a:t>
            </a:r>
          </a:p>
          <a:p>
            <a:r>
              <a:t>· 漏斗：切片曝光 → 有效观看 → 关注 → 直播到访 → 下一场回访，全部为计划指标，没有已有结果。统计口径：同一时期、同一口径记录单条内容数据和可追踪的直播到访，不用总播放替代回访。</a:t>
            </a:r>
          </a:p>
          <a:p>
            <a:r>
              <a:t>【承接】下一页是资金预算。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Relationship Id="rId4" Type="http://schemas.openxmlformats.org/officeDocument/2006/relationships/hyperlink" Target="https://open.douyin.com/platform/resource/docs/ability/douyin-live-sdk/introduction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1003098" y="921514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昆山杯清华大学创业大赛 · 种子组 · AI for X 赛道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1003098" y="2184702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0" b="1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姬岁歌</a:t>
            </a:r>
            <a:endParaRPr lang="en-US" sz="8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人机共同直播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1003098" y="4864251"/>
            <a:ext cx="914400" cy="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</p:sp>
      <p:pic>
        <p:nvPicPr>
          <p:cNvPr id="9" name="Image 0" descr="E:\Github\AI_vtuber\output\kunshan-20261020\ppt\assets\jisui-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645" y="502920"/>
            <a:ext cx="5242655" cy="54864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011645" y="6035040"/>
            <a:ext cx="5242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角色概念图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90ABBB4-07A6-90D4-A3E6-EBCE682CF0A8}"/>
              </a:ext>
            </a:extLst>
          </p:cNvPr>
          <p:cNvSpPr txBox="1"/>
          <p:nvPr/>
        </p:nvSpPr>
        <p:spPr>
          <a:xfrm>
            <a:off x="1003098" y="503768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潮生智能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82639" y="736669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882639" y="1495621"/>
            <a:ext cx="914400" cy="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82639" y="1724221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姬岁歌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昆山杯路演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632960" y="68580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47360" y="950707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10063935" y="685800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32960" y="1581912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32960" y="1581912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547360" y="1846819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市场规模与竞品分析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10063935" y="1581912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632960" y="2478024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32960" y="2478024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4547360" y="2742931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产品介绍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10063935" y="2478024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05–08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632960" y="3374136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632960" y="3374136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4547360" y="3639043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团队介绍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10063935" y="3374136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632960" y="4270248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632960" y="4270248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800" dirty="0"/>
          </a:p>
        </p:txBody>
      </p:sp>
      <p:sp>
        <p:nvSpPr>
          <p:cNvPr id="27" name="Text 24"/>
          <p:cNvSpPr txBox="1"/>
          <p:nvPr/>
        </p:nvSpPr>
        <p:spPr>
          <a:xfrm>
            <a:off x="4547360" y="4535155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10063935" y="4270248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3632960" y="5166360"/>
            <a:ext cx="752825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632960" y="516636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9CC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4547360" y="5431267"/>
            <a:ext cx="54251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市场战略规划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10063935" y="5166360"/>
            <a:ext cx="1097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06393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项目背景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人机共播：有趣而新颖的节目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235353"/>
            <a:ext cx="0" cy="1188720"/>
          </a:xfrm>
          <a:prstGeom prst="line">
            <a:avLst/>
          </a:prstGeom>
          <a:noFill/>
          <a:ln w="38100">
            <a:solidFill>
              <a:srgbClr val="2459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2235353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目标观众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46833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喜欢 </a:t>
            </a:r>
            <a:r>
              <a:rPr lang="en-US" sz="1900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VTuber、爱看整活联动的</a:t>
            </a:r>
            <a:r>
              <a:rPr lang="zh-CN" alt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年轻</a:t>
            </a:r>
            <a:r>
              <a:rPr lang="en-US" sz="1900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</a:t>
            </a:r>
            <a:endParaRPr lang="en-US" sz="1900" dirty="0">
              <a:solidFill>
                <a:srgbClr val="1F232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zh-CN" alt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</a:rPr>
              <a:t>拥抱技术与时代 喜爱电子游戏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" y="3716681"/>
            <a:ext cx="0" cy="1188720"/>
          </a:xfrm>
          <a:prstGeom prst="line">
            <a:avLst/>
          </a:prstGeom>
          <a:noFill/>
          <a:ln w="38100">
            <a:solidFill>
              <a:srgbClr val="D5D9E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3716681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128161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主持人设局与</a:t>
            </a:r>
            <a:r>
              <a:rPr lang="zh-CN" alt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控场</a:t>
            </a:r>
            <a:endParaRPr lang="en-US" altLang="zh-CN" sz="1900" dirty="0">
              <a:solidFill>
                <a:srgbClr val="1F232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buNone/>
            </a:pPr>
            <a:r>
              <a:rPr lang="en-US" sz="19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</a:t>
            </a:r>
            <a:r>
              <a:rPr lang="en-US" sz="1900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角色回应</a:t>
            </a:r>
            <a:endParaRPr lang="en-US" sz="1900" dirty="0">
              <a:solidFill>
                <a:srgbClr val="1F2329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775808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2459D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58688" y="1856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主持人设局造梗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958688" y="2313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挑战 · 玩笑 · 追问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21928" y="16916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204808" y="1856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</a:t>
            </a:r>
            <a:r>
              <a:rPr lang="en-US" sz="1900" b="1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角色回应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9204808" y="23134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500" dirty="0"/>
              <a:t>新颖 </a:t>
            </a:r>
            <a:r>
              <a:rPr lang="en-US" altLang="zh-CN" sz="1500" dirty="0"/>
              <a:t>· </a:t>
            </a:r>
            <a:r>
              <a:rPr lang="zh-CN" altLang="en-US" sz="1500" dirty="0"/>
              <a:t>气氛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021928" y="4434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04808" y="4599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</a:t>
            </a:r>
            <a:r>
              <a:rPr lang="zh-CN" alt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节目效果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9204808" y="5056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500" dirty="0"/>
              <a:t>吸引观众 </a:t>
            </a:r>
            <a:r>
              <a:rPr lang="en-US" altLang="zh-CN" sz="1500" dirty="0"/>
              <a:t>· </a:t>
            </a:r>
            <a:r>
              <a:rPr lang="zh-CN" altLang="en-US" sz="1500" dirty="0"/>
              <a:t>提升热度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775808" y="443484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58688" y="45994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观众</a:t>
            </a:r>
            <a:r>
              <a:rPr lang="zh-CN" alt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深度参与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5958688" y="50566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</a:t>
            </a: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en-US" sz="1500" dirty="0" err="1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</a:t>
            </a:r>
            <a:r>
              <a:rPr 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</a:t>
            </a:r>
            <a:r>
              <a:rPr lang="zh-CN" altLang="en-US" sz="15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8400136" y="2263140"/>
            <a:ext cx="603504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0324948" y="2880360"/>
            <a:ext cx="0" cy="150876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H="1">
            <a:off x="8400136" y="5006340"/>
            <a:ext cx="603504" cy="0"/>
          </a:xfrm>
          <a:prstGeom prst="line">
            <a:avLst/>
          </a:prstGeom>
          <a:noFill/>
          <a:ln w="2540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V="1">
            <a:off x="7078828" y="2880360"/>
            <a:ext cx="0" cy="1508760"/>
          </a:xfrm>
          <a:prstGeom prst="line">
            <a:avLst/>
          </a:prstGeom>
          <a:noFill/>
          <a:ln w="25400">
            <a:solidFill>
              <a:srgbClr val="2459D6"/>
            </a:solidFill>
            <a:prstDash val="dash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7604608" y="3404901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人机共播</a:t>
            </a:r>
            <a:endParaRPr lang="en-US" sz="2200" dirty="0"/>
          </a:p>
        </p:txBody>
      </p:sp>
      <p:sp>
        <p:nvSpPr>
          <p:cNvPr id="31" name="Text 28"/>
          <p:cNvSpPr txBox="1"/>
          <p:nvPr/>
        </p:nvSpPr>
        <p:spPr>
          <a:xfrm>
            <a:off x="6151838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下一场回收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5760720" y="5760720"/>
            <a:ext cx="58823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CN" alt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</a:t>
            </a:r>
            <a:r>
              <a:rPr lang="en-US" altLang="zh-CN" sz="1400" dirty="0" err="1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en-US" sz="1400" dirty="0" err="1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“人</a:t>
            </a:r>
            <a:r>
              <a:rPr lang="zh-CN" alt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</a:t>
            </a:r>
            <a:r>
              <a:rPr 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化”</a:t>
            </a:r>
            <a:r>
              <a:rPr lang="zh-CN" alt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：独特的</a:t>
            </a:r>
            <a:r>
              <a:rPr lang="en-US" sz="1400" dirty="0" err="1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性格</a:t>
            </a:r>
            <a:r>
              <a:rPr lang="zh-CN" altLang="en-US" sz="14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、表达、经历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市场规模与竞品分析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  <p:sp>
        <p:nvSpPr>
          <p:cNvPr id="101" name="title">
            <a:extLst>
              <a:ext uri="{FF2B5EF4-FFF2-40B4-BE49-F238E27FC236}">
                <a16:creationId xmlns:a16="http://schemas.microsoft.com/office/drawing/2014/main" id="{32C792CE-6D1A-431A-9933-8102019CCCCC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9662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面向虚拟主播存量受众提供情绪价值</a:t>
            </a:r>
          </a:p>
        </p:txBody>
      </p:sp>
      <p:sp>
        <p:nvSpPr>
          <p:cNvPr id="102" name="data-heading">
            <a:extLst>
              <a:ext uri="{FF2B5EF4-FFF2-40B4-BE49-F238E27FC236}">
                <a16:creationId xmlns:a16="http://schemas.microsoft.com/office/drawing/2014/main" id="{40E159B2-4D04-4CBF-A934-9FCEEEADD4C1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3095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00" b="1" dirty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已有受众基础</a:t>
            </a:r>
          </a:p>
        </p:txBody>
      </p:sp>
      <p:sp>
        <p:nvSpPr>
          <p:cNvPr id="103" name="watch-percent">
            <a:extLst>
              <a:ext uri="{FF2B5EF4-FFF2-40B4-BE49-F238E27FC236}">
                <a16:creationId xmlns:a16="http://schemas.microsoft.com/office/drawing/2014/main" id="{47CA86FB-B879-4958-A0EC-889160B924F0}"/>
              </a:ext>
            </a:extLst>
          </p:cNvPr>
          <p:cNvSpPr>
            <a:spLocks noGrp="1"/>
          </p:cNvSpPr>
          <p:nvPr/>
        </p:nvSpPr>
        <p:spPr>
          <a:xfrm>
            <a:off x="552450" y="2238375"/>
            <a:ext cx="3048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43.5%</a:t>
            </a:r>
          </a:p>
        </p:txBody>
      </p:sp>
      <p:sp>
        <p:nvSpPr>
          <p:cNvPr id="104" name="watch-desc">
            <a:extLst>
              <a:ext uri="{FF2B5EF4-FFF2-40B4-BE49-F238E27FC236}">
                <a16:creationId xmlns:a16="http://schemas.microsoft.com/office/drawing/2014/main" id="{5A9AFED1-DC2D-4399-A656-E12211BE3927}"/>
              </a:ext>
            </a:extLst>
          </p:cNvPr>
          <p:cNvSpPr>
            <a:spLocks noGrp="1"/>
          </p:cNvSpPr>
          <p:nvPr/>
        </p:nvSpPr>
        <p:spPr>
          <a:xfrm>
            <a:off x="552450" y="3028950"/>
            <a:ext cx="3095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在 B站浏览 VUP</a:t>
            </a:r>
          </a:p>
          <a:p>
            <a: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直播或录播内容</a:t>
            </a:r>
          </a:p>
        </p:txBody>
      </p:sp>
      <p:sp>
        <p:nvSpPr>
          <p:cNvPr id="105" name="pay-percent">
            <a:extLst>
              <a:ext uri="{FF2B5EF4-FFF2-40B4-BE49-F238E27FC236}">
                <a16:creationId xmlns:a16="http://schemas.microsoft.com/office/drawing/2014/main" id="{C44CE5A0-29C3-413A-BAC8-1CF90E7F394B}"/>
              </a:ext>
            </a:extLst>
          </p:cNvPr>
          <p:cNvSpPr>
            <a:spLocks noGrp="1"/>
          </p:cNvSpPr>
          <p:nvPr/>
        </p:nvSpPr>
        <p:spPr>
          <a:xfrm>
            <a:off x="552450" y="4029075"/>
            <a:ext cx="3048000" cy="733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45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18.5%</a:t>
            </a:r>
          </a:p>
        </p:txBody>
      </p:sp>
      <p:sp>
        <p:nvSpPr>
          <p:cNvPr id="106" name="pay-desc">
            <a:extLst>
              <a:ext uri="{FF2B5EF4-FFF2-40B4-BE49-F238E27FC236}">
                <a16:creationId xmlns:a16="http://schemas.microsoft.com/office/drawing/2014/main" id="{D767725D-59D8-46DA-BD2B-56F67F026E3A}"/>
              </a:ext>
            </a:extLst>
          </p:cNvPr>
          <p:cNvSpPr>
            <a:spLocks noGrp="1"/>
          </p:cNvSpPr>
          <p:nvPr/>
        </p:nvSpPr>
        <p:spPr>
          <a:xfrm>
            <a:off x="552450" y="4819650"/>
            <a:ext cx="3095625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曾在 B站为 VUP</a:t>
            </a:r>
          </a:p>
          <a:p>
            <a:pPr>
              <a:def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72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打赏或充电</a:t>
            </a:r>
          </a:p>
        </p:txBody>
      </p:sp>
      <p:sp>
        <p:nvSpPr>
          <p:cNvPr id="107" name="sample-note">
            <a:extLst>
              <a:ext uri="{FF2B5EF4-FFF2-40B4-BE49-F238E27FC236}">
                <a16:creationId xmlns:a16="http://schemas.microsoft.com/office/drawing/2014/main" id="{5E9AD229-74E3-475A-A871-8ABCF16ACF1C}"/>
              </a:ext>
            </a:extLst>
          </p:cNvPr>
          <p:cNvSpPr>
            <a:spLocks noGrp="1"/>
          </p:cNvSpPr>
          <p:nvPr/>
        </p:nvSpPr>
        <p:spPr>
          <a:xfrm>
            <a:off x="552450" y="5781675"/>
            <a:ext cx="319087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rPr>
              <a:t>2025 年 CTR B站年轻人调研</a:t>
            </a:r>
          </a:p>
          <a:p>
            <a:pPr>
              <a:def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125" b="0">
                <a:solidFill>
                  <a:srgbClr val="737D90"/>
                </a:solidFill>
                <a:latin typeface="Microsoft YaHei"/>
                <a:ea typeface="Microsoft YaHei"/>
                <a:cs typeface="Microsoft YaHei"/>
              </a:rPr>
              <a:t>N=4,056；以上为受访样本比例</a:t>
            </a:r>
          </a:p>
        </p:txBody>
      </p:sp>
      <p:sp>
        <p:nvSpPr>
          <p:cNvPr id="108" name="competitor-frame-0">
            <a:extLst>
              <a:ext uri="{FF2B5EF4-FFF2-40B4-BE49-F238E27FC236}">
                <a16:creationId xmlns:a16="http://schemas.microsoft.com/office/drawing/2014/main" id="{6D8B744F-16C7-4E3A-84E7-1E173F3AE8F3}"/>
              </a:ext>
            </a:extLst>
          </p:cNvPr>
          <p:cNvSpPr>
            <a:spLocks noGrp="1"/>
          </p:cNvSpPr>
          <p:nvPr/>
        </p:nvSpPr>
        <p:spPr>
          <a:xfrm>
            <a:off x="4114800" y="16764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09" name="number-0">
            <a:extLst>
              <a:ext uri="{FF2B5EF4-FFF2-40B4-BE49-F238E27FC236}">
                <a16:creationId xmlns:a16="http://schemas.microsoft.com/office/drawing/2014/main" id="{F1579321-4DA7-4FFE-921E-83BE9FC723E6}"/>
              </a:ext>
            </a:extLst>
          </p:cNvPr>
          <p:cNvSpPr>
            <a:spLocks noGrp="1"/>
          </p:cNvSpPr>
          <p:nvPr/>
        </p:nvSpPr>
        <p:spPr>
          <a:xfrm>
            <a:off x="4305300" y="18383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0" name="layer-0">
            <a:extLst>
              <a:ext uri="{FF2B5EF4-FFF2-40B4-BE49-F238E27FC236}">
                <a16:creationId xmlns:a16="http://schemas.microsoft.com/office/drawing/2014/main" id="{AA0830B6-D9B5-473F-B1A8-A701F2CB67C5}"/>
              </a:ext>
            </a:extLst>
          </p:cNvPr>
          <p:cNvSpPr>
            <a:spLocks noGrp="1"/>
          </p:cNvSpPr>
          <p:nvPr/>
        </p:nvSpPr>
        <p:spPr>
          <a:xfrm>
            <a:off x="4705350" y="19050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rPr>
              <a:t>海外 AI 主播</a:t>
            </a:r>
          </a:p>
        </p:txBody>
      </p:sp>
      <p:sp>
        <p:nvSpPr>
          <p:cNvPr id="111" name="representative-0">
            <a:extLst>
              <a:ext uri="{FF2B5EF4-FFF2-40B4-BE49-F238E27FC236}">
                <a16:creationId xmlns:a16="http://schemas.microsoft.com/office/drawing/2014/main" id="{1774C550-9EF1-4B69-9835-E9A53968DFAC}"/>
              </a:ext>
            </a:extLst>
          </p:cNvPr>
          <p:cNvSpPr>
            <a:spLocks noGrp="1"/>
          </p:cNvSpPr>
          <p:nvPr/>
        </p:nvSpPr>
        <p:spPr>
          <a:xfrm>
            <a:off x="4305300" y="23622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Neuro-sama</a:t>
            </a:r>
          </a:p>
        </p:txBody>
      </p:sp>
      <p:sp>
        <p:nvSpPr>
          <p:cNvPr id="112" name="difference-label-0">
            <a:extLst>
              <a:ext uri="{FF2B5EF4-FFF2-40B4-BE49-F238E27FC236}">
                <a16:creationId xmlns:a16="http://schemas.microsoft.com/office/drawing/2014/main" id="{3C0398AB-BAA4-4477-ABB3-DD82B1813D36}"/>
              </a:ext>
            </a:extLst>
          </p:cNvPr>
          <p:cNvSpPr>
            <a:spLocks noGrp="1"/>
          </p:cNvSpPr>
          <p:nvPr/>
        </p:nvSpPr>
        <p:spPr>
          <a:xfrm>
            <a:off x="4305300" y="2924175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姬岁歌的差异</a:t>
            </a:r>
          </a:p>
        </p:txBody>
      </p:sp>
      <p:sp>
        <p:nvSpPr>
          <p:cNvPr id="113" name="difference-0">
            <a:extLst>
              <a:ext uri="{FF2B5EF4-FFF2-40B4-BE49-F238E27FC236}">
                <a16:creationId xmlns:a16="http://schemas.microsoft.com/office/drawing/2014/main" id="{B734C831-0F7E-4E37-B452-AD2C906B72B2}"/>
              </a:ext>
            </a:extLst>
          </p:cNvPr>
          <p:cNvSpPr>
            <a:spLocks noGrp="1"/>
          </p:cNvSpPr>
          <p:nvPr/>
        </p:nvSpPr>
        <p:spPr>
          <a:xfrm>
            <a:off x="4305300" y="3238500"/>
            <a:ext cx="31813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/>
              <a:t>语言文化环境</a:t>
            </a:r>
            <a:r>
              <a:rPr lang="zh-CN" sz="1650" b="0" dirty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与国内</a:t>
            </a:r>
            <a:r>
              <a:rPr lang="zh-CN" altLang="en-US" sz="1650" b="0" dirty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用户时差</a:t>
            </a:r>
            <a:endParaRPr lang="zh-CN" sz="1650" b="0" dirty="0">
              <a:solidFill>
                <a:srgbClr val="2025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competitor-frame-1">
            <a:extLst>
              <a:ext uri="{FF2B5EF4-FFF2-40B4-BE49-F238E27FC236}">
                <a16:creationId xmlns:a16="http://schemas.microsoft.com/office/drawing/2014/main" id="{5CF5CBFC-C2AA-4C0D-828E-83418595C787}"/>
              </a:ext>
            </a:extLst>
          </p:cNvPr>
          <p:cNvSpPr>
            <a:spLocks noGrp="1"/>
          </p:cNvSpPr>
          <p:nvPr/>
        </p:nvSpPr>
        <p:spPr>
          <a:xfrm>
            <a:off x="7905750" y="16764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15" name="number-1">
            <a:extLst>
              <a:ext uri="{FF2B5EF4-FFF2-40B4-BE49-F238E27FC236}">
                <a16:creationId xmlns:a16="http://schemas.microsoft.com/office/drawing/2014/main" id="{96C5F526-6FB6-4A6B-A745-B559390943A5}"/>
              </a:ext>
            </a:extLst>
          </p:cNvPr>
          <p:cNvSpPr>
            <a:spLocks noGrp="1"/>
          </p:cNvSpPr>
          <p:nvPr/>
        </p:nvSpPr>
        <p:spPr>
          <a:xfrm>
            <a:off x="8096250" y="18383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6" name="layer-1">
            <a:extLst>
              <a:ext uri="{FF2B5EF4-FFF2-40B4-BE49-F238E27FC236}">
                <a16:creationId xmlns:a16="http://schemas.microsoft.com/office/drawing/2014/main" id="{1C5889AB-655A-4B3F-9761-B9CD597B57D6}"/>
              </a:ext>
            </a:extLst>
          </p:cNvPr>
          <p:cNvSpPr>
            <a:spLocks noGrp="1"/>
          </p:cNvSpPr>
          <p:nvPr/>
        </p:nvSpPr>
        <p:spPr>
          <a:xfrm>
            <a:off x="8496300" y="19050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rPr>
              <a:t>国内 AI 主播</a:t>
            </a:r>
          </a:p>
        </p:txBody>
      </p:sp>
      <p:sp>
        <p:nvSpPr>
          <p:cNvPr id="117" name="representative-1">
            <a:extLst>
              <a:ext uri="{FF2B5EF4-FFF2-40B4-BE49-F238E27FC236}">
                <a16:creationId xmlns:a16="http://schemas.microsoft.com/office/drawing/2014/main" id="{E6057674-05E4-49CC-B670-872D99E64EBC}"/>
              </a:ext>
            </a:extLst>
          </p:cNvPr>
          <p:cNvSpPr>
            <a:spLocks noGrp="1"/>
          </p:cNvSpPr>
          <p:nvPr/>
        </p:nvSpPr>
        <p:spPr>
          <a:xfrm>
            <a:off x="8096250" y="23622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Lumi / Nox</a:t>
            </a:r>
          </a:p>
        </p:txBody>
      </p:sp>
      <p:sp>
        <p:nvSpPr>
          <p:cNvPr id="118" name="difference-label-1">
            <a:extLst>
              <a:ext uri="{FF2B5EF4-FFF2-40B4-BE49-F238E27FC236}">
                <a16:creationId xmlns:a16="http://schemas.microsoft.com/office/drawing/2014/main" id="{4A71A63D-C076-4DF9-92AF-802FDE02AE3E}"/>
              </a:ext>
            </a:extLst>
          </p:cNvPr>
          <p:cNvSpPr>
            <a:spLocks noGrp="1"/>
          </p:cNvSpPr>
          <p:nvPr/>
        </p:nvSpPr>
        <p:spPr>
          <a:xfrm>
            <a:off x="8096250" y="2924175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姬岁歌的差异</a:t>
            </a:r>
          </a:p>
        </p:txBody>
      </p:sp>
      <p:sp>
        <p:nvSpPr>
          <p:cNvPr id="119" name="difference-1">
            <a:extLst>
              <a:ext uri="{FF2B5EF4-FFF2-40B4-BE49-F238E27FC236}">
                <a16:creationId xmlns:a16="http://schemas.microsoft.com/office/drawing/2014/main" id="{BF439619-E737-4842-A04A-E5D2F3000610}"/>
              </a:ext>
            </a:extLst>
          </p:cNvPr>
          <p:cNvSpPr>
            <a:spLocks noGrp="1"/>
          </p:cNvSpPr>
          <p:nvPr/>
        </p:nvSpPr>
        <p:spPr>
          <a:xfrm>
            <a:off x="8096250" y="3238500"/>
            <a:ext cx="31813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650" b="0" dirty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真人搭档与同体双人格</a:t>
            </a:r>
          </a:p>
        </p:txBody>
      </p:sp>
      <p:sp>
        <p:nvSpPr>
          <p:cNvPr id="120" name="competitor-frame-2">
            <a:extLst>
              <a:ext uri="{FF2B5EF4-FFF2-40B4-BE49-F238E27FC236}">
                <a16:creationId xmlns:a16="http://schemas.microsoft.com/office/drawing/2014/main" id="{0531DCA7-7277-48A8-9AE2-A12A43C0F9DD}"/>
              </a:ext>
            </a:extLst>
          </p:cNvPr>
          <p:cNvSpPr>
            <a:spLocks noGrp="1"/>
          </p:cNvSpPr>
          <p:nvPr/>
        </p:nvSpPr>
        <p:spPr>
          <a:xfrm>
            <a:off x="4114800" y="40005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21" name="number-2">
            <a:extLst>
              <a:ext uri="{FF2B5EF4-FFF2-40B4-BE49-F238E27FC236}">
                <a16:creationId xmlns:a16="http://schemas.microsoft.com/office/drawing/2014/main" id="{3753BE23-D359-437E-A1F3-DAFB6D916991}"/>
              </a:ext>
            </a:extLst>
          </p:cNvPr>
          <p:cNvSpPr>
            <a:spLocks noGrp="1"/>
          </p:cNvSpPr>
          <p:nvPr/>
        </p:nvSpPr>
        <p:spPr>
          <a:xfrm>
            <a:off x="4305300" y="41624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2" name="layer-2">
            <a:extLst>
              <a:ext uri="{FF2B5EF4-FFF2-40B4-BE49-F238E27FC236}">
                <a16:creationId xmlns:a16="http://schemas.microsoft.com/office/drawing/2014/main" id="{D9B7ABB6-BE92-40FC-9C97-2D68594E5E53}"/>
              </a:ext>
            </a:extLst>
          </p:cNvPr>
          <p:cNvSpPr>
            <a:spLocks noGrp="1"/>
          </p:cNvSpPr>
          <p:nvPr/>
        </p:nvSpPr>
        <p:spPr>
          <a:xfrm>
            <a:off x="4705350" y="42291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350" b="1" dirty="0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rPr>
              <a:t>开源工具</a:t>
            </a:r>
          </a:p>
        </p:txBody>
      </p:sp>
      <p:sp>
        <p:nvSpPr>
          <p:cNvPr id="123" name="representative-2">
            <a:extLst>
              <a:ext uri="{FF2B5EF4-FFF2-40B4-BE49-F238E27FC236}">
                <a16:creationId xmlns:a16="http://schemas.microsoft.com/office/drawing/2014/main" id="{AEE658E3-F5A2-4F03-94C5-0362EACF9317}"/>
              </a:ext>
            </a:extLst>
          </p:cNvPr>
          <p:cNvSpPr>
            <a:spLocks noGrp="1"/>
          </p:cNvSpPr>
          <p:nvPr/>
        </p:nvSpPr>
        <p:spPr>
          <a:xfrm>
            <a:off x="4305300" y="46863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AI-Vtuber、吟美</a:t>
            </a:r>
          </a:p>
        </p:txBody>
      </p:sp>
      <p:sp>
        <p:nvSpPr>
          <p:cNvPr id="124" name="difference-label-2">
            <a:extLst>
              <a:ext uri="{FF2B5EF4-FFF2-40B4-BE49-F238E27FC236}">
                <a16:creationId xmlns:a16="http://schemas.microsoft.com/office/drawing/2014/main" id="{47687991-24D0-4E62-BA0F-17496EE185B3}"/>
              </a:ext>
            </a:extLst>
          </p:cNvPr>
          <p:cNvSpPr>
            <a:spLocks noGrp="1"/>
          </p:cNvSpPr>
          <p:nvPr/>
        </p:nvSpPr>
        <p:spPr>
          <a:xfrm>
            <a:off x="4305300" y="5248275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姬岁歌的差异</a:t>
            </a:r>
          </a:p>
        </p:txBody>
      </p:sp>
      <p:sp>
        <p:nvSpPr>
          <p:cNvPr id="125" name="difference-2">
            <a:extLst>
              <a:ext uri="{FF2B5EF4-FFF2-40B4-BE49-F238E27FC236}">
                <a16:creationId xmlns:a16="http://schemas.microsoft.com/office/drawing/2014/main" id="{84F742EF-46B0-432C-8BAA-CBBF051DEA9B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31813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650" b="0" dirty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自营角色与连续直播节目</a:t>
            </a:r>
          </a:p>
        </p:txBody>
      </p:sp>
      <p:sp>
        <p:nvSpPr>
          <p:cNvPr id="126" name="competitor-frame-3">
            <a:extLst>
              <a:ext uri="{FF2B5EF4-FFF2-40B4-BE49-F238E27FC236}">
                <a16:creationId xmlns:a16="http://schemas.microsoft.com/office/drawing/2014/main" id="{C5867441-551E-429C-88BC-40FA173C3FF0}"/>
              </a:ext>
            </a:extLst>
          </p:cNvPr>
          <p:cNvSpPr>
            <a:spLocks noGrp="1"/>
          </p:cNvSpPr>
          <p:nvPr/>
        </p:nvSpPr>
        <p:spPr>
          <a:xfrm>
            <a:off x="7905750" y="4000500"/>
            <a:ext cx="356235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CDD7EB"/>
            </a:solidFill>
          </a:ln>
        </p:spPr>
      </p:sp>
      <p:sp>
        <p:nvSpPr>
          <p:cNvPr id="127" name="number-3">
            <a:extLst>
              <a:ext uri="{FF2B5EF4-FFF2-40B4-BE49-F238E27FC236}">
                <a16:creationId xmlns:a16="http://schemas.microsoft.com/office/drawing/2014/main" id="{4ECC53AF-BA50-41F7-BF20-BB7E5D62B247}"/>
              </a:ext>
            </a:extLst>
          </p:cNvPr>
          <p:cNvSpPr>
            <a:spLocks noGrp="1"/>
          </p:cNvSpPr>
          <p:nvPr/>
        </p:nvSpPr>
        <p:spPr>
          <a:xfrm>
            <a:off x="8096250" y="4162425"/>
            <a:ext cx="333375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2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8" name="layer-3">
            <a:extLst>
              <a:ext uri="{FF2B5EF4-FFF2-40B4-BE49-F238E27FC236}">
                <a16:creationId xmlns:a16="http://schemas.microsoft.com/office/drawing/2014/main" id="{B4498FED-DCF0-45FE-B37C-309166B209DF}"/>
              </a:ext>
            </a:extLst>
          </p:cNvPr>
          <p:cNvSpPr>
            <a:spLocks noGrp="1"/>
          </p:cNvSpPr>
          <p:nvPr/>
        </p:nvSpPr>
        <p:spPr>
          <a:xfrm>
            <a:off x="8496300" y="4229100"/>
            <a:ext cx="279082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350" b="1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350" b="1" dirty="0">
                <a:solidFill>
                  <a:srgbClr val="59677D"/>
                </a:solidFill>
                <a:latin typeface="Microsoft YaHei"/>
                <a:ea typeface="Microsoft YaHei"/>
                <a:cs typeface="Microsoft YaHei"/>
              </a:rPr>
              <a:t>替代内容</a:t>
            </a:r>
          </a:p>
        </p:txBody>
      </p:sp>
      <p:sp>
        <p:nvSpPr>
          <p:cNvPr id="129" name="representative-3">
            <a:extLst>
              <a:ext uri="{FF2B5EF4-FFF2-40B4-BE49-F238E27FC236}">
                <a16:creationId xmlns:a16="http://schemas.microsoft.com/office/drawing/2014/main" id="{89F55178-0D90-484D-A482-3668D6D12665}"/>
              </a:ext>
            </a:extLst>
          </p:cNvPr>
          <p:cNvSpPr>
            <a:spLocks noGrp="1"/>
          </p:cNvSpPr>
          <p:nvPr/>
        </p:nvSpPr>
        <p:spPr>
          <a:xfrm>
            <a:off x="8096250" y="4686300"/>
            <a:ext cx="31813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02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传统 VUP、AI 偶像</a:t>
            </a:r>
          </a:p>
        </p:txBody>
      </p:sp>
      <p:sp>
        <p:nvSpPr>
          <p:cNvPr id="130" name="difference-label-3">
            <a:extLst>
              <a:ext uri="{FF2B5EF4-FFF2-40B4-BE49-F238E27FC236}">
                <a16:creationId xmlns:a16="http://schemas.microsoft.com/office/drawing/2014/main" id="{A257A829-A483-431B-9117-2F39027B2FD5}"/>
              </a:ext>
            </a:extLst>
          </p:cNvPr>
          <p:cNvSpPr>
            <a:spLocks noGrp="1"/>
          </p:cNvSpPr>
          <p:nvPr/>
        </p:nvSpPr>
        <p:spPr>
          <a:xfrm>
            <a:off x="8096250" y="5248275"/>
            <a:ext cx="31813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姬岁歌的差异</a:t>
            </a:r>
          </a:p>
        </p:txBody>
      </p:sp>
      <p:sp>
        <p:nvSpPr>
          <p:cNvPr id="131" name="difference-3">
            <a:extLst>
              <a:ext uri="{FF2B5EF4-FFF2-40B4-BE49-F238E27FC236}">
                <a16:creationId xmlns:a16="http://schemas.microsoft.com/office/drawing/2014/main" id="{027AA703-7BD7-4F18-AFF9-3DE5ECE27436}"/>
              </a:ext>
            </a:extLst>
          </p:cNvPr>
          <p:cNvSpPr>
            <a:spLocks noGrp="1"/>
          </p:cNvSpPr>
          <p:nvPr/>
        </p:nvSpPr>
        <p:spPr>
          <a:xfrm>
            <a:off x="8096250" y="5562600"/>
            <a:ext cx="31813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50" b="0" dirty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基于庞大知识库的</a:t>
            </a:r>
            <a:r>
              <a:rPr lang="zh-CN" sz="1650" b="0" dirty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AI 自主回应</a:t>
            </a:r>
          </a:p>
        </p:txBody>
      </p:sp>
      <p:sp>
        <p:nvSpPr>
          <p:cNvPr id="132" name="sources">
            <a:extLst>
              <a:ext uri="{FF2B5EF4-FFF2-40B4-BE49-F238E27FC236}">
                <a16:creationId xmlns:a16="http://schemas.microsoft.com/office/drawing/2014/main" id="{F4D21B68-57E8-4184-B3BB-B7D07C2BE83C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rPr>
              <a:t>[M1] CTR × B站 2026 报告    竞品依据：Vedal 官网、创作者官方仓库及 B站活动资料；来源与口径见备注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产品介绍 · AI 自主直播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  <p:sp>
        <p:nvSpPr>
          <p:cNvPr id="101" name="title">
            <a:extLst>
              <a:ext uri="{FF2B5EF4-FFF2-40B4-BE49-F238E27FC236}">
                <a16:creationId xmlns:a16="http://schemas.microsoft.com/office/drawing/2014/main" id="{922C7E06-944A-4BD6-BDE0-D4B8367FE0CC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AI 自主直播：游戏实况与角色表达</a:t>
            </a:r>
          </a:p>
        </p:txBody>
      </p:sp>
      <p:sp>
        <p:nvSpPr>
          <p:cNvPr id="102" name="intro">
            <a:extLst>
              <a:ext uri="{FF2B5EF4-FFF2-40B4-BE49-F238E27FC236}">
                <a16:creationId xmlns:a16="http://schemas.microsoft.com/office/drawing/2014/main" id="{01368243-1B09-433B-BF20-566317FDE61F}"/>
              </a:ext>
            </a:extLst>
          </p:cNvPr>
          <p:cNvSpPr>
            <a:spLocks noGrp="1"/>
          </p:cNvSpPr>
          <p:nvPr/>
        </p:nvSpPr>
        <p:spPr>
          <a:xfrm>
            <a:off x="552450" y="1400175"/>
            <a:ext cx="11087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角色自主决策、游戏解说与弹幕互动，形成独立节目</a:t>
            </a:r>
          </a:p>
        </p:txBody>
      </p:sp>
      <p:pic>
        <p:nvPicPr>
          <p:cNvPr id="103" name="图片 102">
            <a:extLst>
              <a:ext uri="{FF2B5EF4-FFF2-40B4-BE49-F238E27FC236}">
                <a16:creationId xmlns:a16="http://schemas.microsoft.com/office/drawing/2014/main" id="{5E9DED71-F266-4C0F-BE3C-380C9FF39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2079817"/>
            <a:ext cx="5353050" cy="3012691"/>
          </a:xfrm>
          <a:prstGeom prst="rect">
            <a:avLst/>
          </a:prstGeom>
        </p:spPr>
      </p:pic>
      <p:pic>
        <p:nvPicPr>
          <p:cNvPr id="104" name="图片 103">
            <a:extLst>
              <a:ext uri="{FF2B5EF4-FFF2-40B4-BE49-F238E27FC236}">
                <a16:creationId xmlns:a16="http://schemas.microsoft.com/office/drawing/2014/main" id="{333E4AFE-FF1C-4493-B5E2-B466B8D6A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2079817"/>
            <a:ext cx="5353050" cy="3012691"/>
          </a:xfrm>
          <a:prstGeom prst="rect">
            <a:avLst/>
          </a:prstGeom>
        </p:spPr>
      </p:pic>
      <p:sp>
        <p:nvSpPr>
          <p:cNvPr id="105" name="minecraft-label">
            <a:extLst>
              <a:ext uri="{FF2B5EF4-FFF2-40B4-BE49-F238E27FC236}">
                <a16:creationId xmlns:a16="http://schemas.microsoft.com/office/drawing/2014/main" id="{393EF7DB-4C95-4327-8BA9-8CA70434B204}"/>
              </a:ext>
            </a:extLst>
          </p:cNvPr>
          <p:cNvSpPr>
            <a:spLocks noGrp="1"/>
          </p:cNvSpPr>
          <p:nvPr/>
        </p:nvSpPr>
        <p:spPr>
          <a:xfrm>
            <a:off x="552450" y="5257800"/>
            <a:ext cx="5353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我的世界：临场意外与接梗</a:t>
            </a:r>
          </a:p>
        </p:txBody>
      </p:sp>
      <p:sp>
        <p:nvSpPr>
          <p:cNvPr id="106" name="spire-label">
            <a:extLst>
              <a:ext uri="{FF2B5EF4-FFF2-40B4-BE49-F238E27FC236}">
                <a16:creationId xmlns:a16="http://schemas.microsoft.com/office/drawing/2014/main" id="{16DEA85F-1675-4AA1-BFEB-BF3BC731C107}"/>
              </a:ext>
            </a:extLst>
          </p:cNvPr>
          <p:cNvSpPr>
            <a:spLocks noGrp="1"/>
          </p:cNvSpPr>
          <p:nvPr/>
        </p:nvSpPr>
        <p:spPr>
          <a:xfrm>
            <a:off x="6286500" y="5257800"/>
            <a:ext cx="5353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0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杀戮尖塔：决策反差与吐槽</a:t>
            </a:r>
          </a:p>
        </p:txBody>
      </p:sp>
      <p:sp>
        <p:nvSpPr>
          <p:cNvPr id="107" name="human">
            <a:extLst>
              <a:ext uri="{FF2B5EF4-FFF2-40B4-BE49-F238E27FC236}">
                <a16:creationId xmlns:a16="http://schemas.microsoft.com/office/drawing/2014/main" id="{11E993DC-4748-487A-B6F8-CF28F46CCD9D}"/>
              </a:ext>
            </a:extLst>
          </p:cNvPr>
          <p:cNvSpPr>
            <a:spLocks noGrp="1"/>
          </p:cNvSpPr>
          <p:nvPr/>
        </p:nvSpPr>
        <p:spPr>
          <a:xfrm>
            <a:off x="552450" y="5857875"/>
            <a:ext cx="37147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角色：自主选择与解说</a:t>
            </a:r>
          </a:p>
        </p:txBody>
      </p:sp>
      <p:sp>
        <p:nvSpPr>
          <p:cNvPr id="108" name="ai">
            <a:extLst>
              <a:ext uri="{FF2B5EF4-FFF2-40B4-BE49-F238E27FC236}">
                <a16:creationId xmlns:a16="http://schemas.microsoft.com/office/drawing/2014/main" id="{E0CB3340-5162-46B4-8BF2-3DE64D006AA1}"/>
              </a:ext>
            </a:extLst>
          </p:cNvPr>
          <p:cNvSpPr>
            <a:spLocks noGrp="1"/>
          </p:cNvSpPr>
          <p:nvPr/>
        </p:nvSpPr>
        <p:spPr>
          <a:xfrm>
            <a:off x="4362450" y="5857875"/>
            <a:ext cx="371475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游戏：意外与决策反差</a:t>
            </a:r>
          </a:p>
        </p:txBody>
      </p:sp>
      <p:sp>
        <p:nvSpPr>
          <p:cNvPr id="109" name="audience">
            <a:extLst>
              <a:ext uri="{FF2B5EF4-FFF2-40B4-BE49-F238E27FC236}">
                <a16:creationId xmlns:a16="http://schemas.microsoft.com/office/drawing/2014/main" id="{86708080-ECD6-4B65-93DD-2E41CFFA317B}"/>
              </a:ext>
            </a:extLst>
          </p:cNvPr>
          <p:cNvSpPr>
            <a:spLocks noGrp="1"/>
          </p:cNvSpPr>
          <p:nvPr/>
        </p:nvSpPr>
        <p:spPr>
          <a:xfrm>
            <a:off x="8172450" y="5857875"/>
            <a:ext cx="34671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575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观众：弹幕参与与回访</a:t>
            </a:r>
          </a:p>
        </p:txBody>
      </p:sp>
      <p:sp>
        <p:nvSpPr>
          <p:cNvPr id="110" name="disclosure">
            <a:extLst>
              <a:ext uri="{FF2B5EF4-FFF2-40B4-BE49-F238E27FC236}">
                <a16:creationId xmlns:a16="http://schemas.microsoft.com/office/drawing/2014/main" id="{CA91E764-9F96-4529-AB92-4AE27A636646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rPr>
              <a:t>节目效果示意：AI 生成画面与拟写台词，非实机录屏；角色依据封面设定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产品介绍 · 真人与 AI 联机共播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10</a:t>
            </a:r>
            <a:endParaRPr lang="en-US" sz="1200" dirty="0"/>
          </a:p>
        </p:txBody>
      </p:sp>
      <p:sp>
        <p:nvSpPr>
          <p:cNvPr id="101" name="title">
            <a:extLst>
              <a:ext uri="{FF2B5EF4-FFF2-40B4-BE49-F238E27FC236}">
                <a16:creationId xmlns:a16="http://schemas.microsoft.com/office/drawing/2014/main" id="{46701DFD-F3D8-46E3-9D7B-D3F3EB40F528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真人与 AI 联机，在合作与意外中形成节目</a:t>
            </a:r>
          </a:p>
        </p:txBody>
      </p:sp>
      <p:sp>
        <p:nvSpPr>
          <p:cNvPr id="102" name="intro">
            <a:extLst>
              <a:ext uri="{FF2B5EF4-FFF2-40B4-BE49-F238E27FC236}">
                <a16:creationId xmlns:a16="http://schemas.microsoft.com/office/drawing/2014/main" id="{C45E90D5-8889-4DD9-B24A-F42FA7C5BE0D}"/>
              </a:ext>
            </a:extLst>
          </p:cNvPr>
          <p:cNvSpPr>
            <a:spLocks noGrp="1"/>
          </p:cNvSpPr>
          <p:nvPr/>
        </p:nvSpPr>
        <p:spPr>
          <a:xfrm>
            <a:off x="552450" y="1400175"/>
            <a:ext cx="110871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72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人类一败涂地 · 合作解谜节目构想</a:t>
            </a:r>
          </a:p>
        </p:txBody>
      </p:sp>
      <p:pic>
        <p:nvPicPr>
          <p:cNvPr id="103" name="图片 102">
            <a:extLst>
              <a:ext uri="{FF2B5EF4-FFF2-40B4-BE49-F238E27FC236}">
                <a16:creationId xmlns:a16="http://schemas.microsoft.com/office/drawing/2014/main" id="{71AF1DE4-DAD1-4117-BC58-B203DBFC2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4555" y="1924050"/>
            <a:ext cx="7920589" cy="4457700"/>
          </a:xfrm>
          <a:prstGeom prst="rect">
            <a:avLst/>
          </a:prstGeom>
        </p:spPr>
      </p:pic>
      <p:sp>
        <p:nvSpPr>
          <p:cNvPr id="104" name="point-0">
            <a:extLst>
              <a:ext uri="{FF2B5EF4-FFF2-40B4-BE49-F238E27FC236}">
                <a16:creationId xmlns:a16="http://schemas.microsoft.com/office/drawing/2014/main" id="{473774B1-7465-43A4-8441-9B78DC0497C4}"/>
              </a:ext>
            </a:extLst>
          </p:cNvPr>
          <p:cNvSpPr>
            <a:spLocks noGrp="1"/>
          </p:cNvSpPr>
          <p:nvPr/>
        </p:nvSpPr>
        <p:spPr>
          <a:xfrm>
            <a:off x="8877300" y="215265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共同目标</a:t>
            </a:r>
          </a:p>
        </p:txBody>
      </p:sp>
      <p:sp>
        <p:nvSpPr>
          <p:cNvPr id="105" name="explain-0">
            <a:extLst>
              <a:ext uri="{FF2B5EF4-FFF2-40B4-BE49-F238E27FC236}">
                <a16:creationId xmlns:a16="http://schemas.microsoft.com/office/drawing/2014/main" id="{EA43DD96-A32F-4C0F-B3AF-20F97157CE7B}"/>
              </a:ext>
            </a:extLst>
          </p:cNvPr>
          <p:cNvSpPr>
            <a:spLocks noGrp="1"/>
          </p:cNvSpPr>
          <p:nvPr/>
        </p:nvSpPr>
        <p:spPr>
          <a:xfrm>
            <a:off x="8877300" y="2619375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两名玩家分工配合</a:t>
            </a:r>
          </a:p>
          <a:p>
            <a: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一起完成关卡挑战</a:t>
            </a:r>
          </a:p>
        </p:txBody>
      </p:sp>
      <p:sp>
        <p:nvSpPr>
          <p:cNvPr id="106" name="point-1">
            <a:extLst>
              <a:ext uri="{FF2B5EF4-FFF2-40B4-BE49-F238E27FC236}">
                <a16:creationId xmlns:a16="http://schemas.microsoft.com/office/drawing/2014/main" id="{1B90B030-EA2E-4D47-8F17-51A0C756BC77}"/>
              </a:ext>
            </a:extLst>
          </p:cNvPr>
          <p:cNvSpPr>
            <a:spLocks noGrp="1"/>
          </p:cNvSpPr>
          <p:nvPr/>
        </p:nvSpPr>
        <p:spPr>
          <a:xfrm>
            <a:off x="8877300" y="3533775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双向互动</a:t>
            </a:r>
          </a:p>
        </p:txBody>
      </p:sp>
      <p:sp>
        <p:nvSpPr>
          <p:cNvPr id="107" name="explain-1">
            <a:extLst>
              <a:ext uri="{FF2B5EF4-FFF2-40B4-BE49-F238E27FC236}">
                <a16:creationId xmlns:a16="http://schemas.microsoft.com/office/drawing/2014/main" id="{198AE1F2-D51E-4CDD-9594-8CB318092B17}"/>
              </a:ext>
            </a:extLst>
          </p:cNvPr>
          <p:cNvSpPr>
            <a:spLocks noGrp="1"/>
          </p:cNvSpPr>
          <p:nvPr/>
        </p:nvSpPr>
        <p:spPr>
          <a:xfrm>
            <a:off x="8877300" y="4000500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真人临场反应</a:t>
            </a:r>
          </a:p>
          <a:p>
            <a: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AI 按角色接话与回应</a:t>
            </a:r>
          </a:p>
        </p:txBody>
      </p:sp>
      <p:sp>
        <p:nvSpPr>
          <p:cNvPr id="108" name="point-2">
            <a:extLst>
              <a:ext uri="{FF2B5EF4-FFF2-40B4-BE49-F238E27FC236}">
                <a16:creationId xmlns:a16="http://schemas.microsoft.com/office/drawing/2014/main" id="{85BC841E-0CFD-4F13-8172-9CF8C7632A41}"/>
              </a:ext>
            </a:extLst>
          </p:cNvPr>
          <p:cNvSpPr>
            <a:spLocks noGrp="1"/>
          </p:cNvSpPr>
          <p:nvPr/>
        </p:nvSpPr>
        <p:spPr>
          <a:xfrm>
            <a:off x="8877300" y="4914900"/>
            <a:ext cx="276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75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关系看点</a:t>
            </a:r>
          </a:p>
        </p:txBody>
      </p:sp>
      <p:sp>
        <p:nvSpPr>
          <p:cNvPr id="109" name="explain-2">
            <a:extLst>
              <a:ext uri="{FF2B5EF4-FFF2-40B4-BE49-F238E27FC236}">
                <a16:creationId xmlns:a16="http://schemas.microsoft.com/office/drawing/2014/main" id="{8BB3B07C-FC80-4085-A295-ABF7443A2C7F}"/>
              </a:ext>
            </a:extLst>
          </p:cNvPr>
          <p:cNvSpPr>
            <a:spLocks noGrp="1"/>
          </p:cNvSpPr>
          <p:nvPr/>
        </p:nvSpPr>
        <p:spPr>
          <a:xfrm>
            <a:off x="8877300" y="5381625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合作、失误与救场</a:t>
            </a:r>
          </a:p>
          <a:p>
            <a:pPr>
              <a:def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650" b="0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成为可剪辑的节目片段</a:t>
            </a:r>
          </a:p>
        </p:txBody>
      </p:sp>
      <p:sp>
        <p:nvSpPr>
          <p:cNvPr id="110" name="footer">
            <a:extLst>
              <a:ext uri="{FF2B5EF4-FFF2-40B4-BE49-F238E27FC236}">
                <a16:creationId xmlns:a16="http://schemas.microsoft.com/office/drawing/2014/main" id="{FE79443B-1A8E-4697-91B8-B52A34B7B14A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rPr>
              <a:t>节目效果示意，非实机录屏；人机联机控制尚待实现与验证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3F631F49-B88D-4433-BF1F-577F40471529}"/>
              </a:ext>
            </a:extLst>
          </p:cNvPr>
          <p:cNvCxnSpPr>
            <a:stCxn id="20" idx="3"/>
            <a:endCxn id="26" idx="1"/>
          </p:cNvCxnSpPr>
          <p:nvPr/>
        </p:nvCxnSpPr>
        <p:spPr>
          <a:xfrm>
            <a:off x="5000625" y="4238625"/>
            <a:ext cx="619125" cy="60007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5E8BFA2E-EF73-4B3E-9F93-94519DB5EA18}"/>
              </a:ext>
            </a:extLst>
          </p:cNvPr>
          <p:cNvCxnSpPr>
            <a:stCxn id="20" idx="3"/>
            <a:endCxn id="23" idx="1"/>
          </p:cNvCxnSpPr>
          <p:nvPr/>
        </p:nvCxnSpPr>
        <p:spPr>
          <a:xfrm flipV="1">
            <a:off x="5000625" y="3619500"/>
            <a:ext cx="619125" cy="61912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524137F-A712-4837-B78E-D39CBFDAC853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>
            <a:off x="3857625" y="3486150"/>
            <a:ext cx="0" cy="276225"/>
          </a:xfrm>
          <a:prstGeom prst="straightConnector1">
            <a:avLst/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C1B3185B-074E-4043-A7B7-081C67E0263B}"/>
              </a:ext>
            </a:extLst>
          </p:cNvPr>
          <p:cNvCxnSpPr>
            <a:stCxn id="14" idx="3"/>
            <a:endCxn id="20" idx="1"/>
          </p:cNvCxnSpPr>
          <p:nvPr/>
        </p:nvCxnSpPr>
        <p:spPr>
          <a:xfrm flipV="1">
            <a:off x="2076450" y="4238625"/>
            <a:ext cx="638175" cy="86677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97F2248D-140E-4E78-90A4-D8B9A30E3608}"/>
              </a:ext>
            </a:extLst>
          </p:cNvPr>
          <p:cNvCxnSpPr>
            <a:stCxn id="11" idx="3"/>
            <a:endCxn id="20" idx="1"/>
          </p:cNvCxnSpPr>
          <p:nvPr/>
        </p:nvCxnSpPr>
        <p:spPr>
          <a:xfrm>
            <a:off x="2076450" y="4152900"/>
            <a:ext cx="638175" cy="8572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9CD10C90-36DD-4814-AABE-F36839F33EA9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2076450" y="3200400"/>
            <a:ext cx="638175" cy="1038225"/>
          </a:xfrm>
          <a:prstGeom prst="bentConnector3">
            <a:avLst>
              <a:gd name="adj1" fmla="val 50000"/>
            </a:avLst>
          </a:prstGeom>
          <a:ln w="15240">
            <a:solidFill>
              <a:srgbClr val="647CA9"/>
            </a:solidFill>
            <a:tailEnd type="arrow" w="med" len="med"/>
          </a:ln>
        </p:spPr>
      </p:cxnSp>
      <p:sp>
        <p:nvSpPr>
          <p:cNvPr id="44" name="eyebrow">
            <a:extLst>
              <a:ext uri="{FF2B5EF4-FFF2-40B4-BE49-F238E27FC236}">
                <a16:creationId xmlns:a16="http://schemas.microsoft.com/office/drawing/2014/main" id="{B8845299-9C84-42FC-A5D7-4534852C6835}"/>
              </a:ext>
            </a:extLst>
          </p:cNvPr>
          <p:cNvSpPr>
            <a:spLocks noGrp="1"/>
          </p:cNvSpPr>
          <p:nvPr/>
        </p:nvSpPr>
        <p:spPr>
          <a:xfrm>
            <a:off x="552450" y="295275"/>
            <a:ext cx="666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3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03 产品介绍 · 技术与角色资产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05CAC2B6-633A-4E4E-8E4F-511DA990B684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28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直播角色引擎与周边设计</a:t>
            </a:r>
          </a:p>
        </p:txBody>
      </p:sp>
      <p:sp>
        <p:nvSpPr>
          <p:cNvPr id="3" name="architecture-heading">
            <a:extLst>
              <a:ext uri="{FF2B5EF4-FFF2-40B4-BE49-F238E27FC236}">
                <a16:creationId xmlns:a16="http://schemas.microsoft.com/office/drawing/2014/main" id="{ED1BC841-3828-4FED-8685-E934CAC29B55}"/>
              </a:ext>
            </a:extLst>
          </p:cNvPr>
          <p:cNvSpPr>
            <a:spLocks noGrp="1"/>
          </p:cNvSpPr>
          <p:nvPr/>
        </p:nvSpPr>
        <p:spPr>
          <a:xfrm>
            <a:off x="552450" y="1724025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技术方案示意</a:t>
            </a:r>
          </a:p>
        </p:txBody>
      </p:sp>
      <p:sp>
        <p:nvSpPr>
          <p:cNvPr id="4" name="merch-heading">
            <a:extLst>
              <a:ext uri="{FF2B5EF4-FFF2-40B4-BE49-F238E27FC236}">
                <a16:creationId xmlns:a16="http://schemas.microsoft.com/office/drawing/2014/main" id="{FCFC2196-754B-4B55-BC73-B12A98AD10C6}"/>
              </a:ext>
            </a:extLst>
          </p:cNvPr>
          <p:cNvSpPr>
            <a:spLocks noGrp="1"/>
          </p:cNvSpPr>
          <p:nvPr/>
        </p:nvSpPr>
        <p:spPr>
          <a:xfrm>
            <a:off x="8096250" y="1724025"/>
            <a:ext cx="35433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0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周边概念设计</a:t>
            </a:r>
          </a:p>
        </p:txBody>
      </p:sp>
      <p:sp>
        <p:nvSpPr>
          <p:cNvPr id="5" name="inputs-heading">
            <a:extLst>
              <a:ext uri="{FF2B5EF4-FFF2-40B4-BE49-F238E27FC236}">
                <a16:creationId xmlns:a16="http://schemas.microsoft.com/office/drawing/2014/main" id="{F4396186-700B-45B8-9D5A-59A2E3461FD6}"/>
              </a:ext>
            </a:extLst>
          </p:cNvPr>
          <p:cNvSpPr>
            <a:spLocks noGrp="1"/>
          </p:cNvSpPr>
          <p:nvPr/>
        </p:nvSpPr>
        <p:spPr>
          <a:xfrm>
            <a:off x="552450" y="2333625"/>
            <a:ext cx="1524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互动输入</a:t>
            </a:r>
          </a:p>
        </p:txBody>
      </p:sp>
      <p:sp>
        <p:nvSpPr>
          <p:cNvPr id="6" name="engine-heading">
            <a:extLst>
              <a:ext uri="{FF2B5EF4-FFF2-40B4-BE49-F238E27FC236}">
                <a16:creationId xmlns:a16="http://schemas.microsoft.com/office/drawing/2014/main" id="{F5A03CDB-CD6B-4DB8-AB0F-C3A208F8ED15}"/>
              </a:ext>
            </a:extLst>
          </p:cNvPr>
          <p:cNvSpPr>
            <a:spLocks noGrp="1"/>
          </p:cNvSpPr>
          <p:nvPr/>
        </p:nvSpPr>
        <p:spPr>
          <a:xfrm>
            <a:off x="2714625" y="2333625"/>
            <a:ext cx="22860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角色引擎</a:t>
            </a:r>
          </a:p>
        </p:txBody>
      </p:sp>
      <p:sp>
        <p:nvSpPr>
          <p:cNvPr id="7" name="outputs-heading">
            <a:extLst>
              <a:ext uri="{FF2B5EF4-FFF2-40B4-BE49-F238E27FC236}">
                <a16:creationId xmlns:a16="http://schemas.microsoft.com/office/drawing/2014/main" id="{68454033-DF71-425C-BA5E-768CA4ED7FA6}"/>
              </a:ext>
            </a:extLst>
          </p:cNvPr>
          <p:cNvSpPr>
            <a:spLocks noGrp="1"/>
          </p:cNvSpPr>
          <p:nvPr/>
        </p:nvSpPr>
        <p:spPr>
          <a:xfrm>
            <a:off x="5619750" y="2333625"/>
            <a:ext cx="1809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350" b="1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表达与执行</a:t>
            </a:r>
          </a:p>
        </p:txBody>
      </p:sp>
      <p:sp>
        <p:nvSpPr>
          <p:cNvPr id="8" name="human-input">
            <a:extLst>
              <a:ext uri="{FF2B5EF4-FFF2-40B4-BE49-F238E27FC236}">
                <a16:creationId xmlns:a16="http://schemas.microsoft.com/office/drawing/2014/main" id="{7D6173ED-4274-4ABF-9DD0-5418A62D6AFE}"/>
              </a:ext>
            </a:extLst>
          </p:cNvPr>
          <p:cNvSpPr>
            <a:spLocks noGrp="1"/>
          </p:cNvSpPr>
          <p:nvPr/>
        </p:nvSpPr>
        <p:spPr>
          <a:xfrm>
            <a:off x="552450" y="2838450"/>
            <a:ext cx="1524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</p:sp>
      <p:sp>
        <p:nvSpPr>
          <p:cNvPr id="9" name="human-input-title">
            <a:extLst>
              <a:ext uri="{FF2B5EF4-FFF2-40B4-BE49-F238E27FC236}">
                <a16:creationId xmlns:a16="http://schemas.microsoft.com/office/drawing/2014/main" id="{2CC37C31-5225-4FFD-A940-F25E324626AC}"/>
              </a:ext>
            </a:extLst>
          </p:cNvPr>
          <p:cNvSpPr>
            <a:spLocks noGrp="1"/>
          </p:cNvSpPr>
          <p:nvPr/>
        </p:nvSpPr>
        <p:spPr>
          <a:xfrm>
            <a:off x="666750" y="295275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真人语音</a:t>
            </a:r>
          </a:p>
        </p:txBody>
      </p:sp>
      <p:sp>
        <p:nvSpPr>
          <p:cNvPr id="10" name="human-input-sub">
            <a:extLst>
              <a:ext uri="{FF2B5EF4-FFF2-40B4-BE49-F238E27FC236}">
                <a16:creationId xmlns:a16="http://schemas.microsoft.com/office/drawing/2014/main" id="{8731F075-3E15-41FE-B8B7-A250911B7257}"/>
              </a:ext>
            </a:extLst>
          </p:cNvPr>
          <p:cNvSpPr>
            <a:spLocks noGrp="1"/>
          </p:cNvSpPr>
          <p:nvPr/>
        </p:nvSpPr>
        <p:spPr>
          <a:xfrm>
            <a:off x="666750" y="32480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ASR 识别</a:t>
            </a:r>
          </a:p>
        </p:txBody>
      </p:sp>
      <p:sp>
        <p:nvSpPr>
          <p:cNvPr id="11" name="chat-input">
            <a:extLst>
              <a:ext uri="{FF2B5EF4-FFF2-40B4-BE49-F238E27FC236}">
                <a16:creationId xmlns:a16="http://schemas.microsoft.com/office/drawing/2014/main" id="{1DDB5A04-4EDE-44E8-AD5E-178D969DB833}"/>
              </a:ext>
            </a:extLst>
          </p:cNvPr>
          <p:cNvSpPr>
            <a:spLocks noGrp="1"/>
          </p:cNvSpPr>
          <p:nvPr/>
        </p:nvSpPr>
        <p:spPr>
          <a:xfrm>
            <a:off x="552450" y="3790950"/>
            <a:ext cx="1524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</p:sp>
      <p:sp>
        <p:nvSpPr>
          <p:cNvPr id="12" name="chat-input-title">
            <a:extLst>
              <a:ext uri="{FF2B5EF4-FFF2-40B4-BE49-F238E27FC236}">
                <a16:creationId xmlns:a16="http://schemas.microsoft.com/office/drawing/2014/main" id="{32C8C28C-ABB0-4656-B9A2-EA43F83C7D59}"/>
              </a:ext>
            </a:extLst>
          </p:cNvPr>
          <p:cNvSpPr>
            <a:spLocks noGrp="1"/>
          </p:cNvSpPr>
          <p:nvPr/>
        </p:nvSpPr>
        <p:spPr>
          <a:xfrm>
            <a:off x="666750" y="390525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观众弹幕</a:t>
            </a:r>
          </a:p>
        </p:txBody>
      </p:sp>
      <p:sp>
        <p:nvSpPr>
          <p:cNvPr id="13" name="chat-input-sub">
            <a:extLst>
              <a:ext uri="{FF2B5EF4-FFF2-40B4-BE49-F238E27FC236}">
                <a16:creationId xmlns:a16="http://schemas.microsoft.com/office/drawing/2014/main" id="{19CE8C2D-DE92-414E-935F-00F46CE156F0}"/>
              </a:ext>
            </a:extLst>
          </p:cNvPr>
          <p:cNvSpPr>
            <a:spLocks noGrp="1"/>
          </p:cNvSpPr>
          <p:nvPr/>
        </p:nvSpPr>
        <p:spPr>
          <a:xfrm>
            <a:off x="666750" y="42005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筛选与聚合</a:t>
            </a:r>
          </a:p>
        </p:txBody>
      </p:sp>
      <p:sp>
        <p:nvSpPr>
          <p:cNvPr id="14" name="game-input">
            <a:extLst>
              <a:ext uri="{FF2B5EF4-FFF2-40B4-BE49-F238E27FC236}">
                <a16:creationId xmlns:a16="http://schemas.microsoft.com/office/drawing/2014/main" id="{373BB1E9-EB38-42FD-8D4E-CAEB8AD0F732}"/>
              </a:ext>
            </a:extLst>
          </p:cNvPr>
          <p:cNvSpPr>
            <a:spLocks noGrp="1"/>
          </p:cNvSpPr>
          <p:nvPr/>
        </p:nvSpPr>
        <p:spPr>
          <a:xfrm>
            <a:off x="552450" y="4743450"/>
            <a:ext cx="1524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</p:sp>
      <p:sp>
        <p:nvSpPr>
          <p:cNvPr id="15" name="game-input-title">
            <a:extLst>
              <a:ext uri="{FF2B5EF4-FFF2-40B4-BE49-F238E27FC236}">
                <a16:creationId xmlns:a16="http://schemas.microsoft.com/office/drawing/2014/main" id="{30ED26BD-FAEF-4CBB-A593-594E0F9965A2}"/>
              </a:ext>
            </a:extLst>
          </p:cNvPr>
          <p:cNvSpPr>
            <a:spLocks noGrp="1"/>
          </p:cNvSpPr>
          <p:nvPr/>
        </p:nvSpPr>
        <p:spPr>
          <a:xfrm>
            <a:off x="666750" y="4857750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游戏状态</a:t>
            </a:r>
          </a:p>
        </p:txBody>
      </p:sp>
      <p:sp>
        <p:nvSpPr>
          <p:cNvPr id="16" name="game-input-sub">
            <a:extLst>
              <a:ext uri="{FF2B5EF4-FFF2-40B4-BE49-F238E27FC236}">
                <a16:creationId xmlns:a16="http://schemas.microsoft.com/office/drawing/2014/main" id="{B6C4142B-490F-4FA4-B7F8-B4F0A945D96E}"/>
              </a:ext>
            </a:extLst>
          </p:cNvPr>
          <p:cNvSpPr>
            <a:spLocks noGrp="1"/>
          </p:cNvSpPr>
          <p:nvPr/>
        </p:nvSpPr>
        <p:spPr>
          <a:xfrm>
            <a:off x="666750" y="5153025"/>
            <a:ext cx="1295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场景与任务</a:t>
            </a:r>
          </a:p>
        </p:txBody>
      </p:sp>
      <p:sp>
        <p:nvSpPr>
          <p:cNvPr id="17" name="persona-memory">
            <a:extLst>
              <a:ext uri="{FF2B5EF4-FFF2-40B4-BE49-F238E27FC236}">
                <a16:creationId xmlns:a16="http://schemas.microsoft.com/office/drawing/2014/main" id="{D8D5337E-B778-4A51-98C5-C8315FD9B7B3}"/>
              </a:ext>
            </a:extLst>
          </p:cNvPr>
          <p:cNvSpPr>
            <a:spLocks noGrp="1"/>
          </p:cNvSpPr>
          <p:nvPr/>
        </p:nvSpPr>
        <p:spPr>
          <a:xfrm>
            <a:off x="2714625" y="2762250"/>
            <a:ext cx="2286000" cy="72390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</p:sp>
      <p:sp>
        <p:nvSpPr>
          <p:cNvPr id="18" name="persona-memory-title">
            <a:extLst>
              <a:ext uri="{FF2B5EF4-FFF2-40B4-BE49-F238E27FC236}">
                <a16:creationId xmlns:a16="http://schemas.microsoft.com/office/drawing/2014/main" id="{94A64AF8-114C-4CBC-919E-6B16B33E2564}"/>
              </a:ext>
            </a:extLst>
          </p:cNvPr>
          <p:cNvSpPr>
            <a:spLocks noGrp="1"/>
          </p:cNvSpPr>
          <p:nvPr/>
        </p:nvSpPr>
        <p:spPr>
          <a:xfrm>
            <a:off x="2828925" y="2876550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人格与共同记忆</a:t>
            </a:r>
          </a:p>
        </p:txBody>
      </p:sp>
      <p:sp>
        <p:nvSpPr>
          <p:cNvPr id="19" name="persona-memory-sub">
            <a:extLst>
              <a:ext uri="{FF2B5EF4-FFF2-40B4-BE49-F238E27FC236}">
                <a16:creationId xmlns:a16="http://schemas.microsoft.com/office/drawing/2014/main" id="{4E70FE9E-21B9-4D33-AFB0-1819344489CF}"/>
              </a:ext>
            </a:extLst>
          </p:cNvPr>
          <p:cNvSpPr>
            <a:spLocks noGrp="1"/>
          </p:cNvSpPr>
          <p:nvPr/>
        </p:nvSpPr>
        <p:spPr>
          <a:xfrm>
            <a:off x="2828925" y="3171825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角色设定、历史事件</a:t>
            </a:r>
          </a:p>
        </p:txBody>
      </p:sp>
      <p:sp>
        <p:nvSpPr>
          <p:cNvPr id="20" name="character-engine">
            <a:extLst>
              <a:ext uri="{FF2B5EF4-FFF2-40B4-BE49-F238E27FC236}">
                <a16:creationId xmlns:a16="http://schemas.microsoft.com/office/drawing/2014/main" id="{3A9FF091-A3A7-4803-BA10-502AA659DC9A}"/>
              </a:ext>
            </a:extLst>
          </p:cNvPr>
          <p:cNvSpPr>
            <a:spLocks noGrp="1"/>
          </p:cNvSpPr>
          <p:nvPr/>
        </p:nvSpPr>
        <p:spPr>
          <a:xfrm>
            <a:off x="2714625" y="3762375"/>
            <a:ext cx="2286000" cy="952500"/>
          </a:xfrm>
          <a:prstGeom prst="rect">
            <a:avLst/>
          </a:prstGeom>
          <a:solidFill>
            <a:srgbClr val="2455D6"/>
          </a:solidFill>
          <a:ln w="9525">
            <a:solidFill>
              <a:srgbClr val="2455D6"/>
            </a:solidFill>
          </a:ln>
        </p:spPr>
      </p:sp>
      <p:sp>
        <p:nvSpPr>
          <p:cNvPr id="21" name="character-engine-title">
            <a:extLst>
              <a:ext uri="{FF2B5EF4-FFF2-40B4-BE49-F238E27FC236}">
                <a16:creationId xmlns:a16="http://schemas.microsoft.com/office/drawing/2014/main" id="{6AE6DE46-817B-453A-AE67-9E700D9F82B6}"/>
              </a:ext>
            </a:extLst>
          </p:cNvPr>
          <p:cNvSpPr>
            <a:spLocks noGrp="1"/>
          </p:cNvSpPr>
          <p:nvPr/>
        </p:nvSpPr>
        <p:spPr>
          <a:xfrm>
            <a:off x="2828925" y="3876675"/>
            <a:ext cx="20574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场景理解与调度</a:t>
            </a:r>
          </a:p>
        </p:txBody>
      </p:sp>
      <p:sp>
        <p:nvSpPr>
          <p:cNvPr id="22" name="character-engine-sub">
            <a:extLst>
              <a:ext uri="{FF2B5EF4-FFF2-40B4-BE49-F238E27FC236}">
                <a16:creationId xmlns:a16="http://schemas.microsoft.com/office/drawing/2014/main" id="{0DE5A2E0-373C-4CE5-A227-1DBD689EC76A}"/>
              </a:ext>
            </a:extLst>
          </p:cNvPr>
          <p:cNvSpPr>
            <a:spLocks noGrp="1"/>
          </p:cNvSpPr>
          <p:nvPr/>
        </p:nvSpPr>
        <p:spPr>
          <a:xfrm>
            <a:off x="2828925" y="4171950"/>
            <a:ext cx="20574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75" b="0">
                <a:solidFill>
                  <a:srgbClr val="EAF0FF"/>
                </a:solidFill>
                <a:latin typeface="Microsoft YaHei"/>
                <a:ea typeface="Microsoft YaHei"/>
                <a:cs typeface="Microsoft YaHei"/>
              </a:rPr>
              <a:t>LLM 生成与动作规划</a:t>
            </a:r>
          </a:p>
        </p:txBody>
      </p:sp>
      <p:sp>
        <p:nvSpPr>
          <p:cNvPr id="23" name="speech-output">
            <a:extLst>
              <a:ext uri="{FF2B5EF4-FFF2-40B4-BE49-F238E27FC236}">
                <a16:creationId xmlns:a16="http://schemas.microsoft.com/office/drawing/2014/main" id="{0F1FB9BC-A491-46BD-9C65-7F01F83D8880}"/>
              </a:ext>
            </a:extLst>
          </p:cNvPr>
          <p:cNvSpPr>
            <a:spLocks noGrp="1"/>
          </p:cNvSpPr>
          <p:nvPr/>
        </p:nvSpPr>
        <p:spPr>
          <a:xfrm>
            <a:off x="5619750" y="3209925"/>
            <a:ext cx="1809750" cy="81915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</p:sp>
      <p:sp>
        <p:nvSpPr>
          <p:cNvPr id="24" name="speech-output-title">
            <a:extLst>
              <a:ext uri="{FF2B5EF4-FFF2-40B4-BE49-F238E27FC236}">
                <a16:creationId xmlns:a16="http://schemas.microsoft.com/office/drawing/2014/main" id="{192C80F0-41EF-49FC-820E-FF1A8AF6F300}"/>
              </a:ext>
            </a:extLst>
          </p:cNvPr>
          <p:cNvSpPr>
            <a:spLocks noGrp="1"/>
          </p:cNvSpPr>
          <p:nvPr/>
        </p:nvSpPr>
        <p:spPr>
          <a:xfrm>
            <a:off x="5734050" y="3324225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语言回应</a:t>
            </a:r>
          </a:p>
        </p:txBody>
      </p:sp>
      <p:sp>
        <p:nvSpPr>
          <p:cNvPr id="25" name="speech-output-sub">
            <a:extLst>
              <a:ext uri="{FF2B5EF4-FFF2-40B4-BE49-F238E27FC236}">
                <a16:creationId xmlns:a16="http://schemas.microsoft.com/office/drawing/2014/main" id="{635856A0-9A02-4E08-BD70-D5B9175DD951}"/>
              </a:ext>
            </a:extLst>
          </p:cNvPr>
          <p:cNvSpPr>
            <a:spLocks noGrp="1"/>
          </p:cNvSpPr>
          <p:nvPr/>
        </p:nvSpPr>
        <p:spPr>
          <a:xfrm>
            <a:off x="5734050" y="361950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TTS · 字幕 · Live2D</a:t>
            </a:r>
          </a:p>
        </p:txBody>
      </p:sp>
      <p:sp>
        <p:nvSpPr>
          <p:cNvPr id="26" name="action-output">
            <a:extLst>
              <a:ext uri="{FF2B5EF4-FFF2-40B4-BE49-F238E27FC236}">
                <a16:creationId xmlns:a16="http://schemas.microsoft.com/office/drawing/2014/main" id="{FBEEF4F4-831D-4DAF-BE85-C2389E4C018E}"/>
              </a:ext>
            </a:extLst>
          </p:cNvPr>
          <p:cNvSpPr>
            <a:spLocks noGrp="1"/>
          </p:cNvSpPr>
          <p:nvPr/>
        </p:nvSpPr>
        <p:spPr>
          <a:xfrm>
            <a:off x="5619750" y="4429125"/>
            <a:ext cx="1809750" cy="819150"/>
          </a:xfrm>
          <a:prstGeom prst="rect">
            <a:avLst/>
          </a:prstGeom>
          <a:solidFill>
            <a:srgbClr val="F5F7FB"/>
          </a:solidFill>
          <a:ln w="9525">
            <a:solidFill>
              <a:srgbClr val="CCD6E8"/>
            </a:solidFill>
          </a:ln>
        </p:spPr>
      </p:sp>
      <p:sp>
        <p:nvSpPr>
          <p:cNvPr id="27" name="action-output-title">
            <a:extLst>
              <a:ext uri="{FF2B5EF4-FFF2-40B4-BE49-F238E27FC236}">
                <a16:creationId xmlns:a16="http://schemas.microsoft.com/office/drawing/2014/main" id="{5D904EBF-29B8-45E4-AA57-3254D9C15BB1}"/>
              </a:ext>
            </a:extLst>
          </p:cNvPr>
          <p:cNvSpPr>
            <a:spLocks noGrp="1"/>
          </p:cNvSpPr>
          <p:nvPr/>
        </p:nvSpPr>
        <p:spPr>
          <a:xfrm>
            <a:off x="5734050" y="4543425"/>
            <a:ext cx="15811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575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游戏动作</a:t>
            </a:r>
          </a:p>
        </p:txBody>
      </p:sp>
      <p:sp>
        <p:nvSpPr>
          <p:cNvPr id="28" name="action-output-sub">
            <a:extLst>
              <a:ext uri="{FF2B5EF4-FFF2-40B4-BE49-F238E27FC236}">
                <a16:creationId xmlns:a16="http://schemas.microsoft.com/office/drawing/2014/main" id="{02EB928D-C5BD-4891-AAFC-0A920714A8F8}"/>
              </a:ext>
            </a:extLst>
          </p:cNvPr>
          <p:cNvSpPr>
            <a:spLocks noGrp="1"/>
          </p:cNvSpPr>
          <p:nvPr/>
        </p:nvSpPr>
        <p:spPr>
          <a:xfrm>
            <a:off x="5734050" y="4838700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工具执行与结果回传</a:t>
            </a:r>
          </a:p>
        </p:txBody>
      </p:sp>
      <p:cxnSp>
        <p:nvCxnSpPr>
          <p:cNvPr id="35" name="feedback-down">
            <a:extLst>
              <a:ext uri="{FF2B5EF4-FFF2-40B4-BE49-F238E27FC236}">
                <a16:creationId xmlns:a16="http://schemas.microsoft.com/office/drawing/2014/main" id="{233FBB1B-99DC-435D-8FF9-35CF26B8C57C}"/>
              </a:ext>
            </a:extLst>
          </p:cNvPr>
          <p:cNvCxnSpPr/>
          <p:nvPr/>
        </p:nvCxnSpPr>
        <p:spPr>
          <a:xfrm>
            <a:off x="6524625" y="5248275"/>
            <a:ext cx="0" cy="419100"/>
          </a:xfrm>
          <a:prstGeom prst="straightConnector1">
            <a:avLst/>
          </a:prstGeom>
          <a:ln w="15240">
            <a:solidFill>
              <a:srgbClr val="647CA9"/>
            </a:solidFill>
          </a:ln>
        </p:spPr>
      </p:cxnSp>
      <p:cxnSp>
        <p:nvCxnSpPr>
          <p:cNvPr id="36" name="feedback-across">
            <a:extLst>
              <a:ext uri="{FF2B5EF4-FFF2-40B4-BE49-F238E27FC236}">
                <a16:creationId xmlns:a16="http://schemas.microsoft.com/office/drawing/2014/main" id="{23C17BBB-7102-44A6-88B9-CC66817EBD22}"/>
              </a:ext>
            </a:extLst>
          </p:cNvPr>
          <p:cNvCxnSpPr/>
          <p:nvPr/>
        </p:nvCxnSpPr>
        <p:spPr>
          <a:xfrm>
            <a:off x="1314450" y="5667375"/>
            <a:ext cx="5210175" cy="0"/>
          </a:xfrm>
          <a:prstGeom prst="straightConnector1">
            <a:avLst/>
          </a:prstGeom>
          <a:ln w="15240">
            <a:solidFill>
              <a:srgbClr val="647CA9"/>
            </a:solidFill>
          </a:ln>
        </p:spPr>
      </p:cxnSp>
      <p:cxnSp>
        <p:nvCxnSpPr>
          <p:cNvPr id="37" name="feedback-up">
            <a:extLst>
              <a:ext uri="{FF2B5EF4-FFF2-40B4-BE49-F238E27FC236}">
                <a16:creationId xmlns:a16="http://schemas.microsoft.com/office/drawing/2014/main" id="{EFFD74B1-381E-4808-881B-FD9B917F328B}"/>
              </a:ext>
            </a:extLst>
          </p:cNvPr>
          <p:cNvCxnSpPr/>
          <p:nvPr/>
        </p:nvCxnSpPr>
        <p:spPr>
          <a:xfrm>
            <a:off x="1314450" y="5467350"/>
            <a:ext cx="0" cy="200025"/>
          </a:xfrm>
          <a:prstGeom prst="straightConnector1">
            <a:avLst/>
          </a:prstGeom>
          <a:ln w="15240">
            <a:solidFill>
              <a:srgbClr val="647CA9"/>
            </a:solidFill>
            <a:headEnd type="arrow" w="med" len="med"/>
          </a:ln>
        </p:spPr>
      </p:cxnSp>
      <p:sp>
        <p:nvSpPr>
          <p:cNvPr id="38" name="feedback-label">
            <a:extLst>
              <a:ext uri="{FF2B5EF4-FFF2-40B4-BE49-F238E27FC236}">
                <a16:creationId xmlns:a16="http://schemas.microsoft.com/office/drawing/2014/main" id="{9D94154D-96C4-4CA8-AA18-746DD61E7703}"/>
              </a:ext>
            </a:extLst>
          </p:cNvPr>
          <p:cNvSpPr>
            <a:spLocks noGrp="1"/>
          </p:cNvSpPr>
          <p:nvPr/>
        </p:nvSpPr>
        <p:spPr>
          <a:xfrm>
            <a:off x="2352675" y="5800725"/>
            <a:ext cx="50958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275" b="0">
                <a:solidFill>
                  <a:srgbClr val="637087"/>
                </a:solidFill>
                <a:latin typeface="Microsoft YaHei"/>
                <a:ea typeface="Microsoft YaHei"/>
                <a:cs typeface="Microsoft YaHei"/>
              </a:rPr>
              <a:t>执行结果回写状态，重要事件进入记忆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719D12A0-7697-4727-A209-DF2F1A753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50" y="2324100"/>
            <a:ext cx="3543300" cy="3543300"/>
          </a:xfrm>
          <a:prstGeom prst="rect">
            <a:avLst/>
          </a:prstGeom>
        </p:spPr>
      </p:pic>
      <p:sp>
        <p:nvSpPr>
          <p:cNvPr id="40" name="merch-caption">
            <a:extLst>
              <a:ext uri="{FF2B5EF4-FFF2-40B4-BE49-F238E27FC236}">
                <a16:creationId xmlns:a16="http://schemas.microsoft.com/office/drawing/2014/main" id="{DFC5BF96-E1CE-4729-BA5D-3FA90ADD84E5}"/>
              </a:ext>
            </a:extLst>
          </p:cNvPr>
          <p:cNvSpPr>
            <a:spLocks noGrp="1"/>
          </p:cNvSpPr>
          <p:nvPr/>
        </p:nvSpPr>
        <p:spPr>
          <a:xfrm>
            <a:off x="8096250" y="6029325"/>
            <a:ext cx="35433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650" b="1">
                <a:solidFill>
                  <a:srgbClr val="2455D6"/>
                </a:solidFill>
                <a:latin typeface="Microsoft YaHei"/>
                <a:ea typeface="Microsoft YaHei"/>
                <a:cs typeface="Microsoft YaHei"/>
              </a:rPr>
              <a:t>亚克力立牌 · 角色徽章</a:t>
            </a:r>
          </a:p>
        </p:txBody>
      </p:sp>
      <p:sp>
        <p:nvSpPr>
          <p:cNvPr id="41" name="footer-line">
            <a:extLst>
              <a:ext uri="{FF2B5EF4-FFF2-40B4-BE49-F238E27FC236}">
                <a16:creationId xmlns:a16="http://schemas.microsoft.com/office/drawing/2014/main" id="{18EC70A2-75FB-4241-A459-479CF972F197}"/>
              </a:ext>
            </a:extLst>
          </p:cNvPr>
          <p:cNvSpPr>
            <a:spLocks noGrp="1"/>
          </p:cNvSpPr>
          <p:nvPr/>
        </p:nvSpPr>
        <p:spPr>
          <a:xfrm>
            <a:off x="552450" y="6381750"/>
            <a:ext cx="11096625" cy="0"/>
          </a:xfrm>
          <a:prstGeom prst="line">
            <a:avLst/>
          </a:prstGeom>
          <a:noFill/>
          <a:ln w="9525">
            <a:solidFill>
              <a:srgbClr val="D9DFE8"/>
            </a:solidFill>
          </a:ln>
        </p:spPr>
      </p:sp>
      <p:sp>
        <p:nvSpPr>
          <p:cNvPr id="42" name="disclosure">
            <a:extLst>
              <a:ext uri="{FF2B5EF4-FFF2-40B4-BE49-F238E27FC236}">
                <a16:creationId xmlns:a16="http://schemas.microsoft.com/office/drawing/2014/main" id="{4716AD59-2128-4613-9FCC-26E534D04F41}"/>
              </a:ext>
            </a:extLst>
          </p:cNvPr>
          <p:cNvSpPr>
            <a:spLocks noGrp="1"/>
          </p:cNvSpPr>
          <p:nvPr/>
        </p:nvSpPr>
        <p:spPr>
          <a:xfrm>
            <a:off x="552450" y="6457950"/>
            <a:ext cx="98107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900" b="0">
                <a:solidFill>
                  <a:srgbClr val="7F8899"/>
                </a:solidFill>
                <a:latin typeface="Microsoft YaHei"/>
                <a:ea typeface="Microsoft YaHei"/>
                <a:cs typeface="Microsoft YaHei"/>
              </a:rPr>
              <a:t>技术链路为方案示意，周边为 AI 生成概念设计、尚未打样</a:t>
            </a:r>
          </a:p>
        </p:txBody>
      </p:sp>
      <p:sp>
        <p:nvSpPr>
          <p:cNvPr id="43" name="page-number">
            <a:extLst>
              <a:ext uri="{FF2B5EF4-FFF2-40B4-BE49-F238E27FC236}">
                <a16:creationId xmlns:a16="http://schemas.microsoft.com/office/drawing/2014/main" id="{F0F6BF1A-48C4-4A85-95BB-55AD20ECB3B8}"/>
              </a:ext>
            </a:extLst>
          </p:cNvPr>
          <p:cNvSpPr>
            <a:spLocks noGrp="1"/>
          </p:cNvSpPr>
          <p:nvPr/>
        </p:nvSpPr>
        <p:spPr>
          <a:xfrm>
            <a:off x="10544175" y="6457950"/>
            <a:ext cx="1095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sz="1050" b="1">
                <a:solidFill>
                  <a:srgbClr val="20252B"/>
                </a:solidFill>
                <a:latin typeface="Microsoft YaHei"/>
                <a:ea typeface="Microsoft YaHei"/>
                <a:cs typeface="Microsoft YaHei"/>
              </a:rPr>
              <a:t>07 / 10</a:t>
            </a:r>
          </a:p>
        </p:txBody>
      </p:sp>
    </p:spTree>
    <p:extLst>
      <p:ext uri="{BB962C8B-B14F-4D97-AF65-F5344CB8AC3E}">
        <p14:creationId xmlns:p14="http://schemas.microsoft.com/office/powerpoint/2010/main" val="153182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团队介绍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九人按“一场节目”的生产流程分工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084168" y="146304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2459D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312768" y="157276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杨若朝  </a:t>
            </a: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首席执行官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4312768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8EE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项目统筹与资源决策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852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徐嘉盛  </a:t>
            </a: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技术总监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模型、游戏与系统验收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24448" y="274320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53048" y="28529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姬祥  </a:t>
            </a: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运营总监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6553048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节目排期与团队协作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095848" y="2377440"/>
            <a:ext cx="0" cy="18288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14600" y="2560320"/>
            <a:ext cx="5775808" cy="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14600" y="2560320"/>
            <a:ext cx="0" cy="18288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90408" y="2560320"/>
            <a:ext cx="0" cy="18288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02336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1330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李岱松  </a:t>
            </a: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系统工程师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526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部署与工作台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512064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5230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肖鹏希  </a:t>
            </a: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音频工程师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623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语音与声音效果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514600" y="3657600"/>
            <a:ext cx="0" cy="365760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0" y="402336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166360" y="413308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刘瑞麒  </a:t>
            </a: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人格与内容负责人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5166360" y="452628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角色表达与接梗企划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427568" y="402336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56168" y="413308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张涵  </a:t>
            </a: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市场与商务负责人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8656168" y="452628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增长与品牌合作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937760" y="512064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166360" y="523036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吴越  </a:t>
            </a: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视觉美术负责人</a:t>
            </a:r>
            <a:endParaRPr lang="en-US" sz="1900" dirty="0"/>
          </a:p>
        </p:txBody>
      </p:sp>
      <p:sp>
        <p:nvSpPr>
          <p:cNvPr id="33" name="Text 30"/>
          <p:cNvSpPr txBox="1"/>
          <p:nvPr/>
        </p:nvSpPr>
        <p:spPr>
          <a:xfrm>
            <a:off x="5166360" y="562356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原画与 Live2D 协作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8427568" y="5120640"/>
            <a:ext cx="32154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56168" y="5230368"/>
            <a:ext cx="2849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张乐溪  </a:t>
            </a:r>
            <a:r>
              <a:rPr lang="en-US" sz="1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视频制作负责人</a:t>
            </a:r>
            <a:endParaRPr lang="en-US" sz="1900" dirty="0"/>
          </a:p>
        </p:txBody>
      </p:sp>
      <p:sp>
        <p:nvSpPr>
          <p:cNvPr id="36" name="Text 33"/>
          <p:cNvSpPr txBox="1"/>
          <p:nvPr/>
        </p:nvSpPr>
        <p:spPr>
          <a:xfrm>
            <a:off x="8656168" y="5623560"/>
            <a:ext cx="2849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高光切片与系列包装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8290408" y="3657600"/>
            <a:ext cx="0" cy="347472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商业模式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  <p:sp>
        <p:nvSpPr>
          <p:cNvPr id="101" name="title">
            <a:extLst>
              <a:ext uri="{FF2B5EF4-FFF2-40B4-BE49-F238E27FC236}">
                <a16:creationId xmlns:a16="http://schemas.microsoft.com/office/drawing/2014/main" id="{2CCAAEA8-41D5-4B2B-8039-6E046982D0DC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109662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850" b="1">
                <a:solidFill>
                  <a:srgbClr val="20252B"/>
                </a:solidFill>
              </a:defRPr>
            </a:defPPr>
            <a:lvl1pPr>
              <a:defRPr sz="2850" b="1">
                <a:solidFill>
                  <a:srgbClr val="20252B"/>
                </a:solidFill>
              </a:defRPr>
            </a:lvl1pPr>
            <a:lvl2pPr>
              <a:defRPr sz="2850" b="1">
                <a:solidFill>
                  <a:srgbClr val="20252B"/>
                </a:solidFill>
              </a:defRPr>
            </a:lvl2pPr>
            <a:lvl3pPr>
              <a:defRPr sz="2850" b="1">
                <a:solidFill>
                  <a:srgbClr val="20252B"/>
                </a:solidFill>
              </a:defRPr>
            </a:lvl3pPr>
            <a:lvl4pPr>
              <a:defRPr sz="2850" b="1">
                <a:solidFill>
                  <a:srgbClr val="20252B"/>
                </a:solidFill>
              </a:defRPr>
            </a:lvl4pPr>
            <a:lvl5pPr>
              <a:defRPr sz="2850" b="1">
                <a:solidFill>
                  <a:srgbClr val="20252B"/>
                </a:solidFill>
              </a:defRPr>
            </a:lvl5pPr>
            <a:lvl6pPr>
              <a:defRPr sz="2850" b="1">
                <a:solidFill>
                  <a:srgbClr val="20252B"/>
                </a:solidFill>
              </a:defRPr>
            </a:lvl6pPr>
            <a:lvl7pPr>
              <a:defRPr sz="2850" b="1">
                <a:solidFill>
                  <a:srgbClr val="20252B"/>
                </a:solidFill>
              </a:defRPr>
            </a:lvl7pPr>
            <a:lvl8pPr>
              <a:defRPr sz="2850" b="1">
                <a:solidFill>
                  <a:srgbClr val="20252B"/>
                </a:solidFill>
              </a:defRPr>
            </a:lvl8pPr>
            <a:lvl9pPr>
              <a:defRPr sz="2850" b="1">
                <a:solidFill>
                  <a:srgbClr val="20252B"/>
                </a:solidFill>
              </a:defRPr>
            </a:lvl9pPr>
          </a:lstStyle>
          <a:p>
            <a:pPr>
              <a:defRPr sz="2850" b="1">
                <a:solidFill>
                  <a:srgbClr val="20252B"/>
                </a:solidFill>
              </a:defRPr>
            </a:pPr>
            <a:r>
              <a:rPr sz="2850" b="1">
                <a:solidFill>
                  <a:srgbClr val="20252B"/>
                </a:solidFill>
              </a:rPr>
              <a:t>以直播为核心，形成四类收入来源</a:t>
            </a:r>
          </a:p>
        </p:txBody>
      </p:sp>
      <p:sp>
        <p:nvSpPr>
          <p:cNvPr id="103" name="group-live">
            <a:extLst>
              <a:ext uri="{FF2B5EF4-FFF2-40B4-BE49-F238E27FC236}">
                <a16:creationId xmlns:a16="http://schemas.microsoft.com/office/drawing/2014/main" id="{CB605945-53D1-4BDB-A8FC-0C93AFDA6E67}"/>
              </a:ext>
            </a:extLst>
          </p:cNvPr>
          <p:cNvSpPr>
            <a:spLocks noGrp="1"/>
          </p:cNvSpPr>
          <p:nvPr/>
        </p:nvSpPr>
        <p:spPr>
          <a:xfrm>
            <a:off x="552450" y="208597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2455D6"/>
                </a:solidFill>
              </a:defRPr>
            </a:defPPr>
            <a:lvl1pPr>
              <a:defRPr sz="1725" b="1">
                <a:solidFill>
                  <a:srgbClr val="2455D6"/>
                </a:solidFill>
              </a:defRPr>
            </a:lvl1pPr>
            <a:lvl2pPr>
              <a:defRPr sz="1725" b="1">
                <a:solidFill>
                  <a:srgbClr val="2455D6"/>
                </a:solidFill>
              </a:defRPr>
            </a:lvl2pPr>
            <a:lvl3pPr>
              <a:defRPr sz="1725" b="1">
                <a:solidFill>
                  <a:srgbClr val="2455D6"/>
                </a:solidFill>
              </a:defRPr>
            </a:lvl3pPr>
            <a:lvl4pPr>
              <a:defRPr sz="1725" b="1">
                <a:solidFill>
                  <a:srgbClr val="2455D6"/>
                </a:solidFill>
              </a:defRPr>
            </a:lvl4pPr>
            <a:lvl5pPr>
              <a:defRPr sz="1725" b="1">
                <a:solidFill>
                  <a:srgbClr val="2455D6"/>
                </a:solidFill>
              </a:defRPr>
            </a:lvl5pPr>
            <a:lvl6pPr>
              <a:defRPr sz="1725" b="1">
                <a:solidFill>
                  <a:srgbClr val="2455D6"/>
                </a:solidFill>
              </a:defRPr>
            </a:lvl6pPr>
            <a:lvl7pPr>
              <a:defRPr sz="1725" b="1">
                <a:solidFill>
                  <a:srgbClr val="2455D6"/>
                </a:solidFill>
              </a:defRPr>
            </a:lvl7pPr>
            <a:lvl8pPr>
              <a:defRPr sz="1725" b="1">
                <a:solidFill>
                  <a:srgbClr val="2455D6"/>
                </a:solidFill>
              </a:defRPr>
            </a:lvl8pPr>
            <a:lvl9pPr>
              <a:defRPr sz="1725" b="1">
                <a:solidFill>
                  <a:srgbClr val="2455D6"/>
                </a:solidFill>
              </a:defRPr>
            </a:lvl9pPr>
          </a:lstStyle>
          <a:p>
            <a:pPr>
              <a:defRPr sz="1725" b="1">
                <a:solidFill>
                  <a:srgbClr val="2455D6"/>
                </a:solidFill>
              </a:defRPr>
            </a:pPr>
            <a:r>
              <a:rPr sz="1725" b="1">
                <a:solidFill>
                  <a:srgbClr val="2455D6"/>
                </a:solidFill>
              </a:rPr>
              <a:t>直播核心收入</a:t>
            </a:r>
          </a:p>
        </p:txBody>
      </p:sp>
      <p:sp>
        <p:nvSpPr>
          <p:cNvPr id="104" name="group-expand">
            <a:extLst>
              <a:ext uri="{FF2B5EF4-FFF2-40B4-BE49-F238E27FC236}">
                <a16:creationId xmlns:a16="http://schemas.microsoft.com/office/drawing/2014/main" id="{24B95686-E755-4311-8156-52C3ABA2E5F2}"/>
              </a:ext>
            </a:extLst>
          </p:cNvPr>
          <p:cNvSpPr>
            <a:spLocks noGrp="1"/>
          </p:cNvSpPr>
          <p:nvPr/>
        </p:nvSpPr>
        <p:spPr>
          <a:xfrm>
            <a:off x="6267450" y="2085975"/>
            <a:ext cx="523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725" b="1">
                <a:solidFill>
                  <a:srgbClr val="637087"/>
                </a:solidFill>
              </a:defRPr>
            </a:defPPr>
            <a:lvl1pPr>
              <a:defRPr sz="1725" b="1">
                <a:solidFill>
                  <a:srgbClr val="637087"/>
                </a:solidFill>
              </a:defRPr>
            </a:lvl1pPr>
            <a:lvl2pPr>
              <a:defRPr sz="1725" b="1">
                <a:solidFill>
                  <a:srgbClr val="637087"/>
                </a:solidFill>
              </a:defRPr>
            </a:lvl2pPr>
            <a:lvl3pPr>
              <a:defRPr sz="1725" b="1">
                <a:solidFill>
                  <a:srgbClr val="637087"/>
                </a:solidFill>
              </a:defRPr>
            </a:lvl3pPr>
            <a:lvl4pPr>
              <a:defRPr sz="1725" b="1">
                <a:solidFill>
                  <a:srgbClr val="637087"/>
                </a:solidFill>
              </a:defRPr>
            </a:lvl4pPr>
            <a:lvl5pPr>
              <a:defRPr sz="1725" b="1">
                <a:solidFill>
                  <a:srgbClr val="637087"/>
                </a:solidFill>
              </a:defRPr>
            </a:lvl5pPr>
            <a:lvl6pPr>
              <a:defRPr sz="1725" b="1">
                <a:solidFill>
                  <a:srgbClr val="637087"/>
                </a:solidFill>
              </a:defRPr>
            </a:lvl6pPr>
            <a:lvl7pPr>
              <a:defRPr sz="1725" b="1">
                <a:solidFill>
                  <a:srgbClr val="637087"/>
                </a:solidFill>
              </a:defRPr>
            </a:lvl7pPr>
            <a:lvl8pPr>
              <a:defRPr sz="1725" b="1">
                <a:solidFill>
                  <a:srgbClr val="637087"/>
                </a:solidFill>
              </a:defRPr>
            </a:lvl8pPr>
            <a:lvl9pPr>
              <a:defRPr sz="1725" b="1">
                <a:solidFill>
                  <a:srgbClr val="637087"/>
                </a:solidFill>
              </a:defRPr>
            </a:lvl9pPr>
          </a:lstStyle>
          <a:p>
            <a:pPr>
              <a:defRPr sz="1725" b="1">
                <a:solidFill>
                  <a:srgbClr val="637087"/>
                </a:solidFill>
              </a:defRPr>
            </a:pPr>
            <a:r>
              <a:rPr sz="1725" b="1">
                <a:solidFill>
                  <a:srgbClr val="637087"/>
                </a:solidFill>
              </a:rPr>
              <a:t>随观众积累拓展</a:t>
            </a:r>
          </a:p>
        </p:txBody>
      </p:sp>
      <p:sp>
        <p:nvSpPr>
          <p:cNvPr id="105" name="live-line">
            <a:extLst>
              <a:ext uri="{FF2B5EF4-FFF2-40B4-BE49-F238E27FC236}">
                <a16:creationId xmlns:a16="http://schemas.microsoft.com/office/drawing/2014/main" id="{1AD5B975-230C-48AF-88E7-DACD02410083}"/>
              </a:ext>
            </a:extLst>
          </p:cNvPr>
          <p:cNvSpPr>
            <a:spLocks noGrp="1"/>
          </p:cNvSpPr>
          <p:nvPr/>
        </p:nvSpPr>
        <p:spPr>
          <a:xfrm>
            <a:off x="552450" y="2505075"/>
            <a:ext cx="5219700" cy="0"/>
          </a:xfrm>
          <a:prstGeom prst="line">
            <a:avLst/>
          </a:prstGeom>
          <a:noFill/>
          <a:ln w="9525">
            <a:solidFill>
              <a:srgbClr val="2455D6"/>
            </a:solidFill>
          </a:ln>
        </p:spPr>
      </p:sp>
      <p:sp>
        <p:nvSpPr>
          <p:cNvPr id="106" name="expand-line">
            <a:extLst>
              <a:ext uri="{FF2B5EF4-FFF2-40B4-BE49-F238E27FC236}">
                <a16:creationId xmlns:a16="http://schemas.microsoft.com/office/drawing/2014/main" id="{13B3B518-9157-4738-9B3C-6F229F3B0722}"/>
              </a:ext>
            </a:extLst>
          </p:cNvPr>
          <p:cNvSpPr>
            <a:spLocks noGrp="1"/>
          </p:cNvSpPr>
          <p:nvPr/>
        </p:nvSpPr>
        <p:spPr>
          <a:xfrm>
            <a:off x="6267450" y="2505075"/>
            <a:ext cx="5219700" cy="0"/>
          </a:xfrm>
          <a:prstGeom prst="line">
            <a:avLst/>
          </a:prstGeom>
          <a:noFill/>
          <a:ln w="9525">
            <a:solidFill>
              <a:srgbClr val="DCE2EC"/>
            </a:solidFill>
          </a:ln>
        </p:spPr>
      </p:sp>
      <p:sp>
        <p:nvSpPr>
          <p:cNvPr id="107" name="number-0">
            <a:extLst>
              <a:ext uri="{FF2B5EF4-FFF2-40B4-BE49-F238E27FC236}">
                <a16:creationId xmlns:a16="http://schemas.microsoft.com/office/drawing/2014/main" id="{E0F6BA54-B0BF-4D82-8046-5D1253B995C8}"/>
              </a:ext>
            </a:extLst>
          </p:cNvPr>
          <p:cNvSpPr>
            <a:spLocks noGrp="1"/>
          </p:cNvSpPr>
          <p:nvPr/>
        </p:nvSpPr>
        <p:spPr>
          <a:xfrm>
            <a:off x="552450" y="2733675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01</a:t>
            </a:r>
          </a:p>
        </p:txBody>
      </p:sp>
      <p:sp>
        <p:nvSpPr>
          <p:cNvPr id="108" name="income-0">
            <a:extLst>
              <a:ext uri="{FF2B5EF4-FFF2-40B4-BE49-F238E27FC236}">
                <a16:creationId xmlns:a16="http://schemas.microsoft.com/office/drawing/2014/main" id="{271E7F5B-C558-405D-B949-87A468EE17B5}"/>
              </a:ext>
            </a:extLst>
          </p:cNvPr>
          <p:cNvSpPr>
            <a:spLocks noGrp="1"/>
          </p:cNvSpPr>
          <p:nvPr/>
        </p:nvSpPr>
        <p:spPr>
          <a:xfrm>
            <a:off x="552450" y="3190875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直播打赏</a:t>
            </a:r>
          </a:p>
        </p:txBody>
      </p:sp>
      <p:sp>
        <p:nvSpPr>
          <p:cNvPr id="110" name="method-0">
            <a:extLst>
              <a:ext uri="{FF2B5EF4-FFF2-40B4-BE49-F238E27FC236}">
                <a16:creationId xmlns:a16="http://schemas.microsoft.com/office/drawing/2014/main" id="{581B2014-294C-4465-9B7F-4F655C3393FF}"/>
              </a:ext>
            </a:extLst>
          </p:cNvPr>
          <p:cNvSpPr>
            <a:spLocks noGrp="1"/>
          </p:cNvSpPr>
          <p:nvPr/>
        </p:nvSpPr>
        <p:spPr>
          <a:xfrm>
            <a:off x="552450" y="3731557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 dirty="0" err="1">
                <a:solidFill>
                  <a:srgbClr val="2455D6"/>
                </a:solidFill>
              </a:rPr>
              <a:t>礼物、付费留言</a:t>
            </a:r>
            <a:endParaRPr sz="1650" b="1" dirty="0">
              <a:solidFill>
                <a:srgbClr val="2455D6"/>
              </a:solidFill>
            </a:endParaRPr>
          </a:p>
        </p:txBody>
      </p:sp>
      <p:sp>
        <p:nvSpPr>
          <p:cNvPr id="111" name="value-0">
            <a:extLst>
              <a:ext uri="{FF2B5EF4-FFF2-40B4-BE49-F238E27FC236}">
                <a16:creationId xmlns:a16="http://schemas.microsoft.com/office/drawing/2014/main" id="{41CF699E-25CA-4581-8D49-6BB7533AA75A}"/>
              </a:ext>
            </a:extLst>
          </p:cNvPr>
          <p:cNvSpPr>
            <a:spLocks noGrp="1"/>
          </p:cNvSpPr>
          <p:nvPr/>
        </p:nvSpPr>
        <p:spPr>
          <a:xfrm>
            <a:off x="552450" y="4188757"/>
            <a:ext cx="245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支持当场互动</a:t>
            </a: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与角色表现</a:t>
            </a:r>
          </a:p>
        </p:txBody>
      </p:sp>
      <p:sp>
        <p:nvSpPr>
          <p:cNvPr id="112" name="number-1">
            <a:extLst>
              <a:ext uri="{FF2B5EF4-FFF2-40B4-BE49-F238E27FC236}">
                <a16:creationId xmlns:a16="http://schemas.microsoft.com/office/drawing/2014/main" id="{17A029C2-7441-40EB-878B-8C34C2C168DD}"/>
              </a:ext>
            </a:extLst>
          </p:cNvPr>
          <p:cNvSpPr>
            <a:spLocks noGrp="1"/>
          </p:cNvSpPr>
          <p:nvPr/>
        </p:nvSpPr>
        <p:spPr>
          <a:xfrm>
            <a:off x="3409950" y="2733675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02</a:t>
            </a:r>
          </a:p>
        </p:txBody>
      </p:sp>
      <p:sp>
        <p:nvSpPr>
          <p:cNvPr id="113" name="income-1">
            <a:extLst>
              <a:ext uri="{FF2B5EF4-FFF2-40B4-BE49-F238E27FC236}">
                <a16:creationId xmlns:a16="http://schemas.microsoft.com/office/drawing/2014/main" id="{33B91990-6466-4206-9C33-F44A416B668E}"/>
              </a:ext>
            </a:extLst>
          </p:cNvPr>
          <p:cNvSpPr>
            <a:spLocks noGrp="1"/>
          </p:cNvSpPr>
          <p:nvPr/>
        </p:nvSpPr>
        <p:spPr>
          <a:xfrm>
            <a:off x="3409950" y="3190875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直播会员</a:t>
            </a:r>
          </a:p>
        </p:txBody>
      </p:sp>
      <p:sp>
        <p:nvSpPr>
          <p:cNvPr id="115" name="method-1">
            <a:extLst>
              <a:ext uri="{FF2B5EF4-FFF2-40B4-BE49-F238E27FC236}">
                <a16:creationId xmlns:a16="http://schemas.microsoft.com/office/drawing/2014/main" id="{8F22CC1D-3A80-41A3-AAAD-3F19B7DED60E}"/>
              </a:ext>
            </a:extLst>
          </p:cNvPr>
          <p:cNvSpPr>
            <a:spLocks noGrp="1"/>
          </p:cNvSpPr>
          <p:nvPr/>
        </p:nvSpPr>
        <p:spPr>
          <a:xfrm>
            <a:off x="3409950" y="3731557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 dirty="0" err="1">
                <a:solidFill>
                  <a:srgbClr val="2455D6"/>
                </a:solidFill>
              </a:rPr>
              <a:t>持续订阅、明确权益</a:t>
            </a:r>
            <a:endParaRPr sz="1650" b="1" dirty="0">
              <a:solidFill>
                <a:srgbClr val="2455D6"/>
              </a:solidFill>
            </a:endParaRPr>
          </a:p>
        </p:txBody>
      </p:sp>
      <p:sp>
        <p:nvSpPr>
          <p:cNvPr id="116" name="value-1">
            <a:extLst>
              <a:ext uri="{FF2B5EF4-FFF2-40B4-BE49-F238E27FC236}">
                <a16:creationId xmlns:a16="http://schemas.microsoft.com/office/drawing/2014/main" id="{7AD26A13-0301-4BA2-AEE2-56C864F5DDE3}"/>
              </a:ext>
            </a:extLst>
          </p:cNvPr>
          <p:cNvSpPr>
            <a:spLocks noGrp="1"/>
          </p:cNvSpPr>
          <p:nvPr/>
        </p:nvSpPr>
        <p:spPr>
          <a:xfrm>
            <a:off x="3409950" y="4188757"/>
            <a:ext cx="245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 dirty="0" err="1">
                <a:solidFill>
                  <a:srgbClr val="20252B"/>
                </a:solidFill>
              </a:rPr>
              <a:t>身份标识、专属内容</a:t>
            </a:r>
            <a:endParaRPr sz="1650" b="0" dirty="0">
              <a:solidFill>
                <a:srgbClr val="20252B"/>
              </a:solidFill>
            </a:endParaRP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 dirty="0" err="1">
                <a:solidFill>
                  <a:srgbClr val="20252B"/>
                </a:solidFill>
              </a:rPr>
              <a:t>与会员活动</a:t>
            </a:r>
            <a:endParaRPr sz="1650" b="0" dirty="0">
              <a:solidFill>
                <a:srgbClr val="20252B"/>
              </a:solidFill>
            </a:endParaRPr>
          </a:p>
        </p:txBody>
      </p:sp>
      <p:sp>
        <p:nvSpPr>
          <p:cNvPr id="117" name="number-2">
            <a:extLst>
              <a:ext uri="{FF2B5EF4-FFF2-40B4-BE49-F238E27FC236}">
                <a16:creationId xmlns:a16="http://schemas.microsoft.com/office/drawing/2014/main" id="{54DE0423-6AD9-45FD-A5E9-6C40446E0D19}"/>
              </a:ext>
            </a:extLst>
          </p:cNvPr>
          <p:cNvSpPr>
            <a:spLocks noGrp="1"/>
          </p:cNvSpPr>
          <p:nvPr/>
        </p:nvSpPr>
        <p:spPr>
          <a:xfrm>
            <a:off x="6267450" y="2733675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03</a:t>
            </a:r>
          </a:p>
        </p:txBody>
      </p:sp>
      <p:sp>
        <p:nvSpPr>
          <p:cNvPr id="118" name="income-2">
            <a:extLst>
              <a:ext uri="{FF2B5EF4-FFF2-40B4-BE49-F238E27FC236}">
                <a16:creationId xmlns:a16="http://schemas.microsoft.com/office/drawing/2014/main" id="{55C2D2D7-9BBC-4456-BEB5-02359EF61D97}"/>
              </a:ext>
            </a:extLst>
          </p:cNvPr>
          <p:cNvSpPr>
            <a:spLocks noGrp="1"/>
          </p:cNvSpPr>
          <p:nvPr/>
        </p:nvSpPr>
        <p:spPr>
          <a:xfrm>
            <a:off x="6267450" y="3190875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节目周边</a:t>
            </a:r>
          </a:p>
        </p:txBody>
      </p:sp>
      <p:sp>
        <p:nvSpPr>
          <p:cNvPr id="120" name="method-2">
            <a:extLst>
              <a:ext uri="{FF2B5EF4-FFF2-40B4-BE49-F238E27FC236}">
                <a16:creationId xmlns:a16="http://schemas.microsoft.com/office/drawing/2014/main" id="{C187253D-7C61-41C9-9E6F-FE1A68A2E21D}"/>
              </a:ext>
            </a:extLst>
          </p:cNvPr>
          <p:cNvSpPr>
            <a:spLocks noGrp="1"/>
          </p:cNvSpPr>
          <p:nvPr/>
        </p:nvSpPr>
        <p:spPr>
          <a:xfrm>
            <a:off x="6267450" y="3731557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>
                <a:solidFill>
                  <a:srgbClr val="2455D6"/>
                </a:solidFill>
              </a:rPr>
              <a:t>小批量预售</a:t>
            </a:r>
          </a:p>
        </p:txBody>
      </p:sp>
      <p:sp>
        <p:nvSpPr>
          <p:cNvPr id="121" name="value-2">
            <a:extLst>
              <a:ext uri="{FF2B5EF4-FFF2-40B4-BE49-F238E27FC236}">
                <a16:creationId xmlns:a16="http://schemas.microsoft.com/office/drawing/2014/main" id="{496637E5-8DCE-4E1D-A5DF-53ABF4EE1628}"/>
              </a:ext>
            </a:extLst>
          </p:cNvPr>
          <p:cNvSpPr>
            <a:spLocks noGrp="1"/>
          </p:cNvSpPr>
          <p:nvPr/>
        </p:nvSpPr>
        <p:spPr>
          <a:xfrm>
            <a:off x="6267450" y="4188757"/>
            <a:ext cx="245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立牌、徽章与</a:t>
            </a: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名场面纪念商品</a:t>
            </a:r>
          </a:p>
        </p:txBody>
      </p:sp>
      <p:sp>
        <p:nvSpPr>
          <p:cNvPr id="122" name="number-3">
            <a:extLst>
              <a:ext uri="{FF2B5EF4-FFF2-40B4-BE49-F238E27FC236}">
                <a16:creationId xmlns:a16="http://schemas.microsoft.com/office/drawing/2014/main" id="{CCF3D60B-896B-43E9-9684-2BAD99D7A480}"/>
              </a:ext>
            </a:extLst>
          </p:cNvPr>
          <p:cNvSpPr>
            <a:spLocks noGrp="1"/>
          </p:cNvSpPr>
          <p:nvPr/>
        </p:nvSpPr>
        <p:spPr>
          <a:xfrm>
            <a:off x="9124950" y="2733675"/>
            <a:ext cx="24574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1">
                <a:solidFill>
                  <a:srgbClr val="2455D6"/>
                </a:solidFill>
              </a:defRPr>
            </a:defPPr>
            <a:lvl1pPr>
              <a:defRPr sz="1875" b="1">
                <a:solidFill>
                  <a:srgbClr val="2455D6"/>
                </a:solidFill>
              </a:defRPr>
            </a:lvl1pPr>
            <a:lvl2pPr>
              <a:defRPr sz="1875" b="1">
                <a:solidFill>
                  <a:srgbClr val="2455D6"/>
                </a:solidFill>
              </a:defRPr>
            </a:lvl2pPr>
            <a:lvl3pPr>
              <a:defRPr sz="1875" b="1">
                <a:solidFill>
                  <a:srgbClr val="2455D6"/>
                </a:solidFill>
              </a:defRPr>
            </a:lvl3pPr>
            <a:lvl4pPr>
              <a:defRPr sz="1875" b="1">
                <a:solidFill>
                  <a:srgbClr val="2455D6"/>
                </a:solidFill>
              </a:defRPr>
            </a:lvl4pPr>
            <a:lvl5pPr>
              <a:defRPr sz="1875" b="1">
                <a:solidFill>
                  <a:srgbClr val="2455D6"/>
                </a:solidFill>
              </a:defRPr>
            </a:lvl5pPr>
            <a:lvl6pPr>
              <a:defRPr sz="1875" b="1">
                <a:solidFill>
                  <a:srgbClr val="2455D6"/>
                </a:solidFill>
              </a:defRPr>
            </a:lvl6pPr>
            <a:lvl7pPr>
              <a:defRPr sz="1875" b="1">
                <a:solidFill>
                  <a:srgbClr val="2455D6"/>
                </a:solidFill>
              </a:defRPr>
            </a:lvl7pPr>
            <a:lvl8pPr>
              <a:defRPr sz="1875" b="1">
                <a:solidFill>
                  <a:srgbClr val="2455D6"/>
                </a:solidFill>
              </a:defRPr>
            </a:lvl8pPr>
            <a:lvl9pPr>
              <a:defRPr sz="1875" b="1">
                <a:solidFill>
                  <a:srgbClr val="2455D6"/>
                </a:solidFill>
              </a:defRPr>
            </a:lvl9pPr>
          </a:lstStyle>
          <a:p>
            <a:pPr>
              <a:defRPr sz="1875" b="1">
                <a:solidFill>
                  <a:srgbClr val="2455D6"/>
                </a:solidFill>
              </a:defRPr>
            </a:pPr>
            <a:r>
              <a:rPr sz="1875" b="1">
                <a:solidFill>
                  <a:srgbClr val="2455D6"/>
                </a:solidFill>
              </a:rPr>
              <a:t>04</a:t>
            </a:r>
          </a:p>
        </p:txBody>
      </p:sp>
      <p:sp>
        <p:nvSpPr>
          <p:cNvPr id="123" name="income-3">
            <a:extLst>
              <a:ext uri="{FF2B5EF4-FFF2-40B4-BE49-F238E27FC236}">
                <a16:creationId xmlns:a16="http://schemas.microsoft.com/office/drawing/2014/main" id="{C96604D1-CD86-401E-A6C7-D9906886551F}"/>
              </a:ext>
            </a:extLst>
          </p:cNvPr>
          <p:cNvSpPr>
            <a:spLocks noGrp="1"/>
          </p:cNvSpPr>
          <p:nvPr/>
        </p:nvSpPr>
        <p:spPr>
          <a:xfrm>
            <a:off x="9124950" y="3190875"/>
            <a:ext cx="24574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25" b="1">
                <a:solidFill>
                  <a:srgbClr val="20252B"/>
                </a:solidFill>
              </a:defRPr>
            </a:defPPr>
            <a:lvl1pPr>
              <a:defRPr sz="2325" b="1">
                <a:solidFill>
                  <a:srgbClr val="20252B"/>
                </a:solidFill>
              </a:defRPr>
            </a:lvl1pPr>
            <a:lvl2pPr>
              <a:defRPr sz="2325" b="1">
                <a:solidFill>
                  <a:srgbClr val="20252B"/>
                </a:solidFill>
              </a:defRPr>
            </a:lvl2pPr>
            <a:lvl3pPr>
              <a:defRPr sz="2325" b="1">
                <a:solidFill>
                  <a:srgbClr val="20252B"/>
                </a:solidFill>
              </a:defRPr>
            </a:lvl3pPr>
            <a:lvl4pPr>
              <a:defRPr sz="2325" b="1">
                <a:solidFill>
                  <a:srgbClr val="20252B"/>
                </a:solidFill>
              </a:defRPr>
            </a:lvl4pPr>
            <a:lvl5pPr>
              <a:defRPr sz="2325" b="1">
                <a:solidFill>
                  <a:srgbClr val="20252B"/>
                </a:solidFill>
              </a:defRPr>
            </a:lvl5pPr>
            <a:lvl6pPr>
              <a:defRPr sz="2325" b="1">
                <a:solidFill>
                  <a:srgbClr val="20252B"/>
                </a:solidFill>
              </a:defRPr>
            </a:lvl6pPr>
            <a:lvl7pPr>
              <a:defRPr sz="2325" b="1">
                <a:solidFill>
                  <a:srgbClr val="20252B"/>
                </a:solidFill>
              </a:defRPr>
            </a:lvl7pPr>
            <a:lvl8pPr>
              <a:defRPr sz="2325" b="1">
                <a:solidFill>
                  <a:srgbClr val="20252B"/>
                </a:solidFill>
              </a:defRPr>
            </a:lvl8pPr>
            <a:lvl9pPr>
              <a:defRPr sz="2325" b="1">
                <a:solidFill>
                  <a:srgbClr val="20252B"/>
                </a:solidFill>
              </a:defRPr>
            </a:lvl9pPr>
          </a:lstStyle>
          <a:p>
            <a:pPr>
              <a:defRPr sz="2325" b="1">
                <a:solidFill>
                  <a:srgbClr val="20252B"/>
                </a:solidFill>
              </a:defRPr>
            </a:pPr>
            <a:r>
              <a:rPr sz="2325" b="1">
                <a:solidFill>
                  <a:srgbClr val="20252B"/>
                </a:solidFill>
              </a:rPr>
              <a:t>商务合作</a:t>
            </a:r>
          </a:p>
        </p:txBody>
      </p:sp>
      <p:sp>
        <p:nvSpPr>
          <p:cNvPr id="125" name="method-3">
            <a:extLst>
              <a:ext uri="{FF2B5EF4-FFF2-40B4-BE49-F238E27FC236}">
                <a16:creationId xmlns:a16="http://schemas.microsoft.com/office/drawing/2014/main" id="{FB98FE4D-29EB-45C7-8D89-3B57F5890474}"/>
              </a:ext>
            </a:extLst>
          </p:cNvPr>
          <p:cNvSpPr>
            <a:spLocks noGrp="1"/>
          </p:cNvSpPr>
          <p:nvPr/>
        </p:nvSpPr>
        <p:spPr>
          <a:xfrm>
            <a:off x="9124950" y="3731557"/>
            <a:ext cx="24574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1">
                <a:solidFill>
                  <a:srgbClr val="2455D6"/>
                </a:solidFill>
              </a:defRPr>
            </a:defPPr>
            <a:lvl1pPr>
              <a:defRPr sz="1650" b="1">
                <a:solidFill>
                  <a:srgbClr val="2455D6"/>
                </a:solidFill>
              </a:defRPr>
            </a:lvl1pPr>
            <a:lvl2pPr>
              <a:defRPr sz="1650" b="1">
                <a:solidFill>
                  <a:srgbClr val="2455D6"/>
                </a:solidFill>
              </a:defRPr>
            </a:lvl2pPr>
            <a:lvl3pPr>
              <a:defRPr sz="1650" b="1">
                <a:solidFill>
                  <a:srgbClr val="2455D6"/>
                </a:solidFill>
              </a:defRPr>
            </a:lvl3pPr>
            <a:lvl4pPr>
              <a:defRPr sz="1650" b="1">
                <a:solidFill>
                  <a:srgbClr val="2455D6"/>
                </a:solidFill>
              </a:defRPr>
            </a:lvl4pPr>
            <a:lvl5pPr>
              <a:defRPr sz="1650" b="1">
                <a:solidFill>
                  <a:srgbClr val="2455D6"/>
                </a:solidFill>
              </a:defRPr>
            </a:lvl5pPr>
            <a:lvl6pPr>
              <a:defRPr sz="1650" b="1">
                <a:solidFill>
                  <a:srgbClr val="2455D6"/>
                </a:solidFill>
              </a:defRPr>
            </a:lvl6pPr>
            <a:lvl7pPr>
              <a:defRPr sz="1650" b="1">
                <a:solidFill>
                  <a:srgbClr val="2455D6"/>
                </a:solidFill>
              </a:defRPr>
            </a:lvl7pPr>
            <a:lvl8pPr>
              <a:defRPr sz="1650" b="1">
                <a:solidFill>
                  <a:srgbClr val="2455D6"/>
                </a:solidFill>
              </a:defRPr>
            </a:lvl8pPr>
            <a:lvl9pPr>
              <a:defRPr sz="1650" b="1">
                <a:solidFill>
                  <a:srgbClr val="2455D6"/>
                </a:solidFill>
              </a:defRPr>
            </a:lvl9pPr>
          </a:lstStyle>
          <a:p>
            <a:pPr>
              <a:defRPr sz="1650" b="1">
                <a:solidFill>
                  <a:srgbClr val="2455D6"/>
                </a:solidFill>
              </a:defRPr>
            </a:pPr>
            <a:r>
              <a:rPr sz="1650" b="1">
                <a:solidFill>
                  <a:srgbClr val="2455D6"/>
                </a:solidFill>
              </a:rPr>
              <a:t>按项目合作</a:t>
            </a:r>
          </a:p>
        </p:txBody>
      </p:sp>
      <p:sp>
        <p:nvSpPr>
          <p:cNvPr id="126" name="value-3">
            <a:extLst>
              <a:ext uri="{FF2B5EF4-FFF2-40B4-BE49-F238E27FC236}">
                <a16:creationId xmlns:a16="http://schemas.microsoft.com/office/drawing/2014/main" id="{5EB8DB39-CBB5-48A3-8124-508119844B85}"/>
              </a:ext>
            </a:extLst>
          </p:cNvPr>
          <p:cNvSpPr>
            <a:spLocks noGrp="1"/>
          </p:cNvSpPr>
          <p:nvPr/>
        </p:nvSpPr>
        <p:spPr>
          <a:xfrm>
            <a:off x="9124950" y="4188757"/>
            <a:ext cx="24574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20252B"/>
                </a:solidFill>
              </a:defRPr>
            </a:defPPr>
            <a:lvl1pPr>
              <a:defRPr sz="1650" b="0">
                <a:solidFill>
                  <a:srgbClr val="20252B"/>
                </a:solidFill>
              </a:defRPr>
            </a:lvl1pPr>
            <a:lvl2pPr>
              <a:defRPr sz="1650" b="0">
                <a:solidFill>
                  <a:srgbClr val="20252B"/>
                </a:solidFill>
              </a:defRPr>
            </a:lvl2pPr>
            <a:lvl3pPr>
              <a:defRPr sz="1650" b="0">
                <a:solidFill>
                  <a:srgbClr val="20252B"/>
                </a:solidFill>
              </a:defRPr>
            </a:lvl3pPr>
            <a:lvl4pPr>
              <a:defRPr sz="1650" b="0">
                <a:solidFill>
                  <a:srgbClr val="20252B"/>
                </a:solidFill>
              </a:defRPr>
            </a:lvl4pPr>
            <a:lvl5pPr>
              <a:defRPr sz="1650" b="0">
                <a:solidFill>
                  <a:srgbClr val="20252B"/>
                </a:solidFill>
              </a:defRPr>
            </a:lvl5pPr>
            <a:lvl6pPr>
              <a:defRPr sz="1650" b="0">
                <a:solidFill>
                  <a:srgbClr val="20252B"/>
                </a:solidFill>
              </a:defRPr>
            </a:lvl6pPr>
            <a:lvl7pPr>
              <a:defRPr sz="1650" b="0">
                <a:solidFill>
                  <a:srgbClr val="20252B"/>
                </a:solidFill>
              </a:defRPr>
            </a:lvl7pPr>
            <a:lvl8pPr>
              <a:defRPr sz="1650" b="0">
                <a:solidFill>
                  <a:srgbClr val="20252B"/>
                </a:solidFill>
              </a:defRPr>
            </a:lvl8pPr>
            <a:lvl9pPr>
              <a:defRPr sz="1650" b="0">
                <a:solidFill>
                  <a:srgbClr val="20252B"/>
                </a:solidFill>
              </a:defRPr>
            </a:lvl9pPr>
          </a:lstStyle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游戏试玩、主题专场</a:t>
            </a:r>
          </a:p>
          <a:p>
            <a:pPr>
              <a:defRPr sz="1650" b="0">
                <a:solidFill>
                  <a:srgbClr val="20252B"/>
                </a:solidFill>
              </a:defRPr>
            </a:pPr>
            <a:r>
              <a:rPr sz="1650" b="0">
                <a:solidFill>
                  <a:srgbClr val="20252B"/>
                </a:solidFill>
              </a:rPr>
              <a:t>与品牌赞助</a:t>
            </a:r>
          </a:p>
        </p:txBody>
      </p:sp>
      <p:sp>
        <p:nvSpPr>
          <p:cNvPr id="127" name="priority-line">
            <a:extLst>
              <a:ext uri="{FF2B5EF4-FFF2-40B4-BE49-F238E27FC236}">
                <a16:creationId xmlns:a16="http://schemas.microsoft.com/office/drawing/2014/main" id="{5A8A9E52-382D-4E88-BEE9-25466FBBE936}"/>
              </a:ext>
            </a:extLst>
          </p:cNvPr>
          <p:cNvSpPr>
            <a:spLocks noGrp="1"/>
          </p:cNvSpPr>
          <p:nvPr/>
        </p:nvSpPr>
        <p:spPr>
          <a:xfrm>
            <a:off x="552450" y="5160307"/>
            <a:ext cx="10934700" cy="0"/>
          </a:xfrm>
          <a:prstGeom prst="line">
            <a:avLst/>
          </a:prstGeom>
          <a:noFill/>
          <a:ln w="9525">
            <a:solidFill>
              <a:srgbClr val="DCE2EC"/>
            </a:solidFill>
          </a:ln>
        </p:spPr>
      </p:sp>
      <p:sp>
        <p:nvSpPr>
          <p:cNvPr id="132" name="footer">
            <a:extLst>
              <a:ext uri="{FF2B5EF4-FFF2-40B4-BE49-F238E27FC236}">
                <a16:creationId xmlns:a16="http://schemas.microsoft.com/office/drawing/2014/main" id="{72A632AD-21CE-44EA-9451-ACA15426E31A}"/>
              </a:ext>
            </a:extLst>
          </p:cNvPr>
          <p:cNvSpPr>
            <a:spLocks noGrp="1"/>
          </p:cNvSpPr>
          <p:nvPr/>
        </p:nvSpPr>
        <p:spPr>
          <a:xfrm>
            <a:off x="552450" y="6448425"/>
            <a:ext cx="9906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900" b="0">
                <a:solidFill>
                  <a:srgbClr val="7F8899"/>
                </a:solidFill>
              </a:defRPr>
            </a:defPPr>
            <a:lvl1pPr>
              <a:defRPr sz="900" b="0">
                <a:solidFill>
                  <a:srgbClr val="7F8899"/>
                </a:solidFill>
              </a:defRPr>
            </a:lvl1pPr>
            <a:lvl2pPr>
              <a:defRPr sz="900" b="0">
                <a:solidFill>
                  <a:srgbClr val="7F8899"/>
                </a:solidFill>
              </a:defRPr>
            </a:lvl2pPr>
            <a:lvl3pPr>
              <a:defRPr sz="900" b="0">
                <a:solidFill>
                  <a:srgbClr val="7F8899"/>
                </a:solidFill>
              </a:defRPr>
            </a:lvl3pPr>
            <a:lvl4pPr>
              <a:defRPr sz="900" b="0">
                <a:solidFill>
                  <a:srgbClr val="7F8899"/>
                </a:solidFill>
              </a:defRPr>
            </a:lvl4pPr>
            <a:lvl5pPr>
              <a:defRPr sz="900" b="0">
                <a:solidFill>
                  <a:srgbClr val="7F8899"/>
                </a:solidFill>
              </a:defRPr>
            </a:lvl5pPr>
            <a:lvl6pPr>
              <a:defRPr sz="900" b="0">
                <a:solidFill>
                  <a:srgbClr val="7F8899"/>
                </a:solidFill>
              </a:defRPr>
            </a:lvl6pPr>
            <a:lvl7pPr>
              <a:defRPr sz="900" b="0">
                <a:solidFill>
                  <a:srgbClr val="7F8899"/>
                </a:solidFill>
              </a:defRPr>
            </a:lvl7pPr>
            <a:lvl8pPr>
              <a:defRPr sz="900" b="0">
                <a:solidFill>
                  <a:srgbClr val="7F8899"/>
                </a:solidFill>
              </a:defRPr>
            </a:lvl8pPr>
            <a:lvl9pPr>
              <a:defRPr sz="900" b="0">
                <a:solidFill>
                  <a:srgbClr val="7F8899"/>
                </a:solidFill>
              </a:defRPr>
            </a:lvl9pPr>
          </a:lstStyle>
          <a:p>
            <a:pPr>
              <a:defRPr sz="900" b="0">
                <a:solidFill>
                  <a:srgbClr val="7F8899"/>
                </a:solidFill>
              </a:defRPr>
            </a:pPr>
            <a:r>
              <a:rPr sz="900" b="0">
                <a:solidFill>
                  <a:srgbClr val="7F8899"/>
                </a:solidFill>
              </a:rPr>
              <a:t>收入路径规划；会员权益、周边交付及商务合作随实际运营落实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市场战略规划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首阶段申请 4.62 </a:t>
            </a:r>
            <a:r>
              <a:rPr lang="en-US" sz="3200" b="1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万元</a:t>
            </a:r>
            <a:r>
              <a:rPr lang="zh-CN" altLang="en-US" sz="3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en-US" sz="3200" b="1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完成形象、试播与观众验证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2595637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2459D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2595637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人机节目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148840" y="2092717"/>
            <a:ext cx="1463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8840" y="2165869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B站直播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253162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横屏 · 连载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flipV="1">
            <a:off x="1801368" y="2495053"/>
            <a:ext cx="320040" cy="484632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639312" y="2495053"/>
            <a:ext cx="310896" cy="484632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48840" y="3007117"/>
            <a:ext cx="14630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48840" y="3080269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抖音直播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3446029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竖屏 · 快速情境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801368" y="2979685"/>
            <a:ext cx="320040" cy="429768"/>
          </a:xfrm>
          <a:prstGeom prst="line">
            <a:avLst/>
          </a:prstGeom>
          <a:noFill/>
          <a:ln w="19050">
            <a:solidFill>
              <a:srgbClr val="2459D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 flipV="1">
            <a:off x="3639312" y="2979685"/>
            <a:ext cx="310896" cy="429768"/>
          </a:xfrm>
          <a:prstGeom prst="line">
            <a:avLst/>
          </a:prstGeom>
          <a:noFill/>
          <a:ln w="19050">
            <a:solidFill>
              <a:srgbClr val="8A909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977640" y="2458477"/>
            <a:ext cx="114300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069080" y="2458477"/>
            <a:ext cx="960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切片与社群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 4–5 </a:t>
            </a:r>
            <a:r>
              <a:rPr lang="en-US" sz="1300" dirty="0" err="1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条回流直播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 flipV="1">
            <a:off x="4549140" y="2138437"/>
            <a:ext cx="0" cy="320040"/>
          </a:xfrm>
          <a:prstGeom prst="line">
            <a:avLst/>
          </a:prstGeom>
          <a:noFill/>
          <a:ln w="19050">
            <a:solidFill>
              <a:srgbClr val="2459D6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 flipH="1">
            <a:off x="3657600" y="2138437"/>
            <a:ext cx="891540" cy="137160"/>
          </a:xfrm>
          <a:prstGeom prst="line">
            <a:avLst/>
          </a:prstGeom>
          <a:noFill/>
          <a:ln w="19050">
            <a:solidFill>
              <a:srgbClr val="2459D6"/>
            </a:solidFill>
            <a:prstDash val="dash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5532120" y="1654681"/>
            <a:ext cx="29183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22225">
            <a:solidFill>
              <a:srgbClr val="2459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33288" y="1791841"/>
            <a:ext cx="2552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首阶段 · 1–6 月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5733288" y="2203321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733288" y="2203321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本次申请覆盖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733288" y="2587369"/>
            <a:ext cx="25525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形象交付 → </a:t>
            </a:r>
            <a:r>
              <a:rPr lang="en-US" sz="1400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内部试播与接梗测试</a:t>
            </a: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观众验证 → 双平台开播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724748" y="1654681"/>
            <a:ext cx="291830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5875">
            <a:solidFill>
              <a:srgbClr val="8A909C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8925916" y="1791841"/>
            <a:ext cx="2552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下半年 · 7–12 月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8925916" y="2203321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925916" y="2203321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依靠到账收入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925916" y="2587369"/>
            <a:ext cx="25525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固定栏目 → </a:t>
            </a:r>
            <a:r>
              <a:rPr lang="en-US" sz="1400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会员测试</a:t>
            </a: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小批量周边 → 品牌样例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2185787" y="42327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5B62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首阶段申请支持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1753233" y="455283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46,200</a:t>
            </a:r>
            <a:r>
              <a:rPr lang="en-US" sz="2000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元</a:t>
            </a:r>
            <a:endParaRPr lang="en-US" sz="5400" dirty="0"/>
          </a:p>
        </p:txBody>
      </p:sp>
      <p:sp>
        <p:nvSpPr>
          <p:cNvPr id="35" name="Text 32"/>
          <p:cNvSpPr txBox="1"/>
          <p:nvPr/>
        </p:nvSpPr>
        <p:spPr>
          <a:xfrm>
            <a:off x="5532120" y="3630498"/>
            <a:ext cx="61109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资金用途（元</a:t>
            </a:r>
            <a:r>
              <a:rPr lang="en-US" sz="16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</a:t>
            </a:r>
            <a:endParaRPr lang="en-US" sz="1600" dirty="0"/>
          </a:p>
        </p:txBody>
      </p:sp>
      <p:graphicFrame>
        <p:nvGraphicFramePr>
          <p:cNvPr id="36" name="首阶段资金用途条形图"/>
          <p:cNvGraphicFramePr/>
          <p:nvPr>
            <p:extLst>
              <p:ext uri="{D42A27DB-BD31-4B8C-83A1-F6EECF244321}">
                <p14:modId xmlns:p14="http://schemas.microsoft.com/office/powerpoint/2010/main" val="1269860808"/>
              </p:ext>
            </p:extLst>
          </p:nvPr>
        </p:nvGraphicFramePr>
        <p:xfrm>
          <a:off x="5532120" y="3904818"/>
          <a:ext cx="6110935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7" name="Shape 33"/>
          <p:cNvSpPr/>
          <p:nvPr/>
        </p:nvSpPr>
        <p:spPr>
          <a:xfrm>
            <a:off x="548640" y="6382512"/>
            <a:ext cx="11094415" cy="0"/>
          </a:xfrm>
          <a:prstGeom prst="line">
            <a:avLst/>
          </a:prstGeom>
          <a:noFill/>
          <a:ln w="9525">
            <a:solidFill>
              <a:srgbClr val="D5D9E0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548640" y="6437376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</a:t>
            </a: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[S8] </a:t>
            </a:r>
            <a:r>
              <a:rPr lang="en-US" sz="1100" u="sng" dirty="0" err="1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抖音开放平台直播</a:t>
            </a:r>
            <a:r>
              <a:rPr lang="en-US" sz="1100" u="sng" dirty="0">
                <a:solidFill>
                  <a:srgbClr val="2459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SDK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10545775" y="64373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F23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r>
              <a:rPr lang="en-US" sz="1200" dirty="0">
                <a:solidFill>
                  <a:srgbClr val="8A909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11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05 商业模式 · 获客与回访</a:t>
            </a:r>
            <a:endParaRPr sz="13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16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获客与回访：B站、抖音双主阵地，投入各半</a:t>
            </a:r>
            <a:endParaRPr sz="30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B站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主阵地</a:t>
            </a:r>
            <a:endParaRPr sz="11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97480" y="146304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横屏直播 + 连载，承接追更与社群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53288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抖音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7240" y="292608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459D6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主阵地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97480" y="242316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竖屏直播 + 切片，吸引新观众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349300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切片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77240" y="388620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计划每周 4–5 条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97480" y="338328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保留抛梗、回应与结局，导流到直播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48640" y="4343400"/>
            <a:ext cx="5760720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社群</a:t>
            </a:r>
            <a:endParaRPr sz="1900" b="1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77240" y="4846320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16002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粉丝群 / 动态</a:t>
            </a:r>
            <a:endParaRPr sz="11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97480" y="4343400"/>
            <a:ext cx="342900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预告下一场，提醒回收约定</a:t>
            </a:r>
            <a:endParaRPr sz="1500" b="0">
              <a:solidFill>
                <a:srgbClr val="1F2329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0840" y="1463040"/>
            <a:ext cx="49194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切片到回访的漏斗（计划指标）</a:t>
            </a:r>
            <a:endParaRPr sz="1500" b="1">
              <a:solidFill>
                <a:srgbClr val="2459D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720840" y="1874519"/>
            <a:ext cx="4919472" cy="512064"/>
          </a:xfrm>
          <a:prstGeom prst="roundRect">
            <a:avLst>
              <a:gd name="adj" fmla="val 1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720840" y="1874519"/>
            <a:ext cx="491947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切片曝光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972300" y="2478024"/>
            <a:ext cx="4416552" cy="512064"/>
          </a:xfrm>
          <a:prstGeom prst="roundRect">
            <a:avLst>
              <a:gd name="adj" fmla="val 10000"/>
            </a:avLst>
          </a:prstGeom>
          <a:solidFill>
            <a:srgbClr val="DC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972300" y="2478024"/>
            <a:ext cx="441655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有效观看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223759" y="3081528"/>
            <a:ext cx="3913632" cy="512064"/>
          </a:xfrm>
          <a:prstGeom prst="roundRect">
            <a:avLst>
              <a:gd name="adj" fmla="val 10000"/>
            </a:avLst>
          </a:prstGeom>
          <a:solidFill>
            <a:srgbClr val="EA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223759" y="3081528"/>
            <a:ext cx="391363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关注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475220" y="3685031"/>
            <a:ext cx="3410712" cy="512064"/>
          </a:xfrm>
          <a:prstGeom prst="roundRect">
            <a:avLst>
              <a:gd name="adj" fmla="val 10000"/>
            </a:avLst>
          </a:prstGeom>
          <a:solidFill>
            <a:srgbClr val="DCE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75220" y="3685031"/>
            <a:ext cx="341071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直播到访</a:t>
            </a:r>
            <a:endParaRPr sz="12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26679" y="4288536"/>
            <a:ext cx="2907792" cy="512064"/>
          </a:xfrm>
          <a:prstGeom prst="roundRect">
            <a:avLst>
              <a:gd name="adj" fmla="val 10000"/>
            </a:avLst>
          </a:prstGeom>
          <a:solidFill>
            <a:srgbClr val="245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26679" y="4288536"/>
            <a:ext cx="290779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下一场回访</a:t>
            </a:r>
            <a:endParaRPr sz="1200" b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4406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2459D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已有结果  </a:t>
            </a:r>
            <a:r>
              <a:rPr sz="1400" b="0">
                <a:solidFill>
                  <a:srgbClr val="1F2329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尚无公开运营数据。</a:t>
            </a:r>
            <a:r>
              <a:rPr sz="1400" b="0">
                <a:solidFill>
                  <a:srgbClr val="5B62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B站与抖音按各半精力经营，每周 4–5 条切片为计划；同期同口径统计单条曝光、有效播放、关注与可追踪的直播到访，不用总播放替代回访。</a:t>
            </a:r>
            <a:endParaRPr sz="1400" b="0">
              <a:solidFill>
                <a:srgbClr val="5B62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382512"/>
            <a:ext cx="11091672" cy="0"/>
          </a:xfrm>
          <a:prstGeom prst="line">
            <a:avLst/>
          </a:prstGeom>
          <a:ln w="9525">
            <a:solidFill>
              <a:srgbClr val="D5D9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37376"/>
            <a:ext cx="9875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8A909C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依据：商业计划书第 17–18 页（双平台直播方案）；1025 稿第 10 页渠道图；评审方案（2026-10-24）</a:t>
            </a:r>
            <a:endParaRPr sz="1100" b="0">
              <a:solidFill>
                <a:srgbClr val="8A909C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3159</Words>
  <Application>Microsoft Office PowerPoint</Application>
  <PresentationFormat>宽屏</PresentationFormat>
  <Paragraphs>251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潮生智能 · 姬岁歌人机共同直播（改稿v2）</dc:title>
  <dc:subject>PptxGenJS Presentation</dc:subject>
  <dc:creator>PptxGenJS</dc:creator>
  <cp:lastModifiedBy>若朝 杨</cp:lastModifiedBy>
  <cp:revision>7</cp:revision>
  <dcterms:created xsi:type="dcterms:W3CDTF">2026-10-24T14:05:55Z</dcterms:created>
  <dcterms:modified xsi:type="dcterms:W3CDTF">2026-10-24T19:02:45Z</dcterms:modified>
</cp:coreProperties>
</file>