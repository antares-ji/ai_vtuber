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68" r:id="rId5"/>
    <p:sldId id="257" r:id="rId6"/>
    <p:sldId id="258" r:id="rId7"/>
    <p:sldId id="259" r:id="rId8"/>
    <p:sldId id="260" r:id="rId9"/>
    <p:sldId id="269" r:id="rId10"/>
    <p:sldId id="261" r:id="rId11"/>
    <p:sldId id="270" r:id="rId12"/>
    <p:sldId id="267" r:id="rId13"/>
    <p:sldId id="271" r:id="rId14"/>
    <p:sldId id="264" r:id="rId15"/>
    <p:sldId id="265" r:id="rId16"/>
    <p:sldId id="272" r:id="rId17"/>
    <p:sldId id="266" r:id="rId18"/>
    <p:sldId id="273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1" d="100"/>
          <a:sy n="71" d="100"/>
        </p:scale>
        <p:origin x="48" y="4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金额</c:v>
                </c:pt>
              </c:strCache>
            </c:strRef>
          </c:tx>
          <c:spPr>
            <a:solidFill>
              <a:srgbClr val="2459D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1F2329"/>
                    </a:solidFill>
                    <a:latin typeface="Microsoft YaHei" panose="020B0503020204020204" pitchFamily="34" charset="-122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Sheet1!$A$2:$A$9</c:f>
              <c:strCache>
                <c:ptCount val="8"/>
                <c:pt idx="0">
                  <c:v>活动杂费</c:v>
                </c:pt>
                <c:pt idx="1">
                  <c:v>推广测试</c:v>
                </c:pt>
                <c:pt idx="2">
                  <c:v>剪辑补贴</c:v>
                </c:pt>
                <c:pt idx="3">
                  <c:v>开发工具</c:v>
                </c:pt>
                <c:pt idx="4">
                  <c:v>预备金</c:v>
                </c:pt>
                <c:pt idx="5">
                  <c:v>原画</c:v>
                </c:pt>
                <c:pt idx="6">
                  <c:v>语音云服务</c:v>
                </c:pt>
                <c:pt idx="7">
                  <c:v>Live2D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2000</c:v>
                </c:pt>
                <c:pt idx="1">
                  <c:v>3000</c:v>
                </c:pt>
                <c:pt idx="2">
                  <c:v>3000</c:v>
                </c:pt>
                <c:pt idx="3">
                  <c:v>3000</c:v>
                </c:pt>
                <c:pt idx="4">
                  <c:v>4200</c:v>
                </c:pt>
                <c:pt idx="5">
                  <c:v>8000</c:v>
                </c:pt>
                <c:pt idx="6">
                  <c:v>9000</c:v>
                </c:pt>
                <c:pt idx="7">
                  <c:v>14000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rgbClr val="1F2329"/>
                </a:solidFill>
                <a:latin typeface="Microsoft YaHei" panose="020B0503020204020204" pitchFamily="34" charset="-122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tickLblSkip val="1"/>
        <c:noMultiLvlLbl val="1"/>
      </c:catAx>
      <c:valAx>
        <c:axId val="2094734552"/>
        <c:scaling>
          <c:orientation val="minMax"/>
          <c:max val="1700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【增补修改版 · 讲述重点】</a:t>
            </a:r>
          </a:p>
          <a:p>
            <a:r>
              <a:t>· 一句话定位：姬岁歌是面向中文游戏观众的人机共播虚拟角色项目——主持人设局造梗，AI 以岁、歌两种性格接梗，围绕游戏与弹幕形成节目。</a:t>
            </a:r>
          </a:p>
          <a:p>
            <a:r>
              <a:t>· 当前阶段如实说明：原型开发阶段，内部试播与观众验证尚未开展；角色形象定稿中，原画与 Live2D 计划 2026 年 11 月底交付。</a:t>
            </a:r>
          </a:p>
          <a:p>
            <a:r>
              <a:t>· 右侧为角色概念图主立绘（原图细节拼图通过裁切隐藏，可在 PowerPoint 中重置裁切恢复），不是 Live2D 运行画面。</a:t>
            </a:r>
          </a:p>
          <a:p>
            <a:r>
              <a:t>· 承接：下一页用一页摘要回答“做什么、给谁看、做到哪、要多少钱换什么”。</a:t>
            </a:r>
          </a:p>
          <a:p/>
          <a:p>
            <a:r>
              <a:t>【原备注（保留；其中财务测算等历史版本内容按标注理解）】</a:t>
            </a:r>
          </a:p>
          <a:p>
            <a:r>
              <a:t>【本页讲述要点】</a:t>
            </a:r>
          </a:p>
          <a:p>
            <a:r>
              <a:t>· 潮生智能团队，项目是原创角色“姬岁歌”的人机共同直播。</a:t>
            </a:r>
          </a:p>
          <a:p>
            <a:r>
              <a:t>· 一句话：主持人主动设局造梗，AI 以岁、歌两种稳定性格接梗，围绕游戏和弹幕形成真实互动，再用直播、切片和连续剧情吸引观众回访。</a:t>
            </a:r>
          </a:p>
          <a:p/>
          <a:p>
            <a:r>
              <a:t>【假设与能力边界】</a:t>
            </a:r>
          </a:p>
          <a:p>
            <a:r>
              <a:t>· 右侧为角色概念图，版权归团队所有，正在生成定稿；原画与 Live2D 计划 11 月底交付。</a:t>
            </a:r>
          </a:p>
          <a:p/>
          <a:p>
            <a:r>
              <a:t>【来源】</a:t>
            </a:r>
          </a:p>
          <a:p>
            <a:r>
              <a:t>· 商业计划书封面与项目摘要（2026-10-24 人机共播修订版）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【讲述重点】</a:t>
            </a:r>
          </a:p>
          <a:p>
            <a:r>
              <a:t>· 这一页回答评委最先关心的四件事：做什么、给谁看、现在做到哪、这笔钱换什么。</a:t>
            </a:r>
          </a:p>
          <a:p>
            <a:r>
              <a:t>· 主次关系：商业计划书以“主持人 + AI 共播”为主线；1025 稿还展示了 AI 自主直播。现有材料没有明确 AI 自主直播在首阶段的定位（独立时段或技术演示），页面标为“首阶段验证方向待确认”，需团队决定后改写。</a:t>
            </a:r>
          </a:p>
          <a:p>
            <a:r>
              <a:t>· 进展只列有记录的事实：Flappy Bird 独立验收（种子 30000–30099，100/100 局达到 1,000 分、零碰撞，来源 docs/demo-summary-20261018.md）；STS2 2026-10-20 快照 18 次成功动作、0 次工具错误（output/sts2/streamer-acceptance.json）；Minecraft 有采木、木剑等实机记录，但建家闭环未完成。Flappy Bird 尚未与主播语音完整集成。</a:t>
            </a:r>
          </a:p>
          <a:p>
            <a:r>
              <a:t>· 5 名路人反馈为口头初步反馈，没有书面记录前不扩大结论。</a:t>
            </a:r>
          </a:p>
          <a:p>
            <a:r>
              <a:t>· 申请额 46,200 元为团队测算（详见第 15、16 页），支持性质待确认，不含团队工资、税费和设备采购。</a:t>
            </a:r>
          </a:p>
          <a:p>
            <a:r>
              <a:t>【承接】下一页目录。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【增补修改版 · 讲述重点】</a:t>
            </a:r>
          </a:p>
          <a:p>
            <a:r>
              <a:t>· 目录按六个模块归组，页码与本文件一致：项目摘要 02；项目背景 04；市场与竞品 05；产品介绍 06–11（AI 自主直播、MVP 完成度、人机共播、观众验证、技术与角色资产、关键技术问题）；团队 12；商业模式与获客 13–14；市场战略、资金与里程碑 15–16。</a:t>
            </a:r>
          </a:p>
          <a:p>
            <a:r>
              <a:t>· 现场时间紧时，可直接跳过本页。</a:t>
            </a:r>
          </a:p>
          <a:p/>
          <a:p>
            <a:r>
              <a:t>【原备注（保留；其中财务测算等历史版本内容按标注理解）】</a:t>
            </a:r>
          </a:p>
          <a:p>
            <a:r>
              <a:t>【本页讲述要点】</a:t>
            </a:r>
          </a:p>
          <a:p>
            <a:r>
              <a:t>· 汇报按商业计划书的六个模块展开：项目背景、市场与竞品、产品（4 页）、团队、商业模式、市场战略。</a:t>
            </a:r>
          </a:p>
          <a:p>
            <a:r>
              <a:t>· 每个模块右侧是这一部分的结论，读完目录就知道整份提案要说什么。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【增补修改版 · 讲述重点】</a:t>
            </a:r>
          </a:p>
          <a:p>
            <a:r>
              <a:t>· 标题改为观众视角：首批观众为何观看并回访。目标观众改为可识别的观看习惯：已有 VUP 观看习惯、爱看游戏挑战与搭档互动、愿意追看角色连续事件。年龄、平台偏好和付费经历需访谈补充，未自行编写。</a:t>
            </a:r>
          </a:p>
          <a:p>
            <a:r>
              <a:t>· 原稿“吸引观众、提升热度”改为待观测行为：是否看完片段、是否主动互动、是否自愿回到下一场、能否记住角色和事件。</a:t>
            </a:r>
          </a:p>
          <a:p>
            <a:r>
              <a:t>· 右下示例为节目设计，不是真实节目记录；“人化”含义见原备注（可识别的性格、表达与连续经历，不宣称真实情感）。原“人机分工”信息并入循环图的“主持人设局造梗 / AI 角色回应”。</a:t>
            </a:r>
          </a:p>
          <a:p>
            <a:r>
              <a:t>· 5 名路人反馈仅作初步定性接触，招募渠道、观看材料和具体意见待补（见素材清单）。</a:t>
            </a:r>
          </a:p>
          <a:p>
            <a:r>
              <a:t>【承接】下一页说明这群观众的已有习惯与竞争选择。</a:t>
            </a:r>
          </a:p>
          <a:p/>
          <a:p>
            <a:r>
              <a:t>【原备注（保留；其中财务测算等历史版本内容按标注理解）】</a:t>
            </a:r>
          </a:p>
          <a:p>
            <a:r>
              <a:t>【本页讲述要点】</a:t>
            </a:r>
          </a:p>
          <a:p>
            <a:r>
              <a:t>· 问题：AI 能回答问题之后，难的是持续做出值得看、值得分享、能按期交付的节目。</a:t>
            </a:r>
          </a:p>
          <a:p>
            <a:r>
              <a:t>· 我们的回答是人机共播：主持人设局、追问并给出真实反应；AI 以稳定角色回应，并在游戏里做出不同于搭档预期的选择。</a:t>
            </a:r>
          </a:p>
          <a:p>
            <a:r>
              <a:t>· 四步构成一场节目，结果留到下一场回收，这是观众回访的理由。</a:t>
            </a:r>
          </a:p>
          <a:p>
            <a:r>
              <a:t>· 目标观众：喜欢 VTuber、爱看整活与联动的中文观众；已有 5 名这类路人观众的初步反馈。</a:t>
            </a:r>
          </a:p>
          <a:p/>
          <a:p>
            <a:r>
              <a:t>【补充说明】</a:t>
            </a:r>
          </a:p>
          <a:p>
            <a:r>
              <a:t>· 首批服务两类观众：愿意持续追看角色与搭档关系的人；先被游戏反转和 AI 意外反应吸引的人。</a:t>
            </a:r>
          </a:p>
          <a:p>
            <a:r>
              <a:t>· 中文接梗需要持续本地化：一个梗同时依赖谐音、弹幕上下文、游戏局势、搭档关系和说话时机；主持人主动造梗为 AI 提供可理解的现场条件。</a:t>
            </a:r>
          </a:p>
          <a:p/>
          <a:p>
            <a:r>
              <a:t>【假设与能力边界】</a:t>
            </a:r>
          </a:p>
          <a:p>
            <a:r>
              <a:t>· “人化”指可识别的性格、表达和连续经历；AI 情绪属于角色表达，不宣称拥有真实情感。</a:t>
            </a:r>
          </a:p>
          <a:p>
            <a:r>
              <a:t>· 5 名路人观众为小样本定性反馈，与熟人前测类似，不是正式验证；正式验证计划扩大到 30 名成年受试者。</a:t>
            </a:r>
          </a:p>
          <a:p/>
          <a:p>
            <a:r>
              <a:t>【来源】</a:t>
            </a:r>
          </a:p>
          <a:p>
            <a:r>
              <a:t>· 商业计划书第 3–4 页</a:t>
            </a:r>
          </a:p>
          <a:p>
            <a:r>
              <a:t>· 5 名路人观众初步反馈：团队记录（用户提供，2026-10）</a:t>
            </a:r>
          </a:p>
          <a:p/>
          <a:p>
            <a:r>
              <a:t>【待确认事项】</a:t>
            </a:r>
          </a:p>
          <a:p>
            <a:r>
              <a:t>· 5 名路人反馈的书面记录（时间、渠道、主要反馈）。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【增补修改版 · 讲述重点】</a:t>
            </a:r>
          </a:p>
          <a:p>
            <a:r>
              <a:t>· 左侧两项比例保留原样本说明：43.5% 为“在 B站浏览 VUP 直播或录播内容”、18.5% 为“曾为 VUP 打赏或充电”，均为 2025 年 CTR B站年轻人调研 N=4,056 的受访样本比例。两项是不同问题，不相乘、不相除，不乘平台月活外推人数，也不称为 AI 主播专属需求。</a:t>
            </a:r>
          </a:p>
          <a:p>
            <a:r>
              <a:t>· 四类对象分组：Neuro-sama、Lumi/Nox 为直接竞争（运营中的 AI 主播）；AI-Vtuber、吟美为开源技术底座（工具，不是运营角色）；传统 VUP 与 AI 偶像为替代内容（争夺同一批观众时间）。</a:t>
            </a:r>
          </a:p>
          <a:p>
            <a:r>
              <a:t>· 统一用“观众看点 / 姬岁歌拟差异”比较。原稿“基于庞大知识库的 AI 自主回应”缺乏区分度，改为“游戏中的即时选择与下场回收（待验证）”。</a:t>
            </a:r>
          </a:p>
          <a:p>
            <a:r>
              <a:t>· 页面上的竞品看点来自对方官网或创作者 README 的公开描述，不是对其运行效果的独立测试。</a:t>
            </a:r>
          </a:p>
          <a:p>
            <a:r>
              <a:t>【承接】下一页进入产品：先看 AI 自主直播的两个节目场景。</a:t>
            </a:r>
          </a:p>
          <a:p/>
          <a:p>
            <a:r>
              <a:t>【原备注（保留；其中财务测算等历史版本内容按标注理解）】</a:t>
            </a:r>
          </a:p>
          <a:p>
            <a:r>
              <a:t>【M1 数据来源】CTR × 哔哩哔哩《BILIBILI 2026年轻人消费趋势报告》，2026-01-13发布。官方发布：https://www.ctrchina.cn/rich/report/802 。原报告 PDF：https://pdf.dfcfw.com/pdf/H3_AP202601201818132804_1.pdf?1768906405000.pdf= 。已下载并逐项查看 PDF第21页（印刷页码20）的图表。数据来自2025年CTR B站年轻人调研，N=4056。43.5%对应“在B站浏览的虚拟内容类型：虚拟UP主(VUP)直播或录播内容”；18.5%对应“在B站付费过的虚拟商品/服务：为虚拟UP主/VUP打赏或充电”。二者是不同问题的样本占比，不能相乘或相除来估算转化率，不能乘平台MAU外推人数；该报告也未将真人驱动与AI驱动VUP分开，因此页面用VUP表述，不将该比例称为纯传统VUP观众占比。</a:t>
            </a:r>
          </a:p>
          <a:p>
            <a:r>
              <a:t>【目标人群判断】优先争取喜欢虚拟角色、游戏互动和连续内容的已有VUP观众，是姬岁歌的市场选择。没有数据证明传统VUP粉丝中大部分会转向姬岁歌；实际转化、回访和付费仍待试播验证。</a:t>
            </a:r>
          </a:p>
          <a:p>
            <a:r>
              <a:t>【M2 国内直接案例】Lumi / Nox 创作者官方仓库 https://github.com/MIO-456/Lumi_Nox ，README明确介绍B站双AI日常直播，包含双角色对话、弹幕互动、游戏和跨场观众记忆。核对2026-10-25。可以确认该细分方向已有运营者；未获得全站名册，不能计算国内AI主播总量、占比或竞争集中度。</a:t>
            </a:r>
          </a:p>
          <a:p>
            <a:r>
              <a:t>【M3 开源工具与进入压力】Ikaros-521/AI-Vtuber：https://github.com/Ikaros-521/AI-Vtuber ，支持Bilibili等平台实时互动；AI吟美：https://github.com/worm128/AI-YinMei ，面向直播、角色互动与桌宠。核对2026-10-25。工具公开降低技术接入门槛是基于产品能力的竞争推断，不代表每个下载者或仓库分支都经营着一个主播IP。表格中基础能力更易复制是分析判断。</a:t>
            </a:r>
          </a:p>
          <a:p>
            <a:r>
              <a:t>【M4 广义内容竞争】B站官方Z指数“热点漫步”目录在2026-07-21刊出《AI偶像出道季登陆B站，拆解AI内容的破圈密码》，描述官方PUGV活动、人格与故事内容：https://trends.bilibili.com/market_insight/list?category=%E7%83%AD%E7%82%B9%E6%BC%AB%E6%AD%A5 。检索索引可读，当前页面依赖JavaScript。说明AI角色内容已有平台推动，但AI偶像视频不能计作实时AI直播账号，也不引用未经一级来源核对的“近万创作者、1.6亿浏览”数字。</a:t>
            </a:r>
          </a:p>
          <a:p>
            <a:r>
              <a:t>【竞争结论的边界】国内AI直播案例、开源底座和AI偶像内容均能找到证据；没有同口径、现时的传统VUP与持续开播AI主播全量统计，故不写“国内AI主播仅X家”“竞争压力小”“大部分传统粉丝可转化”。整体注意力竞争仍包括成熟VUP。Lumi/Nox也使用中文，不能把中文能力视为独有。</a:t>
            </a:r>
          </a:p>
          <a:p>
            <a:r>
              <a:t>【研究补充】WWW2025论文 Virtual Stars, Real Fans 作者版：https://tysong.github.io/files/WWW25.pdf 。历史采样覆盖2022-06至2023-08的4900名VUP以及21000名其他主播；这些是研究样本，不能直接写成2026年现时主播总量。论文的60.8万会员记录、33.7万用户不用于本页推算市场人数。</a:t>
            </a:r>
          </a:p>
          <a:p>
            <a:r>
              <a:t>【本页结构】按用户最后明确的文字要求：上方保留标题“面向虚拟主播存量受众提供情绪价值”，左侧上下排列43.5%与18.5%两项数据，右侧以1、2、3、4四格呈现竞争层次、代表项目及姬岁歌的差异。原右侧Neuro-sama并入四格，移除其他重复定位框。</a:t>
            </a:r>
          </a:p>
          <a:p>
            <a:r>
              <a:t>【四格差异是定位与设计】海外Neuro-sama：姬岁歌计划聚焦中文热梗与国内晚间共播；国内Lumi/Nox：真人搭档组织节目与同体双人格为姬岁歌的节目设计；开源工具：区分提供通用底座和自营角色、持续节目；传统VUP及AI偶像：突出AI自主回应和共同游戏经历。以上不是同口径实验验证的领先结论，也不声称竞品没有这些功能。</a:t>
            </a:r>
          </a:p>
          <a:p>
            <a:r>
              <a:t>【Neuro来源】官方https://vedal.ai/ 及https://github.com/VedalAI/neuro-sdk ，已在本轮前序调研读取。Neuro和Evil为海外成熟AI角色参照，已有游戏、对话、音乐、视频、商品和社群。中文定位不代表海外竞品在中国没有受众，也不推导国内竞争压力小。</a:t>
            </a:r>
          </a:p>
          <a:p>
            <a:r>
              <a:t>【标题边界】“情绪价值”描述项目希望提供的娱乐、参与感和角色关系价值，未进行临床或心理效果验证，不作真实情感或心理疗效承诺。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【增补修改版 · 讲述重点】</a:t>
            </a:r>
          </a:p>
          <a:p>
            <a:r>
              <a:t>· 两张图保留，均为节目概念示意（AI 生成画面与拟写台词、弹幕），不是实机录屏或真实观众反馈；每张图左上角加了明显标识。</a:t>
            </a:r>
          </a:p>
          <a:p>
            <a:r>
              <a:t>· 每个场景改写为“准备验证的节目看点”：我的世界看突发危险时的即时接梗与选择；杀戮尖塔看出牌决策反差能否引出吐槽和弹幕预测。原底部“观众：弹幕参与与回访”并入页脚说明，作为两场景共同观察项。</a:t>
            </a:r>
          </a:p>
          <a:p>
            <a:r>
              <a:t>· AI 自主直播在首阶段是独立时段还是技术演示，材料未明确，待团队确认。</a:t>
            </a:r>
          </a:p>
          <a:p>
            <a:r>
              <a:t>【承接】下一页展示真正已经跑通的部分和尚待实测的指标。</a:t>
            </a:r>
          </a:p>
          <a:p/>
          <a:p>
            <a:r>
              <a:t>【原备注（保留；其中财务测算等历史版本内容按标注理解）】</a:t>
            </a:r>
          </a:p>
          <a:p>
            <a:r>
              <a:t>【讲述】本页为第一种节目方式：AI自主直播。姬岁歌以角色语气进行游戏选择、解说并回应弹幕，画面不表示真人玩家共同参与。</a:t>
            </a:r>
          </a:p>
          <a:p>
            <a:r>
              <a:t>【示意边界】两幅图由Codex内置image_gen生成，人物参考本PPT封面。均为节目效果示意；游戏画面、UI、弹幕与台词均为构造，非实机截图、非真实观众反馈、非Live2D运行成果，不作为工程能力证据。游戏UI与机制细节不保证与原作完全一致。</a:t>
            </a:r>
          </a:p>
          <a:p>
            <a:r>
              <a:t>【我的世界】繁茂洞窟、熔岩窄桥、苦力怕。字幕：这不是怂，是尊重爆炸半径。弹幕：后面！后面！／嘴硬程度：基岩级／她还在讲道理。</a:t>
            </a:r>
          </a:p>
          <a:p>
            <a:r>
              <a:t>【杀戮尖塔】残血抢攻。字幕：防御？把对面打没就不用防了。弹幕：血条：你清高／主打一个不留后路／这把有了（指重开）。本图以经典杀戮尖塔作视觉参照，不冒充杀戮尖塔2的真实运行画面。</a:t>
            </a:r>
          </a:p>
          <a:p>
            <a:r>
              <a:t>【来源】角色来自封面原图。杀戮尖塔官方商店及截图：https://store.steampowered.com/app/646570/Slay_the_Spire/ ，https://shared.akamai.steamstatic.com/store_item_assets/steam/apps/646570/ss_01aa3e7759e457bfbf2422f31c325d7b3ba8a6eb.1920x1080.jpg 。官方媒体包：https://www.megacrit.com/press-kits/slay-the-spire/ 。Minecraft官方繁茂洞窟资料：https://www.minecraft.net/en-us/article/around-block--lush-caves 。核对日期2026-10-25。</a:t>
            </a:r>
          </a:p>
          <a:p>
            <a:r>
              <a:t>【素材】素材/直播效果示意/我的世界-姬岁歌直播示意.png；素材/直播效果示意/杀戮尖塔-姬岁歌直播示意.png。两张图已嵌入PPT。</a:t>
            </a:r>
          </a:p>
          <a:p>
            <a:r>
              <a:t>【范围】产品介绍整合为两页：本页AI自主直播，下一页真人与AI联机共播。两种形式的效果示意均不是完成度证明。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【讲述重点】</a:t>
            </a:r>
          </a:p>
          <a:p>
            <a:r>
              <a:t>· 这一页回答“现在到底做到了什么”。左侧是真实开发版截图（2026-10-14 游戏工作台）：AI 在 Minecraft 里没做成工作台，主动说明缺木板；Live2D 为临时占位模型，不是姬岁歌最终形象，也不是正式直播画面。</a:t>
            </a:r>
          </a:p>
          <a:p>
            <a:r>
              <a:t>· 已完成：Flappy Bird 独立策略验收，种子 30000–30099 共 100 局全部达到 1,000 分、零碰撞；另有单局 10,000 分加速耐久测试。该模块不调用大模型，尚未与主播语音完整集成。STS2 2026-10-20 快照记录 18 次成功动作、0 次工具错误（第 1 幕第 6 层），只是局部链路快照，不是整局或整场直播。</a:t>
            </a:r>
          </a:p>
          <a:p>
            <a:r>
              <a:t>· 联调中：Minecraft 有 DeepSeek / 千问规划 + Mineflayer 执行的实机记录，曾完成采木、木板、木棍、木剑等步骤；生存建家闭环未完成，复杂地形稳定性未充分证明。主播语音、字幕、Live2D 舞台、导演工作台为仓库已有模块，未做端到端重新验收。</a:t>
            </a:r>
          </a:p>
          <a:p>
            <a:r>
              <a:t>· 规划中：人类一败涂地联机控制、双平台真实事件接入（B站适配层目前基于模拟事件）、原创 Live2D 接入。</a:t>
            </a:r>
          </a:p>
          <a:p>
            <a:r>
              <a:t>· 实测字段：任务成功/尝试 18/18 仅指 STS2 快照（successfulActions=18，toolErrors=0）；调用量 57,826 tokens 来自同一快照，费用未折算。连续运行时长、响应耗时、人工接管均无记录，写“待实测”。</a:t>
            </a:r>
          </a:p>
          <a:p>
            <a:r>
              <a:t>【口径】响应耗时定义为“主持人语音输入结束 → 角色首次可听回应”，样本足够后再给 P50/P95。</a:t>
            </a:r>
          </a:p>
          <a:p>
            <a:r>
              <a:t>【承接】下一页回到节目：人机共播怎么设计、怎么实现。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【增补修改版 · 讲述重点】</a:t>
            </a:r>
          </a:p>
          <a:p>
            <a:r>
              <a:t>· 标题改为“节目设计与实现路径”；画面上明确标注节目概念示意、联机能力待开发验证。</a:t>
            </a:r>
          </a:p>
          <a:p>
            <a:r>
              <a:t>· 右侧改为一套可执行的节目结构（示例）：本场挑战、主持人任务、AI 角色任务、观众参与、下场回收。原“共同目标 / 双向互动 / 关系看点”的含义已并入这五项。</a:t>
            </a:r>
          </a:p>
          <a:p>
            <a:r>
              <a:t>· 实现路径：人类一败涂地的 AI 联机、抓取、攀爬尚未实现；更接近可演示的是已接入的 Minecraft，可先在其中验证主持人与 AI 的对话、主持和任务协作，再扩展新游戏。不同游戏的控制能力不能互相证明。</a:t>
            </a:r>
          </a:p>
          <a:p>
            <a:r>
              <a:t>· 人机共播是否比纯 AI 更值得额外人力，需在观众验证中比较（下一页）。</a:t>
            </a:r>
          </a:p>
          <a:p>
            <a:r>
              <a:t>【承接】下一页说明观众验证：已有什么、准备怎么测。</a:t>
            </a:r>
          </a:p>
          <a:p/>
          <a:p>
            <a:r>
              <a:t>【原备注（保留；其中财务测算等历史版本内容按标注理解）】</a:t>
            </a:r>
          </a:p>
          <a:p>
            <a:r>
              <a:t>【讲述】第二种节目方式是真人与AI联机共播。在同一游戏世界中，两名玩家围绕共同目标行动；协作、失误、救场及双向对白形成节目内容。人类一败涂地用于说明这一共播构想。</a:t>
            </a:r>
          </a:p>
          <a:p>
            <a:r>
              <a:t>【情境】真人玩家悬在断崖边，姬岁歌控制的角色抓着他的手，另一只手固定在石栏。游戏内明确标注真人搭档与姬岁歌AI，右下角为封面角色的直播立绘。</a:t>
            </a:r>
          </a:p>
          <a:p>
            <a:r>
              <a:t>【对白】真人：拉我上去，别松手！姬岁歌：你先别指挥，我现在承受着两个人的体重。弹幕：人工智能，人工承重／这次真是队友的重量／救援进度：互相拖累。均为拟写节目文案，不是真实用户反馈。</a:t>
            </a:r>
          </a:p>
          <a:p>
            <a:r>
              <a:t>【来源与生成】封面原画作为角色身份参考；Human Fall Flat 官方Steam商店截图作为游戏视觉参考：https://store.steampowered.com/app/477160/Human_Fall_Flat/?l=schinese 。官方页面介绍多人合作和物理解谜，本次已核对。画面通过Codex内置image_gen生成，图片保存于素材/直播效果示意/人类一败涂地-真人与AI共播示意.png。</a:t>
            </a:r>
          </a:p>
          <a:p>
            <a:r>
              <a:t>【能力边界】本图为节目效果示意，非实机录屏，不代表已实现该游戏的AI联机、抓取、攀爬或救援控制。此前Minecraft模块不能直接证明Human Fall Flat的控制能力。接入与稳定性需要另行开发验证。</a:t>
            </a:r>
          </a:p>
          <a:p>
            <a:r>
              <a:t>【产品介绍结构】两页分别为AI自主直播与真人AI联机共播。原工作台、技术流程、验收清单退出主讲页面，原始材料保留在v6源文件及私有备答摘录中。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【讲述重点】</a:t>
            </a:r>
          </a:p>
          <a:p>
            <a:r>
              <a:t>· 已有：5 名喜欢 VTuber、爱看整活与联动的路人观众的初步口头反馈，团队转述的主要意见是偏好整活与联动内容。没有书面记录，招募渠道、观看材料、具体日期和据此做的修改都待补。只能作为初步定性接触，不扩大结论。</a:t>
            </a:r>
          </a:p>
          <a:p>
            <a:r>
              <a:t>· 计划：30 名成年受试者，按观看习惯分层，随机平衡两段各 6 分钟样片观看顺序。观察观看时长、角色辨识、事件记忆、主动回访、付费意愿。预设门槛来自商业计划书：自由观看中位数 3 分钟、至少 15 人记住角色特点或事件、至少 6 人在 7 天内主动回看满 60 秒；报告保留有效分母、退出、缺失和技术故障。</a:t>
            </a:r>
          </a:p>
          <a:p>
            <a:r>
              <a:t>· 纯 AI 与人机共播的比较为探索性测试，小样本不做因果断言。</a:t>
            </a:r>
          </a:p>
          <a:p>
            <a:r>
              <a:t>· 证据强度：口头意愿 &lt; 真实回访 &lt; 真实付费。不把“愿意买”写成收入或付费转化，不宣称已验证 PMF。</a:t>
            </a:r>
          </a:p>
          <a:p>
            <a:r>
              <a:t>【承接】下一页回到技术方案与角色资产。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【增补修改版 · 讲述重点】</a:t>
            </a:r>
          </a:p>
          <a:p>
            <a:r>
              <a:t>· 技术图与周边图均保留。技术节点按材料标注实现状态：实线框为仓库已有模块（ASR、人格与共同记忆、场景理解与调度、TTS/字幕/Live2D 表达），但本轮未做端到端重新验收；虚线框为联调中或局部验证（弹幕接入目前基于模拟事件；游戏状态与动作在 Minecraft / STS2 有局部实机记录）。整张图仍是方案示意，不是已上线架构。</a:t>
            </a:r>
          </a:p>
          <a:p>
            <a:r>
              <a:t>· 周边继续标注“概念设计，尚未打样”，无供应商报价、售价或销量。</a:t>
            </a:r>
          </a:p>
          <a:p>
            <a:r>
              <a:t>【承接】下一页把关键技术问题拆开：哪些是外部组件，哪些是团队工程，哪些是希望积累的资产。</a:t>
            </a:r>
          </a:p>
          <a:p/>
          <a:p>
            <a:r>
              <a:t>【原备注（保留；其中财务测算等历史版本内容按标注理解）】</a:t>
            </a:r>
          </a:p>
          <a:p>
            <a:r>
              <a:t>【本页定位】用户提出的技术方案示意与文创周边概念设计。架构以合理的数据流组织拟议产品，不是对仓库实际架构的审计结果，不宣称所有链路已上线，不虚构模型性能、延迟、吞吐量或商业成绩。</a:t>
            </a:r>
          </a:p>
          <a:p>
            <a:r>
              <a:t>【技术主线】真人语音经ASR识别，弹幕经过筛选聚合，游戏状态提供场景和任务；结合人格设定与共同记忆构成上下文，进入LLM生成和动作规划；输出一方面交给TTS、字幕、Live2D表达，另一方面交给工具执行游戏动作，执行结果回写状态，重要事件经适当确认后进入记忆。具体实现、模型选型、权限、恢复机制仍需工程验证。</a:t>
            </a:r>
          </a:p>
          <a:p>
            <a:r>
              <a:t>【可编辑性】左侧使用原生PowerPoint节点、文字和连接箭头。图为技术说明，不将旁边周边图片作为数据流的输出节点。</a:t>
            </a:r>
          </a:p>
          <a:p>
            <a:r>
              <a:t>【周边概念】亚克力人物立牌与圆形金属徽章，参考本PPT封面人物形象，由Codex内置image_gen生成。商品未打样或量产，没有实际供应商报价、售价或销量，图片不构成生产验收。</a:t>
            </a:r>
          </a:p>
          <a:p>
            <a:r>
              <a:t>【生成素材】素材/周边概念设计/姬岁歌-立牌与徽章概念.png；生成提示词与素材说明保存于同一文件夹。人物参考为封面原画，未使用外部人物IP。</a:t>
            </a:r>
          </a:p>
          <a:p>
            <a:r>
              <a:t>【讲述建议】先用简短主线解释角色如何接收输入、形成回应并行动，再说明角色形象可以延伸为立牌、徽章等小批量预售概念，与前页直播节目及后页收入模式衔接。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【讲述重点】</a:t>
            </a:r>
          </a:p>
          <a:p>
            <a:r>
              <a:t>· 用“问题 — 实现办法 — 当前证据 — 待解决”拆开四个关键问题：说话时机、游戏执行、跨场记忆、角色一致性。</a:t>
            </a:r>
          </a:p>
          <a:p>
            <a:r>
              <a:t>· 说话时机：SenseVoice 把主持人语音送入上下文，调度决定谁、何时回应；仓库有语音调度代码，但首次可听回应耗时没有实测记录。</a:t>
            </a:r>
          </a:p>
          <a:p>
            <a:r>
              <a:t>· 游戏执行：模型规划后由程序执行并读取结果，口播按准备、尝试、完成区分，避免把计划说成成果。证据为 STS2 2026-10-20 快照与 Minecraft 实机记录；长任务稳定性与建家闭环未完成。</a:t>
            </a:r>
          </a:p>
          <a:p>
            <a:r>
              <a:t>· 跨场记忆：候选记忆经人工确认后写入 SQLite（src/brain/memory-candidates.js、studio.html 记忆审核页）；能否让观众感到“被记住”需观众验证。</a:t>
            </a:r>
          </a:p>
          <a:p>
            <a:r>
              <a:t>· 角色一致性：岁偏好奇观察、歌偏坚持守护；观众能否分辨两种性格待测试，计划用不少于 30 个中文场景，每种人格分别生成并复核。</a:t>
            </a:r>
          </a:p>
          <a:p>
            <a:r>
              <a:t>· 底部三栏区分：外部模型与组件可替换；团队自己的工程工作是调度、接管、游戏桥接、记忆审核和工作台；希望积累的角色、事件、接梗场景与切片素材属于拟建立资产，尚未验证。</a:t>
            </a:r>
          </a:p>
          <a:p>
            <a:r>
              <a:t>【承接】下一页介绍完成这些工作的团队。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【增补修改版 · 讲述重点】</a:t>
            </a:r>
          </a:p>
          <a:p>
            <a:r>
              <a:t>· 九名成员与分工全部保留；组织层级连线去掉，降低头衔比重。左侧突出三位核心成员（按计划书岗位暂定为杨若朝、徐嘉盛、姬祥，若实际承担关键工作的成员不同请替换），每人留出相关经历、实际作品、身份与每周投入三个字段，材料未提供，写“待补”，不代写履历。</a:t>
            </a:r>
          </a:p>
          <a:p>
            <a:r>
              <a:t>· 关键岗位：主持按场次轮值，人选和保持搭档关系连续性的安排待补；技术值守与人工接管按计划书由技术总监负责依赖服务和接管流程；节目方向由运营总监排期、CEO 决定下一轮投入。</a:t>
            </a:r>
          </a:p>
          <a:p>
            <a:r>
              <a:t>· 学生 / 兼职 / 全职状态未提供，待补。</a:t>
            </a:r>
          </a:p>
          <a:p>
            <a:r>
              <a:t>· 当前 46,200 元预算不含团队工资，成员暂不领薪、工时单独记录；长期人力安排需另行说明。</a:t>
            </a:r>
          </a:p>
          <a:p>
            <a:r>
              <a:t>【承接】下一页讲收入顺序和单场经营模型。</a:t>
            </a:r>
          </a:p>
          <a:p/>
          <a:p>
            <a:r>
              <a:t>【原备注（保留；其中财务测算等历史版本内容按标注理解）】</a:t>
            </a:r>
          </a:p>
          <a:p>
            <a:r>
              <a:t>【本页讲述要点】</a:t>
            </a:r>
          </a:p>
          <a:p>
            <a:r>
              <a:t>· 九人按一场节目的生产流程组织：CEO 统筹，技术总监负责系统实现与验收，运营总监负责节目排期与跨工作线交付。</a:t>
            </a:r>
          </a:p>
          <a:p>
            <a:r>
              <a:t>· 播前运营总监组织任务、主持与抛梗审阅，技术总监确认依赖服务和接管流程；播后视频负责人筛选高光，市场商务负责人汇总数据，CEO 决定下一轮投入。</a:t>
            </a:r>
          </a:p>
          <a:p/>
          <a:p>
            <a:r>
              <a:t>【补充说明】</a:t>
            </a:r>
          </a:p>
          <a:p>
            <a:r>
              <a:t>· 主持人按场次轮值安排；团队成员目前不领薪，工时单独记录。</a:t>
            </a:r>
          </a:p>
          <a:p/>
          <a:p>
            <a:r>
              <a:t>【假设与能力边界】</a:t>
            </a:r>
          </a:p>
          <a:p>
            <a:r>
              <a:t>· 以上为计划中的岗位安排，公司设立后的正式任职另行确认；页面不包含履历与过往成绩。</a:t>
            </a:r>
          </a:p>
          <a:p/>
          <a:p>
            <a:r>
              <a:t>【来源】</a:t>
            </a:r>
          </a:p>
          <a:p>
            <a:r>
              <a:t>· 商业计划书第 10 页“团队介绍”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【增补修改版 · 讲述重点】</a:t>
            </a:r>
          </a:p>
          <a:p>
            <a:r>
              <a:t>· 四类收入全部保留，按开展顺序分为“近期验证”（打赏、会员）与“条件满足后拓展”（周边、商务），并补付费对象与启动条件。</a:t>
            </a:r>
          </a:p>
          <a:p>
            <a:r>
              <a:t>· 底部单场经营模型：净到账收入（打赏 + 会员，扣除平台分成）、模型语音成本、主持与剪辑工时（登记工时，不计入现金）、其他直接成本，以及单场贡献 = 收入 − 直接现金成本。目前没有开播，全部写“待实测”。</a:t>
            </a:r>
          </a:p>
          <a:p>
            <a:r>
              <a:t>· 原备注中的财务数字属于历史版本情景（预算测算明细-改稿v2.xlsx，2026-10-24）：全年收入情景 61,650 元、运营与履约支出 62,500 元，差额 −850 元，未计启动投入、团队工资与税费。该口径下收入只覆盖部分成本，不能讲成已盈利或已形成商业闭环；本版主页面不展示这些数字，评委问到时按历史情景回答。</a:t>
            </a:r>
          </a:p>
          <a:p>
            <a:r>
              <a:t>【承接】下一页说明观众从哪里来、怎么回访。</a:t>
            </a:r>
          </a:p>
          <a:p/>
          <a:p>
            <a:r>
              <a:t>【原备注（保留；其中财务测算等历史版本内容按标注理解）】</a:t>
            </a:r>
          </a:p>
          <a:p>
            <a:r>
              <a:t>【讲述主线】现阶段以直播节目为核心。商业模式回答谁付费、通过什么形式付费、获得什么价值；不以成本覆盖率作为主标题。四类收入是规划，未形成经营实绩。</a:t>
            </a:r>
          </a:p>
          <a:p>
            <a:r>
              <a:t>【直播打赏】直播观众通过礼物或付费留言支持现场互动和角色表现。付费不承诺改变角色感情或游戏结果，具体功能随平台提供情况开展。</a:t>
            </a:r>
          </a:p>
          <a:p>
            <a:r>
              <a:t>【直播会员】核心粉丝持续订阅。拟提供清晰的身份标识、专属内容与会员活动；具体权益、价格、平台规则和交付安排另行落实。本次讨论确定近期以打赏和会员为主，不将原计划约10万关注当作统一硬性开通门槛。</a:t>
            </a:r>
          </a:p>
          <a:p>
            <a:r>
              <a:t>【节目周边】面向喜欢角色和直播名场面的观众，采用小批量预售测试立牌、徽章等纪念商品需求，落实制作及交付后开展。</a:t>
            </a:r>
          </a:p>
          <a:p>
            <a:r>
              <a:t>【商务合作】面向品牌及游戏厂商，提供游戏试玩、主题专场与品牌赞助等直播内容和传播服务，按具体项目落实合作及报价。不虚构已签约客户或收入。</a:t>
            </a:r>
          </a:p>
          <a:p>
            <a:r>
              <a:t>【阶段安排】近期优先打磨固定节目并积累打赏与会员收入；有真实需求后逐步开展周边预售，随节目和受众积累开展商务合作。IP授权不作为现阶段主要收入来源，不在本页展开。</a:t>
            </a:r>
          </a:p>
          <a:p>
            <a:r>
              <a:t>【以下保留原稿财务测算供备答】原预测仍是历史版本情景，非收入承诺。既有成本、覆盖率及现金缺口不在页面主体展示，团队未补充实际经营数据。</a:t>
            </a:r>
          </a:p>
          <a:p>
            <a:r>
              <a:t>【本页讲述要点】</a:t>
            </a:r>
          </a:p>
          <a:p>
            <a:r>
              <a:t>· 商业逻辑：人机节目经 B站与抖音直播和切片传播，形成观看、回访与社群关系，再转为礼物、会员、周边、品牌及游戏合作，收入再投入内容与制作。</a:t>
            </a:r>
          </a:p>
          <a:p>
            <a:r>
              <a:t>· 首个完整运营年度收入情景 61,650 元：会员 19,250、打赏与付费留言 17,400、周边 15,000、商业合作 10,000。</a:t>
            </a:r>
          </a:p>
          <a:p>
            <a:r>
              <a:t>· 运营与履约支出 62,500 元：日常运营 52,000 加周边制作履约 10,500。收入覆盖其中 98.6%，运营现金差额为负 850 元，尚未盈利。</a:t>
            </a:r>
          </a:p>
          <a:p>
            <a:r>
              <a:t>· 加上 25,000 元启动投入，年末现金缺口 25,850 元；按季度推算，第 9 个月累计垫付最高，约 47,750 元。年末缺口不等于中途需要的最高垫付。</a:t>
            </a:r>
          </a:p>
          <a:p/>
          <a:p>
            <a:r>
              <a:t>【补充说明】</a:t>
            </a:r>
          </a:p>
          <a:p>
            <a:r>
              <a:t>· 收入依据：会员 = 385 个会员月 × 每会员月净到账 50 元（情景假设，Q3 105、Q4 280）；合作 = 2 次 × 5,000 元（Q4，以签约结算为准）；周边 = 目标销售额 15,000 元，款式与销量未定；打赏 = 计划书季度目标 1,200 / 3,000 / 5,300 / 7,900 元，计划书给出方法“有效观众 × 实际付费比例 × 人均净收入”但未给参数。</a:t>
            </a:r>
          </a:p>
          <a:p>
            <a:r>
              <a:t>· 口径：打赏与会员为扣除平台分成后的净到账；税费未单列；周边履约按销售额 70%；团队成员不领薪，工时另记。</a:t>
            </a:r>
          </a:p>
          <a:p>
            <a:r>
              <a:t>· 季度现金：Q1 收入 1,200、支出 13,000，净 −11,800；Q2 净 −10,000；Q3 收入 15,550、支出 16,500，净 −950；Q4 收入 41,900、支出 20,000，净 +21,900。</a:t>
            </a:r>
          </a:p>
          <a:p>
            <a:r>
              <a:t>· 日常运营明细：模型语音云服务 18,000、剪辑社群补贴 12,000、推广 18,000、活动杂费 4,000。</a:t>
            </a:r>
          </a:p>
          <a:p>
            <a:r>
              <a:t>· 保守情景（计划书）：会员与合作延后，打赏 8,000、日常支出 40,000、启动 25,000，缺口约 57,000 元，相应推迟预售与可变推广。</a:t>
            </a:r>
          </a:p>
          <a:p>
            <a:r>
              <a:t>· 打赏进入节目：平台事件核对去重后进入感谢队列，连续小额合并，在任务间隙致谢；免费观众同样参与公开任务；不把打赏绑定角色的爱意、痛苦或输赢 [S9]。</a:t>
            </a:r>
          </a:p>
          <a:p>
            <a:r>
              <a:t>· 游戏选择看五点：需求潜力、节目效果、AI 可执行程度、观众参与、维护成本。例如 Minecraft 木剑短任务材料与时限明确，失败也能讲清缺什么；游戏热度待公开运营前采样验证。</a:t>
            </a:r>
          </a:p>
          <a:p>
            <a:r>
              <a:t>· 公开数据背景（不证明本项目收入预测成立）：B站虚拟主播付费舰长约 15.2 万人、月营收约 350 万美元 [S3]；浙大 2025 抖音主播调研中超 66% 月收入 2,000–10,000 元 [R1]；虚拟主播收入高度集中，约 2/3 粉丝不足 1 万 [R2]。</a:t>
            </a:r>
          </a:p>
          <a:p/>
          <a:p>
            <a:r>
              <a:t>【假设与能力边界】</a:t>
            </a:r>
          </a:p>
          <a:p>
            <a:r>
              <a:t>· 以上为预测情景，不是实际经营成绩；项目尚未盈利，也未形成商业闭环。</a:t>
            </a:r>
          </a:p>
          <a:p>
            <a:r>
              <a:t>· 全部公式与季度、月度现金流见《预算测算明细-改稿v2.xlsx》。</a:t>
            </a:r>
          </a:p>
          <a:p/>
          <a:p>
            <a:r>
              <a:t>【来源】</a:t>
            </a:r>
          </a:p>
          <a:p>
            <a:r>
              <a:t>· 商业计划书第 11–16 页</a:t>
            </a:r>
          </a:p>
          <a:p>
            <a:r>
              <a:t>· 预算测算明细-改稿v2.xlsx</a:t>
            </a:r>
          </a:p>
          <a:p>
            <a:r>
              <a:t>· [S3] WWW 2025 VUP 研究：https://arxiv.org/abs/2502.01553</a:t>
            </a:r>
          </a:p>
          <a:p>
            <a:r>
              <a:t>· [R1] 浙大 2025 抖音主播调研：https://www.sohu.com/a/976695880_121864818</a:t>
            </a:r>
          </a:p>
          <a:p>
            <a:r>
              <a:t>· [R2] 澎湃：3606 名虚拟主播：https://www.thepaper.cn/newsDetail_forward_18022449</a:t>
            </a:r>
          </a:p>
          <a:p>
            <a:r>
              <a:t>· [S7] B站开放平台直播事件文档：https://openhome.bilibili.com/doc/4/c7b549c9-d5d6-0331-b510-465ed4107e01</a:t>
            </a:r>
          </a:p>
          <a:p>
            <a:r>
              <a:t>· [S8] 抖音开放平台直播 SDK：https://open.douyin.com/platform/resource/docs/ability/douyin-live-sdk/introduction</a:t>
            </a:r>
          </a:p>
          <a:p>
            <a:r>
              <a:t>· [S9] 抖音直播行为规范：https://sf3-cdn-tos.douyinstatic.com/obj/ies-hotsoon-draft/webcast_all_anchor/webcast_ban_protocol.html</a:t>
            </a:r>
          </a:p>
          <a:p/>
          <a:p>
            <a:r>
              <a:t>【待确认事项】</a:t>
            </a:r>
          </a:p>
          <a:p>
            <a:r>
              <a:t>· 平台收入分成：后续确定。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【讲述重点】</a:t>
            </a:r>
          </a:p>
          <a:p>
            <a:r>
              <a:t>· 渠道分工：B站为主阵地（直播与连载，承接追更、弹幕与社群）；抖音为试验渠道（切片分发与低频直播测试，按效果决定是否加大投入）；切片计划每周 4–5 条；社群负责预告下一场和回收约定。</a:t>
            </a:r>
          </a:p>
          <a:p>
            <a:r>
              <a:t>· 调整说明：计划书写的是 B站、抖音双平台直播；考虑到团队产能尚未验证，本版改为“主阵地 + 试验渠道”，不默认能同时高强度经营两端。该渠道主次已由团队确认（2026-10-25）；是否加大抖音直播，以试运营数据决定。</a:t>
            </a:r>
          </a:p>
          <a:p>
            <a:r>
              <a:t>· 漏斗：切片曝光 → 有效观看 → 关注 → 直播到访 → 下一场回访，全部为计划指标，没有已有结果。统计口径：同一时期、同一口径记录单条内容数据和可追踪的直播到访，不用总播放替代回访。</a:t>
            </a:r>
          </a:p>
          <a:p>
            <a:r>
              <a:t>【承接】下一页是资金预算。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【增补修改版 · 讲述重点】</a:t>
            </a:r>
          </a:p>
          <a:p>
            <a:r>
              <a:t>· 原渠道图、阶段计划、申请金额和八项预算全部保留，重新分层：启动 25,000（原画 8,000、Live2D 及表情 14,000、开发工具 3,000）；精简运营 17,000（模型语音云服务 9,000、剪辑补贴 3,000、推广测试 3,000、活动杂费 2,000）；预备金 4,200（支出小计的 10%）。合计 46,200 元，八项加总已复核。</a:t>
            </a:r>
          </a:p>
          <a:p>
            <a:r>
              <a:t>· 原画与 Live2D 合计 22,000 元，占申请额约 47.6%：观众要记住的是角色，节目需要可持续使用的原创形象，目前的 Live2D 为临时占位模型，不能用于正式播出；两项尚未付款，计划 2026 年 11 月底交付，建议按交付物验收后付款（付款节点待与画师确认）。若观众验证不佳，后续表情、动作和周边设计不追加。</a:t>
            </a:r>
          </a:p>
          <a:p>
            <a:r>
              <a:t>· 预算边界：不含团队工资（成员暂不领薪）；税费未单列；设备采购未列入，是否使用成员自有设备待确认。支持性质（赛事支持、补助、赞助或其他）待确认，不设置估值或股权条款。</a:t>
            </a:r>
          </a:p>
          <a:p>
            <a:r>
              <a:t>· 时间统一为“资金到账后第 X 月”。渠道图中 B站标为主阵地、抖音标为试验渠道，与上一页一致。</a:t>
            </a:r>
          </a:p>
          <a:p>
            <a:r>
              <a:t>· 来源改为“团队测算及报价依据”；抖音开放平台直播 SDK 只作为渠道接入参考，不支持预算数字。</a:t>
            </a:r>
          </a:p>
          <a:p>
            <a:r>
              <a:t>【承接】最后一页说明每个阶段交付什么、什么情况下继续或调整。</a:t>
            </a:r>
          </a:p>
          <a:p/>
          <a:p>
            <a:r>
              <a:t>【原备注（保留；其中财务测算等历史版本内容按标注理解）】</a:t>
            </a:r>
          </a:p>
          <a:p>
            <a:r>
              <a:t>【本页讲述要点】</a:t>
            </a:r>
          </a:p>
          <a:p>
            <a:r>
              <a:t>· B站与抖音都直播：B站承接完整游戏过程与连载，抖音用快速情境吸引陌生观众；切片每周 4–5 条，回流到两端直播。</a:t>
            </a:r>
          </a:p>
          <a:p>
            <a:r>
              <a:t>· 首阶段 6 个月：原画与 Live2D 11 月底交付，完成内部试播与中文接梗测试、观众验证，并开始双平台直播。下半年进入固定栏目和小规模付费，资金依靠到账收入。</a:t>
            </a:r>
          </a:p>
          <a:p>
            <a:r>
              <a:t>· 每个阶段先看四件事：节目能否稳定完成、观众是否记住角色与事件、是否主动回访、收入是否覆盖直接成本。</a:t>
            </a:r>
          </a:p>
          <a:p>
            <a:r>
              <a:t>· 首阶段申请支持重算为 46,200 元，比原方案 10 万元少 53.8%：必要启动 25,000、6 个月精简运营 17,000、预备金 4,200。</a:t>
            </a:r>
          </a:p>
          <a:p/>
          <a:p>
            <a:r>
              <a:t>【补充说明】</a:t>
            </a:r>
          </a:p>
          <a:p>
            <a:r>
              <a:t>· 重算方法（自下而上，首阶段 1–6 月）：原画 8,000、Live2D 及表情 14,000、开发工具 3,000（必要）；模型语音云服务 9,000（1,500 元/月 × 6）；剪辑补贴 3,000（半额，成员自剪为主）；推广 3,000（只做小额切片测试）；活动杂费 2,000；支出小计 42,000；预备金按 10% 计 4,200；合计 46,200 元。</a:t>
            </a:r>
          </a:p>
          <a:p>
            <a:r>
              <a:t>· 相比原 10 万方案延后或削减：周边周转 10,500 改为下半年预售回款后生产；推广 15,000 待回访达标后用到账收入追加；剪辑补贴削减 9,000（全年口径，下半年视收入恢复）；预备金由 12,500 降为 4,200；下半年日常运营不由本次申请覆盖。</a:t>
            </a:r>
          </a:p>
          <a:p>
            <a:r>
              <a:t>· 资金来源：首阶段预测收入 4,200 元（Q1+Q2 打赏目标）不计入资金来源，若按期到账作为额外缓冲。基准情景下半年收入 57,450、支出 36,500，净现金约 +20,950 元，可自行覆盖；若首阶段验收未通过，不进入下半年扩张。</a:t>
            </a:r>
          </a:p>
          <a:p>
            <a:r>
              <a:t>· 对照：全年基准情景累计最高垫付约 47,750 元（第 9 月末），本方案不依赖预测收入，首阶段需要 46,200 元。</a:t>
            </a:r>
          </a:p>
          <a:p>
            <a:r>
              <a:t>· 原画与 Live2D 尚未付款（用户确认），全额计入申请额。</a:t>
            </a:r>
          </a:p>
          <a:p>
            <a:r>
              <a:t>· 进取增长目标：前三个月 2.5 万、约六个月 10 万、年末 15 万主阵地关注；参照头部个案（抖音虚拟主播许安一首月直播涨粉 13 万）[R3] 与行业分布（约 2/3 虚拟主播不足 1 万粉）[R2] 设定，不是预测。</a:t>
            </a:r>
          </a:p>
          <a:p>
            <a:r>
              <a:t>· 初期每周二至周六北京时间 20:00–22:00 开播；全年推广预算分批使用，先比较自然流量下的完播、评论与关注。</a:t>
            </a:r>
          </a:p>
          <a:p/>
          <a:p>
            <a:r>
              <a:t>【假设与能力边界】</a:t>
            </a:r>
          </a:p>
          <a:p>
            <a:r>
              <a:t>· B站与抖音开播权限可落实；双平台正式运营仍以推流、音视频与事件联调和节目验收为前提。</a:t>
            </a:r>
          </a:p>
          <a:p>
            <a:r>
              <a:t>· 申请额为团队测算方案，不代表已获批准或任何融资条款。</a:t>
            </a:r>
          </a:p>
          <a:p/>
          <a:p>
            <a:r>
              <a:t>【来源】</a:t>
            </a:r>
          </a:p>
          <a:p>
            <a:r>
              <a:t>· 商业计划书第 16–19 页</a:t>
            </a:r>
          </a:p>
          <a:p>
            <a:r>
              <a:t>· 预算测算明细-改稿v2.xlsx（第 5 表）</a:t>
            </a:r>
          </a:p>
          <a:p>
            <a:r>
              <a:t>· [R2] 澎湃：3606 名虚拟主播：https://www.thepaper.cn/newsDetail_forward_18022449</a:t>
            </a:r>
          </a:p>
          <a:p>
            <a:r>
              <a:t>· [R3] 界面：许安一 100 天：https://www.jiemian.com/article/7724509.html</a:t>
            </a:r>
          </a:p>
          <a:p>
            <a:r>
              <a:t>· [S8] 抖音开放平台直播 SDK：https://open.douyin.com/platform/resource/docs/ability/douyin-live-sdk/introduction</a:t>
            </a:r>
          </a:p>
          <a:p/>
          <a:p>
            <a:r>
              <a:t>【待确认事项】</a:t>
            </a:r>
          </a:p>
          <a:p>
            <a:r>
              <a:t>· 30 名成年受试者验证：后续安排。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【讲述重点】</a:t>
            </a:r>
          </a:p>
          <a:p>
            <a:r>
              <a:t>· 四个阶段各对应验收物，时间统一按资金到账后月份：第 1 月形象交付（原画与 Live2D 文件、表情与口型测试录屏）；第 2 月内部试播（3 场录像、运行日志，以及至少 10 个切片候选，来自计划书首月目标）；第 3 月观众验证（30 人测试记录）；第 4–6 月 B站主阵地试运营（开播记录、回访与净到账收入台账，抖音轻量测试）。</a:t>
            </a:r>
          </a:p>
          <a:p>
            <a:r>
              <a:t>· 完成事项不等于验证成功。继续投入看三条证据：节目能稳定播完且人工接管可控；观众记住角色与事件并自愿回访；净到账收入覆盖单场直接现金成本（不含工资）。</a:t>
            </a:r>
          </a:p>
          <a:p>
            <a:r>
              <a:t>· 需要调整时：回访不足先改节目、暂停追加推广；收入未按计划到账，延后周边、新游戏接入（如人类一败涂地联机）和抖音直播加量；始终保留模型语音服务、主阵地开播和核心测试。</a:t>
            </a:r>
          </a:p>
          <a:p>
            <a:r>
              <a:t>· 原画与 Live2D 原计划 2026 年 11 月底交付，进度依赖画师排期。</a:t>
            </a:r>
          </a:p>
          <a:p>
            <a:r>
              <a:t>· 收尾：本次申请 46,200 元，用于完成上述阶段验证；支持性质待确认，不涉及估值、股份或其他融资承诺。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hyperlink" Target="https://www.ctrchina.cn/rich/report/802" TargetMode="Externa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1.xml"/><Relationship Id="rId2" Type="http://schemas.openxmlformats.org/officeDocument/2006/relationships/hyperlink" Target="https://open.douyin.com/platform/resource/docs/ability/douyin-live-sdk/introduction" TargetMode="External"/><Relationship Id="rId1" Type="http://schemas.openxmlformats.org/officeDocument/2006/relationships/chart" Target="../charts/char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1003098" y="921514"/>
            <a:ext cx="667512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2459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2026 昆山杯清华大学创业大赛 · 种子组 · AI for X 赛道</a:t>
            </a:r>
            <a:endParaRPr lang="en-US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1005840" y="1600200"/>
            <a:ext cx="4754880" cy="1371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sz="8800" b="1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姬岁歌</a:t>
            </a:r>
            <a:endParaRPr lang="en-US" sz="8800" dirty="0"/>
          </a:p>
        </p:txBody>
      </p:sp>
      <p:sp>
        <p:nvSpPr>
          <p:cNvPr id="6" name="Shape 3"/>
          <p:cNvSpPr/>
          <p:nvPr/>
        </p:nvSpPr>
        <p:spPr>
          <a:xfrm>
            <a:off x="1005840" y="4297680"/>
            <a:ext cx="914400" cy="0"/>
          </a:xfrm>
          <a:prstGeom prst="line">
            <a:avLst/>
          </a:prstGeom>
          <a:noFill/>
          <a:ln w="38100">
            <a:solidFill>
              <a:srgbClr val="2459D6"/>
            </a:solidFill>
            <a:prstDash val="solid"/>
          </a:ln>
        </p:spPr>
        <p:txBody>
          <a:bodyPr/>
          <a:p/>
        </p:txBody>
      </p:sp>
      <p:pic>
        <p:nvPicPr>
          <p:cNvPr id="9" name="Image 0" descr="E:\Github\AI_vtuber\output\kunshan-20261020\ppt\assets\jisui-concept.png"/>
          <p:cNvPicPr>
            <a:picLocks noChangeAspect="1"/>
          </p:cNvPicPr>
          <p:nvPr/>
        </p:nvPicPr>
        <p:blipFill>
          <a:blip r:embed="rId1"/>
          <a:srcRect r="46000"/>
          <a:stretch>
            <a:fillRect/>
          </a:stretch>
        </p:blipFill>
        <p:spPr>
          <a:xfrm>
            <a:off x="8534958" y="502920"/>
            <a:ext cx="2831033" cy="54864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534958" y="6035040"/>
            <a:ext cx="2831033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sz="1200" b="0">
                <a:solidFill>
                  <a:srgbClr val="8A909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角色概念图（定稿中）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548640" y="6382512"/>
            <a:ext cx="11094415" cy="0"/>
          </a:xfrm>
          <a:prstGeom prst="line">
            <a:avLst/>
          </a:prstGeom>
          <a:noFill/>
          <a:ln w="9525">
            <a:solidFill>
              <a:srgbClr val="D5D9E0"/>
            </a:solidFill>
            <a:prstDash val="solid"/>
          </a:ln>
        </p:spPr>
        <p:txBody>
          <a:bodyPr/>
          <a:p/>
        </p:txBody>
      </p:sp>
      <p:sp>
        <p:nvSpPr>
          <p:cNvPr id="12" name="Text 8"/>
          <p:cNvSpPr txBox="1"/>
          <p:nvPr/>
        </p:nvSpPr>
        <p:spPr>
          <a:xfrm>
            <a:off x="10543032" y="6437376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1200" b="1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01</a:t>
            </a:r>
            <a:r>
              <a:rPr sz="1200" b="0">
                <a:solidFill>
                  <a:srgbClr val="8A909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 / 16</a:t>
            </a:r>
            <a:endParaRPr lang="en-US" sz="1200" dirty="0"/>
          </a:p>
        </p:txBody>
      </p:sp>
      <p:sp>
        <p:nvSpPr>
          <p:cNvPr id="2" name="Text 1"/>
          <p:cNvSpPr txBox="1"/>
          <p:nvPr/>
        </p:nvSpPr>
        <p:spPr>
          <a:xfrm>
            <a:off x="1005840" y="4462272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sz="2200" b="1">
                <a:solidFill>
                  <a:srgbClr val="5B62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潮生智能</a:t>
            </a:r>
            <a:endParaRPr lang="en-US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1005840" y="3063240"/>
            <a:ext cx="484632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面向中文游戏观众的</a:t>
            </a:r>
            <a:endParaRPr sz="2600" b="1">
              <a:solidFill>
                <a:srgbClr val="1F2329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  <a:p>
            <a:pPr algn="l">
              <a:lnSpc>
                <a:spcPct val="110000"/>
              </a:lnSpc>
            </a:pPr>
            <a:r>
              <a:rPr sz="2600" b="1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人机共播虚拟角色项目</a:t>
            </a:r>
            <a:endParaRPr sz="2600" b="1">
              <a:solidFill>
                <a:srgbClr val="1F2329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05840" y="5029200"/>
            <a:ext cx="48463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2459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当前阶段  </a:t>
            </a:r>
            <a:r>
              <a:rPr sz="1300" b="0">
                <a:solidFill>
                  <a:srgbClr val="5B62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原型开发；内部试播与观众验证待开展</a:t>
            </a:r>
            <a:endParaRPr sz="1300" b="0">
              <a:solidFill>
                <a:srgbClr val="5B62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2459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形象  </a:t>
            </a:r>
            <a:r>
              <a:rPr sz="1300" b="0">
                <a:solidFill>
                  <a:srgbClr val="5B62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概念图定稿中；原画与 Live2D 计划 2026-11 底交付</a:t>
            </a:r>
            <a:endParaRPr sz="1300" b="0">
              <a:solidFill>
                <a:srgbClr val="5B62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2459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项目摘要</a:t>
            </a:r>
            <a:endParaRPr sz="1300" b="1">
              <a:solidFill>
                <a:srgbClr val="2459D6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1672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姬岁歌的节目定位与首阶段验证</a:t>
            </a:r>
            <a:endParaRPr sz="3000" b="1">
              <a:solidFill>
                <a:srgbClr val="1F2329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48640" y="1481328"/>
            <a:ext cx="5413248" cy="22128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822959" y="1664208"/>
            <a:ext cx="486460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2459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做什么</a:t>
            </a:r>
            <a:endParaRPr sz="1500" b="1">
              <a:solidFill>
                <a:srgbClr val="2459D6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59" y="2029968"/>
            <a:ext cx="4864608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主持人与 AI 角色姬岁歌围绕游戏、弹幕和连续事件，共同制作直播节目</a:t>
            </a:r>
            <a:endParaRPr sz="1800" b="1">
              <a:solidFill>
                <a:srgbClr val="1F2329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2959" y="2852928"/>
            <a:ext cx="4864608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5B62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主形式  </a:t>
            </a:r>
            <a:r>
              <a:rPr sz="1400" b="0">
                <a:solidFill>
                  <a:srgbClr val="5B62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人机共播（计划书主线）</a:t>
            </a:r>
            <a:endParaRPr sz="1400" b="0">
              <a:solidFill>
                <a:srgbClr val="5B62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  <a:p>
            <a:pPr algn="l">
              <a:spcAft>
                <a:spcPts val="300"/>
              </a:spcAft>
            </a:pPr>
            <a:r>
              <a:rPr sz="1400" b="1">
                <a:solidFill>
                  <a:srgbClr val="5B62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AI 自主直播  </a:t>
            </a:r>
            <a:r>
              <a:rPr sz="1400" b="0">
                <a:solidFill>
                  <a:srgbClr val="5B62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定位为独立时段还是技术演示：首阶段验证方向待确认</a:t>
            </a:r>
            <a:endParaRPr sz="1400" b="0">
              <a:solidFill>
                <a:srgbClr val="5B62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227064" y="1481328"/>
            <a:ext cx="5413248" cy="22128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501383" y="1664208"/>
            <a:ext cx="486460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2459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首批观众</a:t>
            </a:r>
            <a:endParaRPr sz="1500" b="1">
              <a:solidFill>
                <a:srgbClr val="2459D6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501383" y="2029968"/>
            <a:ext cx="4864608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已有 VUP 观看习惯、爱看游戏挑战与整活联动的中文观众</a:t>
            </a:r>
            <a:endParaRPr sz="1800" b="1">
              <a:solidFill>
                <a:srgbClr val="1F2329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501383" y="2852928"/>
            <a:ext cx="4864608" cy="469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5B62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观看动机  </a:t>
            </a:r>
            <a:r>
              <a:rPr sz="1400" b="0">
                <a:solidFill>
                  <a:srgbClr val="5B62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角色反差 · 临场互动 · 下一场回收约定</a:t>
            </a:r>
            <a:endParaRPr sz="1400" b="0">
              <a:solidFill>
                <a:srgbClr val="5B62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  <a:p>
            <a:pPr algn="l">
              <a:spcAft>
                <a:spcPts val="300"/>
              </a:spcAft>
            </a:pPr>
            <a:r>
              <a:rPr sz="1400" b="1">
                <a:solidFill>
                  <a:srgbClr val="5B62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已有接触  </a:t>
            </a:r>
            <a:r>
              <a:rPr sz="1400" b="0">
                <a:solidFill>
                  <a:srgbClr val="5B62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5 名路人初步口头反馈，非正式验证</a:t>
            </a:r>
            <a:endParaRPr sz="1400" b="0">
              <a:solidFill>
                <a:srgbClr val="5B62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48640" y="3922776"/>
            <a:ext cx="5413248" cy="22128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22959" y="4105656"/>
            <a:ext cx="486460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2459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当前进展与证据</a:t>
            </a:r>
            <a:endParaRPr sz="1500" b="1">
              <a:solidFill>
                <a:srgbClr val="2459D6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822959" y="4517136"/>
            <a:ext cx="960120" cy="274320"/>
          </a:xfrm>
          <a:prstGeom prst="roundRect">
            <a:avLst>
              <a:gd name="adj" fmla="val 50000"/>
            </a:avLst>
          </a:prstGeom>
          <a:solidFill>
            <a:srgbClr val="245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22959" y="4517136"/>
            <a:ext cx="9601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已验收</a:t>
            </a:r>
            <a:endParaRPr sz="110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920240" y="4498848"/>
            <a:ext cx="3813048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Flappy Bird：100/100 局达 1,000 分</a:t>
            </a:r>
            <a:endParaRPr sz="1400" b="0">
              <a:solidFill>
                <a:srgbClr val="1F2329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822959" y="4901184"/>
            <a:ext cx="96012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245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22959" y="4901184"/>
            <a:ext cx="9601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2459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局部验证</a:t>
            </a:r>
            <a:endParaRPr sz="1100" b="1">
              <a:solidFill>
                <a:srgbClr val="2459D6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920240" y="4930712"/>
            <a:ext cx="3813048" cy="2152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STS2 18 次成功动作；Minecraft </a:t>
            </a:r>
            <a:r>
              <a:rPr lang="zh-CN" sz="1400" b="0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试运行</a:t>
            </a:r>
            <a:endParaRPr lang="zh-CN" sz="1400" b="0">
              <a:solidFill>
                <a:srgbClr val="1F2329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822959" y="5285232"/>
            <a:ext cx="96012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245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22959" y="5285232"/>
            <a:ext cx="9601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2459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已有模块</a:t>
            </a:r>
            <a:endParaRPr sz="1100" b="1">
              <a:solidFill>
                <a:srgbClr val="2459D6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920240" y="5266944"/>
            <a:ext cx="3813048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对话、记忆审核、语音、Live2D、工作台</a:t>
            </a:r>
            <a:endParaRPr sz="1400" b="0">
              <a:solidFill>
                <a:srgbClr val="1F2329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822959" y="5669280"/>
            <a:ext cx="96012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8A909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822959" y="5669280"/>
            <a:ext cx="9601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5B62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未开展</a:t>
            </a:r>
            <a:endParaRPr sz="1100" b="1">
              <a:solidFill>
                <a:srgbClr val="5B62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920240" y="5650992"/>
            <a:ext cx="3813048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整场直播、人机联机、正式观众验证</a:t>
            </a:r>
            <a:endParaRPr sz="1400" b="0">
              <a:solidFill>
                <a:srgbClr val="1F2329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6227064" y="3922776"/>
            <a:ext cx="5413248" cy="2212848"/>
          </a:xfrm>
          <a:prstGeom prst="roundRect">
            <a:avLst>
              <a:gd name="adj" fmla="val 6000"/>
            </a:avLst>
          </a:prstGeom>
          <a:solidFill>
            <a:srgbClr val="EAF0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501383" y="4105656"/>
            <a:ext cx="486460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2459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本次申请</a:t>
            </a:r>
            <a:endParaRPr sz="1500" b="1">
              <a:solidFill>
                <a:srgbClr val="2459D6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501383" y="4425696"/>
            <a:ext cx="4864608" cy="68580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/>
            <a:r>
              <a:rPr sz="4000" b="1">
                <a:solidFill>
                  <a:srgbClr val="2459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46,200</a:t>
            </a:r>
            <a:r>
              <a:rPr sz="1800" b="1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 元 · 6 个月</a:t>
            </a:r>
            <a:endParaRPr sz="1800" b="1">
              <a:solidFill>
                <a:srgbClr val="1F2329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501383" y="5184648"/>
            <a:ext cx="4864608" cy="469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  </a:t>
            </a:r>
            <a:r>
              <a:rPr sz="1400" b="0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原创形象交付 · 3 场内部试播 · 30 人观众验证 ·</a:t>
            </a:r>
            <a:endParaRPr sz="1400" b="0">
              <a:solidFill>
                <a:srgbClr val="1F2329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 B站主阵地试运营 </a:t>
            </a:r>
            <a:r>
              <a:rPr lang="zh-CN" sz="1400" b="0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抖音直播运营 </a:t>
            </a:r>
            <a:r>
              <a:rPr lang="zh-CN" sz="1400" b="0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宣传投稿作品</a:t>
            </a:r>
            <a:endParaRPr sz="1400" b="0">
              <a:solidFill>
                <a:srgbClr val="1F2329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cxnSp>
        <p:nvCxnSpPr>
          <p:cNvPr id="30" name="Connector 29"/>
          <p:cNvCxnSpPr/>
          <p:nvPr/>
        </p:nvCxnSpPr>
        <p:spPr>
          <a:xfrm>
            <a:off x="548640" y="6382512"/>
            <a:ext cx="11091672" cy="0"/>
          </a:xfrm>
          <a:prstGeom prst="line">
            <a:avLst/>
          </a:prstGeom>
          <a:ln w="9525">
            <a:solidFill>
              <a:srgbClr val="D5D9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48640" y="6437376"/>
            <a:ext cx="98755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8A909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依据：商业计划书（2026-10-24）· demo-summary-20261018 · STS2 验收快照（2026-10-20）· 预算测算明细-改稿v2</a:t>
            </a:r>
            <a:endParaRPr sz="1100" b="0">
              <a:solidFill>
                <a:srgbClr val="8A909C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32" name="page-number"/>
          <p:cNvSpPr txBox="1"/>
          <p:nvPr/>
        </p:nvSpPr>
        <p:spPr>
          <a:xfrm>
            <a:off x="10543032" y="6437376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200" b="1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02</a:t>
            </a:r>
            <a:r>
              <a:rPr sz="1200" b="0">
                <a:solidFill>
                  <a:srgbClr val="8A909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 / 16</a:t>
            </a:r>
            <a:endParaRPr sz="1200" b="0">
              <a:solidFill>
                <a:srgbClr val="8A909C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882639" y="736669"/>
            <a:ext cx="292608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目录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882639" y="1495621"/>
            <a:ext cx="914400" cy="0"/>
          </a:xfrm>
          <a:prstGeom prst="line">
            <a:avLst/>
          </a:prstGeom>
          <a:noFill/>
          <a:ln w="38100">
            <a:solidFill>
              <a:srgbClr val="2459D6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 txBox="1"/>
          <p:nvPr/>
        </p:nvSpPr>
        <p:spPr>
          <a:xfrm>
            <a:off x="882639" y="1724221"/>
            <a:ext cx="292608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 err="1">
                <a:solidFill>
                  <a:srgbClr val="5B62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姬岁歌</a:t>
            </a:r>
            <a:endParaRPr lang="en-US" sz="16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5B62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昆山杯路演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3632960" y="685800"/>
            <a:ext cx="822960" cy="8961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B9CC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4544568" y="813816"/>
            <a:ext cx="5394960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sz="2100" b="1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项目背景</a:t>
            </a:r>
            <a:endParaRPr lang="en-US" sz="2100" dirty="0"/>
          </a:p>
        </p:txBody>
      </p:sp>
      <p:sp>
        <p:nvSpPr>
          <p:cNvPr id="9" name="Text 6"/>
          <p:cNvSpPr txBox="1"/>
          <p:nvPr/>
        </p:nvSpPr>
        <p:spPr>
          <a:xfrm>
            <a:off x="10063935" y="685800"/>
            <a:ext cx="1097280" cy="8961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1600" b="1">
                <a:solidFill>
                  <a:srgbClr val="8A909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04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3632960" y="1581912"/>
            <a:ext cx="7528255" cy="0"/>
          </a:xfrm>
          <a:prstGeom prst="line">
            <a:avLst/>
          </a:prstGeom>
          <a:noFill/>
          <a:ln w="9525">
            <a:solidFill>
              <a:srgbClr val="D5D9E0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 txBox="1"/>
          <p:nvPr/>
        </p:nvSpPr>
        <p:spPr>
          <a:xfrm>
            <a:off x="3632960" y="1581912"/>
            <a:ext cx="822960" cy="8961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B9CC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02</a:t>
            </a:r>
            <a:endParaRPr lang="en-US" sz="2800" dirty="0"/>
          </a:p>
        </p:txBody>
      </p:sp>
      <p:sp>
        <p:nvSpPr>
          <p:cNvPr id="12" name="Text 9"/>
          <p:cNvSpPr txBox="1"/>
          <p:nvPr/>
        </p:nvSpPr>
        <p:spPr>
          <a:xfrm>
            <a:off x="4544568" y="1709928"/>
            <a:ext cx="5394960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sz="2100" b="1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市场规模与竞品分析</a:t>
            </a:r>
            <a:endParaRPr lang="en-US" sz="2100" dirty="0"/>
          </a:p>
        </p:txBody>
      </p:sp>
      <p:sp>
        <p:nvSpPr>
          <p:cNvPr id="14" name="Text 11"/>
          <p:cNvSpPr txBox="1"/>
          <p:nvPr/>
        </p:nvSpPr>
        <p:spPr>
          <a:xfrm>
            <a:off x="10063935" y="1581912"/>
            <a:ext cx="1097280" cy="8961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1600" b="1">
                <a:solidFill>
                  <a:srgbClr val="8A909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05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3632960" y="2478024"/>
            <a:ext cx="7528255" cy="0"/>
          </a:xfrm>
          <a:prstGeom prst="line">
            <a:avLst/>
          </a:prstGeom>
          <a:noFill/>
          <a:ln w="9525">
            <a:solidFill>
              <a:srgbClr val="D5D9E0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 txBox="1"/>
          <p:nvPr/>
        </p:nvSpPr>
        <p:spPr>
          <a:xfrm>
            <a:off x="3632960" y="2478024"/>
            <a:ext cx="822960" cy="8961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459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03</a:t>
            </a:r>
            <a:endParaRPr lang="en-US" sz="2800" dirty="0"/>
          </a:p>
        </p:txBody>
      </p:sp>
      <p:sp>
        <p:nvSpPr>
          <p:cNvPr id="17" name="Text 14"/>
          <p:cNvSpPr txBox="1"/>
          <p:nvPr/>
        </p:nvSpPr>
        <p:spPr>
          <a:xfrm>
            <a:off x="4544568" y="2606040"/>
            <a:ext cx="5394960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sz="2100" b="1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产品介绍</a:t>
            </a:r>
            <a:endParaRPr lang="en-US" sz="2100" dirty="0"/>
          </a:p>
        </p:txBody>
      </p:sp>
      <p:sp>
        <p:nvSpPr>
          <p:cNvPr id="19" name="Text 16"/>
          <p:cNvSpPr txBox="1"/>
          <p:nvPr/>
        </p:nvSpPr>
        <p:spPr>
          <a:xfrm>
            <a:off x="10063935" y="2478024"/>
            <a:ext cx="1097280" cy="8961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1600" b="1">
                <a:solidFill>
                  <a:srgbClr val="8A909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06–11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3632960" y="3374136"/>
            <a:ext cx="7528255" cy="0"/>
          </a:xfrm>
          <a:prstGeom prst="line">
            <a:avLst/>
          </a:prstGeom>
          <a:noFill/>
          <a:ln w="9525">
            <a:solidFill>
              <a:srgbClr val="D5D9E0"/>
            </a:solidFill>
            <a:prstDash val="solid"/>
          </a:ln>
        </p:spPr>
        <p:txBody>
          <a:bodyPr/>
          <a:p/>
        </p:txBody>
      </p:sp>
      <p:sp>
        <p:nvSpPr>
          <p:cNvPr id="21" name="Text 18"/>
          <p:cNvSpPr txBox="1"/>
          <p:nvPr/>
        </p:nvSpPr>
        <p:spPr>
          <a:xfrm>
            <a:off x="3632960" y="3374136"/>
            <a:ext cx="822960" cy="8961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B9CC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04</a:t>
            </a:r>
            <a:endParaRPr lang="en-US" sz="2800" dirty="0"/>
          </a:p>
        </p:txBody>
      </p:sp>
      <p:sp>
        <p:nvSpPr>
          <p:cNvPr id="22" name="Text 19"/>
          <p:cNvSpPr txBox="1"/>
          <p:nvPr/>
        </p:nvSpPr>
        <p:spPr>
          <a:xfrm>
            <a:off x="4544568" y="3502152"/>
            <a:ext cx="5394960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sz="2100" b="1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团队介绍</a:t>
            </a:r>
            <a:endParaRPr lang="en-US" sz="2100" dirty="0"/>
          </a:p>
        </p:txBody>
      </p:sp>
      <p:sp>
        <p:nvSpPr>
          <p:cNvPr id="24" name="Text 21"/>
          <p:cNvSpPr txBox="1"/>
          <p:nvPr/>
        </p:nvSpPr>
        <p:spPr>
          <a:xfrm>
            <a:off x="10063935" y="3374136"/>
            <a:ext cx="1097280" cy="8961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1600" b="1">
                <a:solidFill>
                  <a:srgbClr val="8A909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12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3632960" y="4270248"/>
            <a:ext cx="7528255" cy="0"/>
          </a:xfrm>
          <a:prstGeom prst="line">
            <a:avLst/>
          </a:prstGeom>
          <a:noFill/>
          <a:ln w="9525">
            <a:solidFill>
              <a:srgbClr val="D5D9E0"/>
            </a:solidFill>
            <a:prstDash val="solid"/>
          </a:ln>
        </p:spPr>
        <p:txBody>
          <a:bodyPr/>
          <a:p/>
        </p:txBody>
      </p:sp>
      <p:sp>
        <p:nvSpPr>
          <p:cNvPr id="26" name="Text 23"/>
          <p:cNvSpPr txBox="1"/>
          <p:nvPr/>
        </p:nvSpPr>
        <p:spPr>
          <a:xfrm>
            <a:off x="3632960" y="4270248"/>
            <a:ext cx="822960" cy="8961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B9CC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05</a:t>
            </a:r>
            <a:endParaRPr lang="en-US" sz="2800" dirty="0"/>
          </a:p>
        </p:txBody>
      </p:sp>
      <p:sp>
        <p:nvSpPr>
          <p:cNvPr id="27" name="Text 24"/>
          <p:cNvSpPr txBox="1"/>
          <p:nvPr/>
        </p:nvSpPr>
        <p:spPr>
          <a:xfrm>
            <a:off x="4544568" y="4398264"/>
            <a:ext cx="5394960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sz="2100" b="1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商业模式与获客</a:t>
            </a:r>
            <a:endParaRPr lang="en-US" sz="2100" dirty="0"/>
          </a:p>
        </p:txBody>
      </p:sp>
      <p:sp>
        <p:nvSpPr>
          <p:cNvPr id="29" name="Text 26"/>
          <p:cNvSpPr txBox="1"/>
          <p:nvPr/>
        </p:nvSpPr>
        <p:spPr>
          <a:xfrm>
            <a:off x="10063935" y="4270248"/>
            <a:ext cx="1097280" cy="8961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1600" b="1">
                <a:solidFill>
                  <a:srgbClr val="8A909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13–14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3632960" y="5166360"/>
            <a:ext cx="7528255" cy="0"/>
          </a:xfrm>
          <a:prstGeom prst="line">
            <a:avLst/>
          </a:prstGeom>
          <a:noFill/>
          <a:ln w="9525">
            <a:solidFill>
              <a:srgbClr val="D5D9E0"/>
            </a:solidFill>
            <a:prstDash val="solid"/>
          </a:ln>
        </p:spPr>
        <p:txBody>
          <a:bodyPr/>
          <a:p/>
        </p:txBody>
      </p:sp>
      <p:sp>
        <p:nvSpPr>
          <p:cNvPr id="31" name="Text 28"/>
          <p:cNvSpPr txBox="1"/>
          <p:nvPr/>
        </p:nvSpPr>
        <p:spPr>
          <a:xfrm>
            <a:off x="3632960" y="5166360"/>
            <a:ext cx="822960" cy="8961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B9CC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06</a:t>
            </a:r>
            <a:endParaRPr lang="en-US" sz="2800" dirty="0"/>
          </a:p>
        </p:txBody>
      </p:sp>
      <p:sp>
        <p:nvSpPr>
          <p:cNvPr id="32" name="Text 29"/>
          <p:cNvSpPr txBox="1"/>
          <p:nvPr/>
        </p:nvSpPr>
        <p:spPr>
          <a:xfrm>
            <a:off x="4544568" y="5294376"/>
            <a:ext cx="5394960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sz="2100" b="1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市场战略与资金</a:t>
            </a:r>
            <a:endParaRPr lang="en-US" sz="2100" dirty="0"/>
          </a:p>
        </p:txBody>
      </p:sp>
      <p:sp>
        <p:nvSpPr>
          <p:cNvPr id="34" name="Text 31"/>
          <p:cNvSpPr txBox="1"/>
          <p:nvPr/>
        </p:nvSpPr>
        <p:spPr>
          <a:xfrm>
            <a:off x="10063935" y="5166360"/>
            <a:ext cx="1097280" cy="8961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1600" b="1">
                <a:solidFill>
                  <a:srgbClr val="8A909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15–16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548640" y="6382512"/>
            <a:ext cx="11094415" cy="0"/>
          </a:xfrm>
          <a:prstGeom prst="line">
            <a:avLst/>
          </a:prstGeom>
          <a:noFill/>
          <a:ln w="9525">
            <a:solidFill>
              <a:srgbClr val="D5D9E0"/>
            </a:solidFill>
            <a:prstDash val="solid"/>
          </a:ln>
        </p:spPr>
        <p:txBody>
          <a:bodyPr/>
          <a:p/>
        </p:txBody>
      </p:sp>
      <p:sp>
        <p:nvSpPr>
          <p:cNvPr id="36" name="Text 33"/>
          <p:cNvSpPr txBox="1"/>
          <p:nvPr/>
        </p:nvSpPr>
        <p:spPr>
          <a:xfrm>
            <a:off x="10543032" y="6437376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1200" b="1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03</a:t>
            </a:r>
            <a:r>
              <a:rPr sz="1200" b="0">
                <a:solidFill>
                  <a:srgbClr val="8A909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 / 16</a:t>
            </a:r>
            <a:endParaRPr lang="en-US" sz="1200" dirty="0"/>
          </a:p>
        </p:txBody>
      </p:sp>
      <p:sp>
        <p:nvSpPr>
          <p:cNvPr id="37" name="TextBox 36"/>
          <p:cNvSpPr txBox="1"/>
          <p:nvPr/>
        </p:nvSpPr>
        <p:spPr>
          <a:xfrm>
            <a:off x="4544568" y="1207007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5B62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首批观众为何观看并回访</a:t>
            </a:r>
            <a:endParaRPr sz="1400" b="0">
              <a:solidFill>
                <a:srgbClr val="5B62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4544568" y="210312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5B62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已有 VUP 观众是切入口，差异待验证</a:t>
            </a:r>
            <a:endParaRPr sz="1400" b="0">
              <a:solidFill>
                <a:srgbClr val="5B62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4544568" y="2999232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5B62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AI 自主直播 · MVP · 人机共播 · 观众验证 · 技术 · 关键问题</a:t>
            </a:r>
            <a:endParaRPr sz="1400" b="0">
              <a:solidFill>
                <a:srgbClr val="5B62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4544568" y="3895344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5B62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核心成员与关键岗位</a:t>
            </a:r>
            <a:endParaRPr sz="1400" b="0">
              <a:solidFill>
                <a:srgbClr val="5B62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4544568" y="4791456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5B62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先验证打赏与会员；B站主阵地与回访</a:t>
            </a:r>
            <a:endParaRPr sz="1400" b="0">
              <a:solidFill>
                <a:srgbClr val="5B62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4544568" y="5687568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5B62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46,200 元预算与验收里程碑</a:t>
            </a:r>
            <a:endParaRPr sz="1400" b="0">
              <a:solidFill>
                <a:srgbClr val="5B62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886968" y="2743200"/>
            <a:ext cx="25603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2459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开篇</a:t>
            </a:r>
            <a:endParaRPr sz="1500" b="1">
              <a:solidFill>
                <a:srgbClr val="2459D6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5B62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项目摘要 · 02</a:t>
            </a:r>
            <a:endParaRPr sz="1500" b="0">
              <a:solidFill>
                <a:srgbClr val="5B62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459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01 项目背景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3200" b="1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首批观众为何观看并回访姬岁歌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1600200"/>
            <a:ext cx="0" cy="1417320"/>
          </a:xfrm>
          <a:prstGeom prst="line">
            <a:avLst/>
          </a:prstGeom>
          <a:noFill/>
          <a:ln w="38100">
            <a:solidFill>
              <a:srgbClr val="2459D6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777240" y="160020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sz="1600" b="1">
                <a:solidFill>
                  <a:srgbClr val="2459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目标观众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011680"/>
            <a:ext cx="4572000" cy="1005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sz="1800" b="0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已有 VUP</a:t>
            </a:r>
            <a:r>
              <a:rPr lang="zh-CN" sz="1800" b="0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或</a:t>
            </a:r>
            <a:r>
              <a:rPr lang="en-US" altLang="zh-CN" sz="1800" b="0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Vtuber</a:t>
            </a:r>
            <a:r>
              <a:rPr sz="1800" b="0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 观看习惯</a:t>
            </a:r>
            <a:endParaRPr lang="en-US" sz="1900" dirty="0">
              <a:solidFill>
                <a:srgbClr val="1F2329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0"/>
            </a:endParaRPr>
          </a:p>
          <a:p>
            <a:pPr algn="l"/>
            <a:r>
              <a:rPr sz="1800" b="0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爱看游戏挑战与搭档互动</a:t>
            </a:r>
            <a:endParaRPr sz="1800" b="0">
              <a:solidFill>
                <a:srgbClr val="1F2329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  <a:p>
            <a:pPr algn="l"/>
            <a:r>
              <a:rPr sz="1800" b="0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愿意追看角色的连续事件</a:t>
            </a:r>
            <a:endParaRPr sz="1800" b="0">
              <a:solidFill>
                <a:srgbClr val="1F2329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8" name="Shape 5"/>
          <p:cNvSpPr/>
          <p:nvPr/>
        </p:nvSpPr>
        <p:spPr>
          <a:xfrm>
            <a:off x="548640" y="3291840"/>
            <a:ext cx="0" cy="1417320"/>
          </a:xfrm>
          <a:prstGeom prst="line">
            <a:avLst/>
          </a:prstGeom>
          <a:noFill/>
          <a:ln w="38100">
            <a:solidFill>
              <a:srgbClr val="D5D9E0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 txBox="1"/>
          <p:nvPr/>
        </p:nvSpPr>
        <p:spPr>
          <a:xfrm>
            <a:off x="777240" y="329184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sz="1600" b="1">
                <a:solidFill>
                  <a:srgbClr val="2459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观看动机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3703320"/>
            <a:ext cx="4572000" cy="1005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zh-CN" altLang="en-US" sz="1900" dirty="0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角色双人格反差</a:t>
            </a:r>
            <a:endParaRPr lang="en-US" altLang="zh-CN" sz="1900" dirty="0">
              <a:solidFill>
                <a:srgbClr val="1F2329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0"/>
            </a:endParaRPr>
          </a:p>
          <a:p>
            <a:pPr algn="l"/>
            <a:r>
              <a:rPr sz="1800" b="0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临场互动：主持人设局，AI 接梗</a:t>
            </a:r>
            <a:endParaRPr sz="1800" b="0">
              <a:solidFill>
                <a:srgbClr val="1F2329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  <a:p>
            <a:pPr algn="l"/>
            <a:r>
              <a:rPr lang="zh-CN" sz="1800" b="0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直播粘性：姬岁歌的预告与承诺</a:t>
            </a:r>
            <a:endParaRPr lang="zh-CN" sz="1800" b="0">
              <a:solidFill>
                <a:srgbClr val="1F2329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5775808" y="1691640"/>
            <a:ext cx="2606040" cy="1143000"/>
          </a:xfrm>
          <a:prstGeom prst="roundRect">
            <a:avLst>
              <a:gd name="adj" fmla="val 6400"/>
            </a:avLst>
          </a:prstGeom>
          <a:solidFill>
            <a:srgbClr val="2459D6"/>
          </a:solidFill>
        </p:spPr>
        <p:txBody>
          <a:bodyPr/>
          <a:p/>
        </p:txBody>
      </p:sp>
      <p:sp>
        <p:nvSpPr>
          <p:cNvPr id="15" name="Text 12"/>
          <p:cNvSpPr txBox="1"/>
          <p:nvPr/>
        </p:nvSpPr>
        <p:spPr>
          <a:xfrm>
            <a:off x="5958688" y="1856232"/>
            <a:ext cx="2240280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主持人设局造梗</a:t>
            </a:r>
            <a:endParaRPr lang="en-US" sz="1900" dirty="0"/>
          </a:p>
        </p:txBody>
      </p:sp>
      <p:sp>
        <p:nvSpPr>
          <p:cNvPr id="16" name="Text 13"/>
          <p:cNvSpPr txBox="1"/>
          <p:nvPr/>
        </p:nvSpPr>
        <p:spPr>
          <a:xfrm>
            <a:off x="5958688" y="2313432"/>
            <a:ext cx="224028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E8EEF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挑战 · 玩笑 · 追问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9021928" y="1691640"/>
            <a:ext cx="26060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22225">
            <a:solidFill>
              <a:srgbClr val="2459D6"/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 txBox="1"/>
          <p:nvPr/>
        </p:nvSpPr>
        <p:spPr>
          <a:xfrm>
            <a:off x="9204808" y="1856232"/>
            <a:ext cx="2240280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sz="1900" b="1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AI 角色回应</a:t>
            </a:r>
            <a:endParaRPr lang="en-US" sz="1900" dirty="0"/>
          </a:p>
        </p:txBody>
      </p:sp>
      <p:sp>
        <p:nvSpPr>
          <p:cNvPr id="19" name="Text 16"/>
          <p:cNvSpPr txBox="1"/>
          <p:nvPr/>
        </p:nvSpPr>
        <p:spPr>
          <a:xfrm>
            <a:off x="9204808" y="2313432"/>
            <a:ext cx="224028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sz="1500" b="0">
                <a:solidFill>
                  <a:srgbClr val="5B62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按岁 / 歌性格作选择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9021928" y="3749040"/>
            <a:ext cx="26060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</p:spPr>
        <p:txBody>
          <a:bodyPr/>
          <a:p/>
        </p:txBody>
      </p:sp>
      <p:sp>
        <p:nvSpPr>
          <p:cNvPr id="21" name="Text 18"/>
          <p:cNvSpPr txBox="1"/>
          <p:nvPr/>
        </p:nvSpPr>
        <p:spPr>
          <a:xfrm>
            <a:off x="9204808" y="3913632"/>
            <a:ext cx="2240280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sz="1900" b="1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游戏给出真实结果</a:t>
            </a:r>
            <a:endParaRPr lang="en-US" sz="1900" dirty="0"/>
          </a:p>
        </p:txBody>
      </p:sp>
      <p:sp>
        <p:nvSpPr>
          <p:cNvPr id="22" name="Text 19"/>
          <p:cNvSpPr txBox="1"/>
          <p:nvPr/>
        </p:nvSpPr>
        <p:spPr>
          <a:xfrm>
            <a:off x="9204808" y="4370832"/>
            <a:ext cx="224028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sz="1500" b="0">
                <a:solidFill>
                  <a:srgbClr val="5B62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成功或翻车都在画面里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5775808" y="3749040"/>
            <a:ext cx="26060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</p:spPr>
        <p:txBody>
          <a:bodyPr/>
          <a:p/>
        </p:txBody>
      </p:sp>
      <p:sp>
        <p:nvSpPr>
          <p:cNvPr id="24" name="Text 21"/>
          <p:cNvSpPr txBox="1"/>
          <p:nvPr/>
        </p:nvSpPr>
        <p:spPr>
          <a:xfrm>
            <a:off x="5958688" y="3913632"/>
            <a:ext cx="2240280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sz="1900" b="1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观众参与并回访</a:t>
            </a:r>
            <a:endParaRPr lang="en-US" sz="1900" dirty="0"/>
          </a:p>
        </p:txBody>
      </p:sp>
      <p:sp>
        <p:nvSpPr>
          <p:cNvPr id="25" name="Text 22"/>
          <p:cNvSpPr txBox="1"/>
          <p:nvPr/>
        </p:nvSpPr>
        <p:spPr>
          <a:xfrm>
            <a:off x="5958688" y="4370832"/>
            <a:ext cx="224028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sz="1500" b="0">
                <a:solidFill>
                  <a:srgbClr val="5B62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弹幕投票 · 下场回收</a:t>
            </a:r>
            <a:endParaRPr lang="en-US" sz="1500" dirty="0"/>
          </a:p>
        </p:txBody>
      </p:sp>
      <p:sp>
        <p:nvSpPr>
          <p:cNvPr id="26" name="Shape 23"/>
          <p:cNvSpPr/>
          <p:nvPr/>
        </p:nvSpPr>
        <p:spPr>
          <a:xfrm>
            <a:off x="8400136" y="2263140"/>
            <a:ext cx="603504" cy="0"/>
          </a:xfrm>
          <a:prstGeom prst="line">
            <a:avLst/>
          </a:prstGeom>
          <a:noFill/>
          <a:ln w="25400">
            <a:solidFill>
              <a:srgbClr val="2459D6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7" name="Shape 24"/>
          <p:cNvSpPr/>
          <p:nvPr/>
        </p:nvSpPr>
        <p:spPr>
          <a:xfrm>
            <a:off x="10324948" y="2880360"/>
            <a:ext cx="0" cy="822960"/>
          </a:xfrm>
          <a:prstGeom prst="line">
            <a:avLst/>
          </a:prstGeom>
          <a:noFill/>
          <a:ln w="25400">
            <a:solidFill>
              <a:srgbClr val="2459D6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8" name="Shape 25"/>
          <p:cNvSpPr/>
          <p:nvPr/>
        </p:nvSpPr>
        <p:spPr>
          <a:xfrm flipH="1">
            <a:off x="8400136" y="4320540"/>
            <a:ext cx="603504" cy="0"/>
          </a:xfrm>
          <a:prstGeom prst="line">
            <a:avLst/>
          </a:prstGeom>
          <a:noFill/>
          <a:ln w="25400">
            <a:solidFill>
              <a:srgbClr val="2459D6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9" name="Shape 26"/>
          <p:cNvSpPr/>
          <p:nvPr/>
        </p:nvSpPr>
        <p:spPr>
          <a:xfrm flipV="1">
            <a:off x="7078828" y="2880360"/>
            <a:ext cx="0" cy="822960"/>
          </a:xfrm>
          <a:prstGeom prst="line">
            <a:avLst/>
          </a:prstGeom>
          <a:noFill/>
          <a:ln w="25400">
            <a:solidFill>
              <a:srgbClr val="2459D6"/>
            </a:solidFill>
            <a:prstDash val="dash"/>
            <a:tailEnd type="triangle"/>
          </a:ln>
        </p:spPr>
        <p:txBody>
          <a:bodyPr/>
          <a:p/>
        </p:txBody>
      </p:sp>
      <p:sp>
        <p:nvSpPr>
          <p:cNvPr id="30" name="Text 27"/>
          <p:cNvSpPr txBox="1"/>
          <p:nvPr/>
        </p:nvSpPr>
        <p:spPr>
          <a:xfrm>
            <a:off x="7604608" y="3017520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459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人机共播</a:t>
            </a:r>
            <a:endParaRPr lang="en-US" sz="2200" dirty="0"/>
          </a:p>
        </p:txBody>
      </p:sp>
      <p:sp>
        <p:nvSpPr>
          <p:cNvPr id="31" name="Text 28"/>
          <p:cNvSpPr txBox="1"/>
          <p:nvPr/>
        </p:nvSpPr>
        <p:spPr>
          <a:xfrm>
            <a:off x="6151838" y="3154680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459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下一场回收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548640" y="6382512"/>
            <a:ext cx="11094415" cy="0"/>
          </a:xfrm>
          <a:prstGeom prst="line">
            <a:avLst/>
          </a:prstGeom>
          <a:noFill/>
          <a:ln w="9525">
            <a:solidFill>
              <a:srgbClr val="D5D9E0"/>
            </a:solidFill>
            <a:prstDash val="solid"/>
          </a:ln>
        </p:spPr>
        <p:txBody>
          <a:bodyPr/>
          <a:p/>
        </p:txBody>
      </p:sp>
      <p:sp>
        <p:nvSpPr>
          <p:cNvPr id="35" name="Text 32"/>
          <p:cNvSpPr txBox="1"/>
          <p:nvPr/>
        </p:nvSpPr>
        <p:spPr>
          <a:xfrm>
            <a:off x="10543032" y="6437376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1200" b="1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04</a:t>
            </a:r>
            <a:r>
              <a:rPr sz="1200" b="0">
                <a:solidFill>
                  <a:srgbClr val="8A909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 / 16</a:t>
            </a:r>
            <a:endParaRPr lang="en-US" sz="1200" dirty="0"/>
          </a:p>
        </p:txBody>
      </p:sp>
      <p:cxnSp>
        <p:nvCxnSpPr>
          <p:cNvPr id="36" name="Connector 35"/>
          <p:cNvCxnSpPr/>
          <p:nvPr/>
        </p:nvCxnSpPr>
        <p:spPr>
          <a:xfrm>
            <a:off x="548640" y="4983480"/>
            <a:ext cx="0" cy="1188720"/>
          </a:xfrm>
          <a:prstGeom prst="line">
            <a:avLst/>
          </a:prstGeom>
          <a:ln w="38100">
            <a:solidFill>
              <a:srgbClr val="D5D9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777240" y="498348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2459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初步反馈</a:t>
            </a:r>
            <a:endParaRPr sz="1600" b="1">
              <a:solidFill>
                <a:srgbClr val="2459D6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777240" y="5394960"/>
            <a:ext cx="45720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5 名路人观众偏好整活与联动内容（口头，初步定性，非正式验证）</a:t>
            </a:r>
            <a:endParaRPr sz="1600" b="0">
              <a:solidFill>
                <a:srgbClr val="1F2329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5779008" y="5074920"/>
            <a:ext cx="5861304" cy="1188720"/>
          </a:xfrm>
          <a:prstGeom prst="roundRect">
            <a:avLst>
              <a:gd name="adj" fmla="val 6000"/>
            </a:avLst>
          </a:prstGeom>
          <a:solidFill>
            <a:srgbClr val="EAF0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 29"/>
          <p:cNvSpPr txBox="1"/>
          <p:nvPr/>
        </p:nvSpPr>
        <p:spPr>
          <a:xfrm>
            <a:off x="5943600" y="5166360"/>
            <a:ext cx="5559552" cy="1051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sz="1350" b="1">
                <a:solidFill>
                  <a:srgbClr val="2459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节目设计示例  </a:t>
            </a:r>
            <a:r>
              <a:rPr sz="1350" b="0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主持人立规则“谁先做出木剑谁当队长”，AI 按角色决定先砍树还是先合成，弹幕投票下一步，下一场开播先清算队长约定。</a:t>
            </a:r>
            <a:endParaRPr lang="en-US" sz="1400" dirty="0"/>
          </a:p>
          <a:p>
            <a:pPr algn="l">
              <a:spcAft>
                <a:spcPts val="400"/>
              </a:spcAft>
            </a:pPr>
            <a:r>
              <a:rPr sz="1350" b="1">
                <a:solidFill>
                  <a:srgbClr val="2459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待观测行为  </a:t>
            </a:r>
            <a:r>
              <a:rPr sz="1350" b="0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看完片段 · 主动互动 · 自愿回到下一场 · 记住角色与事件</a:t>
            </a:r>
            <a:endParaRPr sz="1350" b="0">
              <a:solidFill>
                <a:srgbClr val="1F2329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459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02 市场规模与竞品分析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548640" y="6382512"/>
            <a:ext cx="11094415" cy="0"/>
          </a:xfrm>
          <a:prstGeom prst="line">
            <a:avLst/>
          </a:prstGeom>
          <a:noFill/>
          <a:ln w="9525">
            <a:solidFill>
              <a:srgbClr val="D5D9E0"/>
            </a:solidFill>
            <a:prstDash val="solid"/>
          </a:ln>
        </p:spPr>
        <p:txBody>
          <a:bodyPr/>
          <a:p/>
        </p:txBody>
      </p:sp>
      <p:sp>
        <p:nvSpPr>
          <p:cNvPr id="21" name="Text 16"/>
          <p:cNvSpPr txBox="1"/>
          <p:nvPr/>
        </p:nvSpPr>
        <p:spPr>
          <a:xfrm>
            <a:off x="10543032" y="6437376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1200" b="1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05</a:t>
            </a:r>
            <a:r>
              <a:rPr sz="1200" b="0">
                <a:solidFill>
                  <a:srgbClr val="8A909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 / 16</a:t>
            </a:r>
            <a:endParaRPr lang="en-US" sz="1200" dirty="0"/>
          </a:p>
        </p:txBody>
      </p:sp>
      <p:sp>
        <p:nvSpPr>
          <p:cNvPr id="101" name="title"/>
          <p:cNvSpPr>
            <a:spLocks noGrp="1"/>
          </p:cNvSpPr>
          <p:nvPr/>
        </p:nvSpPr>
        <p:spPr>
          <a:xfrm>
            <a:off x="552450" y="742950"/>
            <a:ext cx="11096625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/>
          <a:lstStyle>
            <a:defPPr>
              <a:defRPr lang="zh-CN" sz="2850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defPPr>
            <a:lvl1pPr>
              <a:defRPr lang="zh-CN" sz="2850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1pPr>
            <a:lvl2pPr>
              <a:defRPr lang="zh-CN" sz="2850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2pPr>
            <a:lvl3pPr>
              <a:defRPr lang="zh-CN" sz="2850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3pPr>
            <a:lvl4pPr>
              <a:defRPr lang="zh-CN" sz="2850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4pPr>
            <a:lvl5pPr>
              <a:defRPr lang="zh-CN" sz="2850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5pPr>
            <a:lvl6pPr>
              <a:defRPr lang="zh-CN" sz="2850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6pPr>
            <a:lvl7pPr>
              <a:defRPr lang="zh-CN" sz="2850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7pPr>
            <a:lvl8pPr>
              <a:defRPr lang="zh-CN" sz="2850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8pPr>
            <a:lvl9pPr>
              <a:defRPr lang="zh-CN" sz="2850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9pPr>
          </a:lstStyle>
          <a:p>
            <a:pPr algn="l">
              <a:defRPr lang="zh-CN" sz="2850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pPr>
            <a:r>
              <a:rPr sz="2850" b="1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已有 VUP 观众是切入口，节目差异仍需真实观看验证</a:t>
            </a:r>
            <a:endParaRPr sz="2850" b="1">
              <a:solidFill>
                <a:srgbClr val="1F2329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02" name="data-heading"/>
          <p:cNvSpPr>
            <a:spLocks noGrp="1"/>
          </p:cNvSpPr>
          <p:nvPr/>
        </p:nvSpPr>
        <p:spPr>
          <a:xfrm>
            <a:off x="552450" y="1676400"/>
            <a:ext cx="309562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lang="zh-CN" sz="1800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defPPr>
            <a:lvl1pPr>
              <a:defRPr lang="zh-CN" sz="1800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1pPr>
            <a:lvl2pPr>
              <a:defRPr lang="zh-CN" sz="1800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2pPr>
            <a:lvl3pPr>
              <a:defRPr lang="zh-CN" sz="1800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3pPr>
            <a:lvl4pPr>
              <a:defRPr lang="zh-CN" sz="1800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4pPr>
            <a:lvl5pPr>
              <a:defRPr lang="zh-CN" sz="1800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5pPr>
            <a:lvl6pPr>
              <a:defRPr lang="zh-CN" sz="1800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6pPr>
            <a:lvl7pPr>
              <a:defRPr lang="zh-CN" sz="1800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7pPr>
            <a:lvl8pPr>
              <a:defRPr lang="zh-CN" sz="1800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8pPr>
            <a:lvl9pPr>
              <a:defRPr lang="zh-CN" sz="1800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9pPr>
          </a:lstStyle>
          <a:p>
            <a:pPr>
              <a:defRPr lang="zh-CN" sz="1800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pPr>
            <a:r>
              <a:rPr lang="zh-CN" sz="1800" b="1" dirty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已有受众基础</a:t>
            </a:r>
            <a:endParaRPr lang="zh-CN" sz="1800" b="1" dirty="0">
              <a:solidFill>
                <a:srgbClr val="20252B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03" name="watch-percent"/>
          <p:cNvSpPr>
            <a:spLocks noGrp="1"/>
          </p:cNvSpPr>
          <p:nvPr/>
        </p:nvSpPr>
        <p:spPr>
          <a:xfrm>
            <a:off x="552450" y="2238375"/>
            <a:ext cx="3048000" cy="733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lang="zh-CN" sz="450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defPPr>
            <a:lvl1pPr>
              <a:defRPr lang="zh-CN" sz="450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1pPr>
            <a:lvl2pPr>
              <a:defRPr lang="zh-CN" sz="450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2pPr>
            <a:lvl3pPr>
              <a:defRPr lang="zh-CN" sz="450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3pPr>
            <a:lvl4pPr>
              <a:defRPr lang="zh-CN" sz="450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4pPr>
            <a:lvl5pPr>
              <a:defRPr lang="zh-CN" sz="450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5pPr>
            <a:lvl6pPr>
              <a:defRPr lang="zh-CN" sz="450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6pPr>
            <a:lvl7pPr>
              <a:defRPr lang="zh-CN" sz="450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7pPr>
            <a:lvl8pPr>
              <a:defRPr lang="zh-CN" sz="450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8pPr>
            <a:lvl9pPr>
              <a:defRPr lang="zh-CN" sz="450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9pPr>
          </a:lstStyle>
          <a:p>
            <a:pPr>
              <a:defRPr lang="zh-CN" sz="450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pPr>
            <a:r>
              <a:rPr lang="zh-CN" sz="450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43.5%</a:t>
            </a:r>
            <a:endParaRPr lang="zh-CN" sz="4500" b="1">
              <a:solidFill>
                <a:srgbClr val="2455D6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04" name="watch-desc"/>
          <p:cNvSpPr>
            <a:spLocks noGrp="1"/>
          </p:cNvSpPr>
          <p:nvPr/>
        </p:nvSpPr>
        <p:spPr>
          <a:xfrm>
            <a:off x="552450" y="3028950"/>
            <a:ext cx="3095625" cy="647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lang="zh-CN" sz="1725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defPPr>
            <a:lvl1pPr>
              <a:defRPr lang="zh-CN" sz="1725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1pPr>
            <a:lvl2pPr>
              <a:defRPr lang="zh-CN" sz="1725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2pPr>
            <a:lvl3pPr>
              <a:defRPr lang="zh-CN" sz="1725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3pPr>
            <a:lvl4pPr>
              <a:defRPr lang="zh-CN" sz="1725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4pPr>
            <a:lvl5pPr>
              <a:defRPr lang="zh-CN" sz="1725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5pPr>
            <a:lvl6pPr>
              <a:defRPr lang="zh-CN" sz="1725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6pPr>
            <a:lvl7pPr>
              <a:defRPr lang="zh-CN" sz="1725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7pPr>
            <a:lvl8pPr>
              <a:defRPr lang="zh-CN" sz="1725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8pPr>
            <a:lvl9pPr>
              <a:defRPr lang="zh-CN" sz="1725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9pPr>
          </a:lstStyle>
          <a:p>
            <a:pPr>
              <a:defRPr lang="zh-CN" sz="1725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pPr>
            <a:r>
              <a:rPr lang="zh-CN" sz="1725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在 B站浏览 VUP</a:t>
            </a:r>
            <a:endParaRPr lang="zh-CN" sz="1725" b="0">
              <a:solidFill>
                <a:srgbClr val="20252B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  <a:p>
            <a:pPr>
              <a:defRPr lang="zh-CN" sz="1725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pPr>
            <a:r>
              <a:rPr lang="zh-CN" sz="1725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直播或录播内容</a:t>
            </a:r>
            <a:endParaRPr lang="zh-CN" sz="1725" b="0">
              <a:solidFill>
                <a:srgbClr val="20252B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05" name="pay-percent"/>
          <p:cNvSpPr>
            <a:spLocks noGrp="1"/>
          </p:cNvSpPr>
          <p:nvPr/>
        </p:nvSpPr>
        <p:spPr>
          <a:xfrm>
            <a:off x="552450" y="4029075"/>
            <a:ext cx="3048000" cy="733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lang="zh-CN" sz="450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defPPr>
            <a:lvl1pPr>
              <a:defRPr lang="zh-CN" sz="450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1pPr>
            <a:lvl2pPr>
              <a:defRPr lang="zh-CN" sz="450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2pPr>
            <a:lvl3pPr>
              <a:defRPr lang="zh-CN" sz="450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3pPr>
            <a:lvl4pPr>
              <a:defRPr lang="zh-CN" sz="450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4pPr>
            <a:lvl5pPr>
              <a:defRPr lang="zh-CN" sz="450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5pPr>
            <a:lvl6pPr>
              <a:defRPr lang="zh-CN" sz="450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6pPr>
            <a:lvl7pPr>
              <a:defRPr lang="zh-CN" sz="450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7pPr>
            <a:lvl8pPr>
              <a:defRPr lang="zh-CN" sz="450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8pPr>
            <a:lvl9pPr>
              <a:defRPr lang="zh-CN" sz="450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9pPr>
          </a:lstStyle>
          <a:p>
            <a:pPr>
              <a:defRPr lang="zh-CN" sz="450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pPr>
            <a:r>
              <a:rPr lang="zh-CN" sz="450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18.5%</a:t>
            </a:r>
            <a:endParaRPr lang="zh-CN" sz="4500" b="1">
              <a:solidFill>
                <a:srgbClr val="2455D6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06" name="pay-desc"/>
          <p:cNvSpPr>
            <a:spLocks noGrp="1"/>
          </p:cNvSpPr>
          <p:nvPr/>
        </p:nvSpPr>
        <p:spPr>
          <a:xfrm>
            <a:off x="552450" y="4819650"/>
            <a:ext cx="3095625" cy="647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lang="zh-CN" sz="1725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defPPr>
            <a:lvl1pPr>
              <a:defRPr lang="zh-CN" sz="1725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1pPr>
            <a:lvl2pPr>
              <a:defRPr lang="zh-CN" sz="1725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2pPr>
            <a:lvl3pPr>
              <a:defRPr lang="zh-CN" sz="1725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3pPr>
            <a:lvl4pPr>
              <a:defRPr lang="zh-CN" sz="1725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4pPr>
            <a:lvl5pPr>
              <a:defRPr lang="zh-CN" sz="1725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5pPr>
            <a:lvl6pPr>
              <a:defRPr lang="zh-CN" sz="1725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6pPr>
            <a:lvl7pPr>
              <a:defRPr lang="zh-CN" sz="1725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7pPr>
            <a:lvl8pPr>
              <a:defRPr lang="zh-CN" sz="1725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8pPr>
            <a:lvl9pPr>
              <a:defRPr lang="zh-CN" sz="1725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9pPr>
          </a:lstStyle>
          <a:p>
            <a:pPr>
              <a:defRPr lang="zh-CN" sz="1725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pPr>
            <a:r>
              <a:rPr lang="zh-CN" sz="1725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曾在 B站为 VUP</a:t>
            </a:r>
            <a:endParaRPr lang="zh-CN" sz="1725" b="0">
              <a:solidFill>
                <a:srgbClr val="20252B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  <a:p>
            <a:pPr>
              <a:defRPr lang="zh-CN" sz="1725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pPr>
            <a:r>
              <a:rPr lang="zh-CN" sz="1725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打赏或充电</a:t>
            </a:r>
            <a:endParaRPr lang="zh-CN" sz="1725" b="0">
              <a:solidFill>
                <a:srgbClr val="20252B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07" name="sample-note"/>
          <p:cNvSpPr>
            <a:spLocks noGrp="1"/>
          </p:cNvSpPr>
          <p:nvPr/>
        </p:nvSpPr>
        <p:spPr>
          <a:xfrm>
            <a:off x="548640" y="5669280"/>
            <a:ext cx="3474720" cy="56692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/>
          <a:lstStyle>
            <a:defPPr>
              <a:defRPr lang="zh-CN" sz="1125" b="0">
                <a:solidFill>
                  <a:srgbClr val="737D9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defPPr>
            <a:lvl1pPr>
              <a:defRPr lang="zh-CN" sz="1125" b="0">
                <a:solidFill>
                  <a:srgbClr val="737D9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1pPr>
            <a:lvl2pPr>
              <a:defRPr lang="zh-CN" sz="1125" b="0">
                <a:solidFill>
                  <a:srgbClr val="737D9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2pPr>
            <a:lvl3pPr>
              <a:defRPr lang="zh-CN" sz="1125" b="0">
                <a:solidFill>
                  <a:srgbClr val="737D9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3pPr>
            <a:lvl4pPr>
              <a:defRPr lang="zh-CN" sz="1125" b="0">
                <a:solidFill>
                  <a:srgbClr val="737D9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4pPr>
            <a:lvl5pPr>
              <a:defRPr lang="zh-CN" sz="1125" b="0">
                <a:solidFill>
                  <a:srgbClr val="737D9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5pPr>
            <a:lvl6pPr>
              <a:defRPr lang="zh-CN" sz="1125" b="0">
                <a:solidFill>
                  <a:srgbClr val="737D9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6pPr>
            <a:lvl7pPr>
              <a:defRPr lang="zh-CN" sz="1125" b="0">
                <a:solidFill>
                  <a:srgbClr val="737D9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7pPr>
            <a:lvl8pPr>
              <a:defRPr lang="zh-CN" sz="1125" b="0">
                <a:solidFill>
                  <a:srgbClr val="737D9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8pPr>
            <a:lvl9pPr>
              <a:defRPr lang="zh-CN" sz="1125" b="0">
                <a:solidFill>
                  <a:srgbClr val="737D9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9pPr>
          </a:lstStyle>
          <a:p>
            <a:pPr algn="l">
              <a:defRPr lang="zh-CN" sz="1125" b="0">
                <a:solidFill>
                  <a:srgbClr val="737D9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pPr>
            <a:r>
              <a:rPr sz="1100" b="0">
                <a:solidFill>
                  <a:srgbClr val="8A909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2025 年 CTR B站年轻人调研，N=4,056</a:t>
            </a:r>
            <a:endParaRPr sz="1100" b="0">
              <a:solidFill>
                <a:srgbClr val="8A909C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  <a:p>
            <a:pPr algn="l"/>
            <a:r>
              <a:rPr sz="1100" b="0">
                <a:solidFill>
                  <a:srgbClr val="8A909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两项为不同问题的受访样本比例，不相乘、不外推人数</a:t>
            </a:r>
            <a:endParaRPr sz="1100" b="0">
              <a:solidFill>
                <a:srgbClr val="8A909C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08" name="competitor-frame-0"/>
          <p:cNvSpPr>
            <a:spLocks noGrp="1"/>
          </p:cNvSpPr>
          <p:nvPr/>
        </p:nvSpPr>
        <p:spPr>
          <a:xfrm>
            <a:off x="4114800" y="1676400"/>
            <a:ext cx="3562350" cy="2076450"/>
          </a:xfrm>
          <a:prstGeom prst="rect">
            <a:avLst/>
          </a:prstGeom>
          <a:solidFill>
            <a:srgbClr val="FFFFFF"/>
          </a:solidFill>
          <a:ln w="9525">
            <a:solidFill>
              <a:srgbClr val="CDD7EB"/>
            </a:solidFill>
          </a:ln>
        </p:spPr>
      </p:sp>
      <p:sp>
        <p:nvSpPr>
          <p:cNvPr id="109" name="number-0"/>
          <p:cNvSpPr>
            <a:spLocks noGrp="1"/>
          </p:cNvSpPr>
          <p:nvPr/>
        </p:nvSpPr>
        <p:spPr>
          <a:xfrm>
            <a:off x="4305300" y="1838325"/>
            <a:ext cx="33337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lang="zh-CN" sz="225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defPPr>
            <a:lvl1pPr>
              <a:defRPr lang="zh-CN" sz="225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1pPr>
            <a:lvl2pPr>
              <a:defRPr lang="zh-CN" sz="225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2pPr>
            <a:lvl3pPr>
              <a:defRPr lang="zh-CN" sz="225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3pPr>
            <a:lvl4pPr>
              <a:defRPr lang="zh-CN" sz="225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4pPr>
            <a:lvl5pPr>
              <a:defRPr lang="zh-CN" sz="225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5pPr>
            <a:lvl6pPr>
              <a:defRPr lang="zh-CN" sz="225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6pPr>
            <a:lvl7pPr>
              <a:defRPr lang="zh-CN" sz="225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7pPr>
            <a:lvl8pPr>
              <a:defRPr lang="zh-CN" sz="225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8pPr>
            <a:lvl9pPr>
              <a:defRPr lang="zh-CN" sz="225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9pPr>
          </a:lstStyle>
          <a:p>
            <a:pPr>
              <a:defRPr lang="zh-CN" sz="225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pPr>
            <a:r>
              <a:rPr lang="zh-CN" sz="225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1</a:t>
            </a:r>
            <a:endParaRPr lang="zh-CN" sz="2250" b="1">
              <a:solidFill>
                <a:srgbClr val="2455D6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10" name="layer-0"/>
          <p:cNvSpPr>
            <a:spLocks noGrp="1"/>
          </p:cNvSpPr>
          <p:nvPr/>
        </p:nvSpPr>
        <p:spPr>
          <a:xfrm>
            <a:off x="4705350" y="1905000"/>
            <a:ext cx="279082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/>
          <a:lstStyle>
            <a:defPPr>
              <a:defRPr lang="zh-CN" sz="1350" b="1">
                <a:solidFill>
                  <a:srgbClr val="59677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defPPr>
            <a:lvl1pPr>
              <a:defRPr lang="zh-CN" sz="1350" b="1">
                <a:solidFill>
                  <a:srgbClr val="59677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1pPr>
            <a:lvl2pPr>
              <a:defRPr lang="zh-CN" sz="1350" b="1">
                <a:solidFill>
                  <a:srgbClr val="59677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2pPr>
            <a:lvl3pPr>
              <a:defRPr lang="zh-CN" sz="1350" b="1">
                <a:solidFill>
                  <a:srgbClr val="59677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3pPr>
            <a:lvl4pPr>
              <a:defRPr lang="zh-CN" sz="1350" b="1">
                <a:solidFill>
                  <a:srgbClr val="59677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4pPr>
            <a:lvl5pPr>
              <a:defRPr lang="zh-CN" sz="1350" b="1">
                <a:solidFill>
                  <a:srgbClr val="59677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5pPr>
            <a:lvl6pPr>
              <a:defRPr lang="zh-CN" sz="1350" b="1">
                <a:solidFill>
                  <a:srgbClr val="59677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6pPr>
            <a:lvl7pPr>
              <a:defRPr lang="zh-CN" sz="1350" b="1">
                <a:solidFill>
                  <a:srgbClr val="59677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7pPr>
            <a:lvl8pPr>
              <a:defRPr lang="zh-CN" sz="1350" b="1">
                <a:solidFill>
                  <a:srgbClr val="59677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8pPr>
            <a:lvl9pPr>
              <a:defRPr lang="zh-CN" sz="1350" b="1">
                <a:solidFill>
                  <a:srgbClr val="59677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9pPr>
          </a:lstStyle>
          <a:p>
            <a:pPr algn="l">
              <a:defRPr lang="zh-CN" sz="1350" b="1">
                <a:solidFill>
                  <a:srgbClr val="59677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pPr>
            <a:r>
              <a:rPr sz="1350" b="1">
                <a:solidFill>
                  <a:srgbClr val="2459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直接竞争 · 海外 AI 主播</a:t>
            </a:r>
            <a:endParaRPr sz="1350" b="1">
              <a:solidFill>
                <a:srgbClr val="2459D6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11" name="representative-0"/>
          <p:cNvSpPr>
            <a:spLocks noGrp="1"/>
          </p:cNvSpPr>
          <p:nvPr/>
        </p:nvSpPr>
        <p:spPr>
          <a:xfrm>
            <a:off x="4305300" y="2362200"/>
            <a:ext cx="31813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lang="zh-CN" sz="2025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defPPr>
            <a:lvl1pPr>
              <a:defRPr lang="zh-CN" sz="2025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1pPr>
            <a:lvl2pPr>
              <a:defRPr lang="zh-CN" sz="2025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2pPr>
            <a:lvl3pPr>
              <a:defRPr lang="zh-CN" sz="2025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3pPr>
            <a:lvl4pPr>
              <a:defRPr lang="zh-CN" sz="2025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4pPr>
            <a:lvl5pPr>
              <a:defRPr lang="zh-CN" sz="2025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5pPr>
            <a:lvl6pPr>
              <a:defRPr lang="zh-CN" sz="2025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6pPr>
            <a:lvl7pPr>
              <a:defRPr lang="zh-CN" sz="2025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7pPr>
            <a:lvl8pPr>
              <a:defRPr lang="zh-CN" sz="2025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8pPr>
            <a:lvl9pPr>
              <a:defRPr lang="zh-CN" sz="2025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9pPr>
          </a:lstStyle>
          <a:p>
            <a:pPr>
              <a:defRPr lang="zh-CN" sz="2025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pPr>
            <a:r>
              <a:rPr lang="zh-CN" sz="2025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Neuro-sama</a:t>
            </a:r>
            <a:endParaRPr lang="zh-CN" sz="2025" b="1">
              <a:solidFill>
                <a:srgbClr val="20252B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12" name="difference-label-0"/>
          <p:cNvSpPr>
            <a:spLocks noGrp="1"/>
          </p:cNvSpPr>
          <p:nvPr/>
        </p:nvSpPr>
        <p:spPr>
          <a:xfrm>
            <a:off x="4305300" y="3139440"/>
            <a:ext cx="31813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/>
          <a:lstStyle>
            <a:defPPr>
              <a:defRPr lang="zh-CN" sz="120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defPPr>
            <a:lvl1pPr>
              <a:defRPr lang="zh-CN" sz="120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1pPr>
            <a:lvl2pPr>
              <a:defRPr lang="zh-CN" sz="120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2pPr>
            <a:lvl3pPr>
              <a:defRPr lang="zh-CN" sz="120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3pPr>
            <a:lvl4pPr>
              <a:defRPr lang="zh-CN" sz="120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4pPr>
            <a:lvl5pPr>
              <a:defRPr lang="zh-CN" sz="120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5pPr>
            <a:lvl6pPr>
              <a:defRPr lang="zh-CN" sz="120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6pPr>
            <a:lvl7pPr>
              <a:defRPr lang="zh-CN" sz="120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7pPr>
            <a:lvl8pPr>
              <a:defRPr lang="zh-CN" sz="120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8pPr>
            <a:lvl9pPr>
              <a:defRPr lang="zh-CN" sz="120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9pPr>
          </a:lstStyle>
          <a:p>
            <a:pPr algn="l">
              <a:defRPr lang="zh-CN" sz="120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pPr>
            <a:r>
              <a:rPr sz="1200" b="1">
                <a:solidFill>
                  <a:srgbClr val="2459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姬岁歌拟差异</a:t>
            </a:r>
            <a:endParaRPr sz="1200" b="1">
              <a:solidFill>
                <a:srgbClr val="2459D6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13" name="difference-0"/>
          <p:cNvSpPr>
            <a:spLocks noGrp="1"/>
          </p:cNvSpPr>
          <p:nvPr/>
        </p:nvSpPr>
        <p:spPr>
          <a:xfrm>
            <a:off x="4305300" y="3413760"/>
            <a:ext cx="3181350" cy="29260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/>
          <a:lstStyle>
            <a:defPPr>
              <a:defRPr lang="zh-CN" sz="1650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defPPr>
            <a:lvl1pPr>
              <a:defRPr lang="zh-CN" sz="1650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1pPr>
            <a:lvl2pPr>
              <a:defRPr lang="zh-CN" sz="1650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2pPr>
            <a:lvl3pPr>
              <a:defRPr lang="zh-CN" sz="1650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3pPr>
            <a:lvl4pPr>
              <a:defRPr lang="zh-CN" sz="1650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4pPr>
            <a:lvl5pPr>
              <a:defRPr lang="zh-CN" sz="1650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5pPr>
            <a:lvl6pPr>
              <a:defRPr lang="zh-CN" sz="1650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6pPr>
            <a:lvl7pPr>
              <a:defRPr lang="zh-CN" sz="1650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7pPr>
            <a:lvl8pPr>
              <a:defRPr lang="zh-CN" sz="1650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8pPr>
            <a:lvl9pPr>
              <a:defRPr lang="zh-CN" sz="1650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9pPr>
          </a:lstStyle>
          <a:p>
            <a:pPr algn="l">
              <a:defRPr lang="zh-CN" sz="1650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pPr>
            <a:r>
              <a:rPr sz="1450" b="0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中文语境与北京晚间（待验证）</a:t>
            </a:r>
            <a:endParaRPr lang="zh-CN" sz="1650" b="0" dirty="0">
              <a:solidFill>
                <a:srgbClr val="20252B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14" name="competitor-frame-1"/>
          <p:cNvSpPr>
            <a:spLocks noGrp="1"/>
          </p:cNvSpPr>
          <p:nvPr/>
        </p:nvSpPr>
        <p:spPr>
          <a:xfrm>
            <a:off x="7905750" y="1676400"/>
            <a:ext cx="3562350" cy="2076450"/>
          </a:xfrm>
          <a:prstGeom prst="rect">
            <a:avLst/>
          </a:prstGeom>
          <a:solidFill>
            <a:srgbClr val="FFFFFF"/>
          </a:solidFill>
          <a:ln w="9525">
            <a:solidFill>
              <a:srgbClr val="CDD7EB"/>
            </a:solidFill>
          </a:ln>
        </p:spPr>
      </p:sp>
      <p:sp>
        <p:nvSpPr>
          <p:cNvPr id="115" name="number-1"/>
          <p:cNvSpPr>
            <a:spLocks noGrp="1"/>
          </p:cNvSpPr>
          <p:nvPr/>
        </p:nvSpPr>
        <p:spPr>
          <a:xfrm>
            <a:off x="8096250" y="1838325"/>
            <a:ext cx="33337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lang="zh-CN" sz="225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defPPr>
            <a:lvl1pPr>
              <a:defRPr lang="zh-CN" sz="225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1pPr>
            <a:lvl2pPr>
              <a:defRPr lang="zh-CN" sz="225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2pPr>
            <a:lvl3pPr>
              <a:defRPr lang="zh-CN" sz="225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3pPr>
            <a:lvl4pPr>
              <a:defRPr lang="zh-CN" sz="225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4pPr>
            <a:lvl5pPr>
              <a:defRPr lang="zh-CN" sz="225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5pPr>
            <a:lvl6pPr>
              <a:defRPr lang="zh-CN" sz="225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6pPr>
            <a:lvl7pPr>
              <a:defRPr lang="zh-CN" sz="225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7pPr>
            <a:lvl8pPr>
              <a:defRPr lang="zh-CN" sz="225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8pPr>
            <a:lvl9pPr>
              <a:defRPr lang="zh-CN" sz="225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9pPr>
          </a:lstStyle>
          <a:p>
            <a:pPr>
              <a:defRPr lang="zh-CN" sz="225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pPr>
            <a:r>
              <a:rPr lang="zh-CN" sz="225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2</a:t>
            </a:r>
            <a:endParaRPr lang="zh-CN" sz="2250" b="1">
              <a:solidFill>
                <a:srgbClr val="2455D6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16" name="layer-1"/>
          <p:cNvSpPr>
            <a:spLocks noGrp="1"/>
          </p:cNvSpPr>
          <p:nvPr/>
        </p:nvSpPr>
        <p:spPr>
          <a:xfrm>
            <a:off x="8496300" y="1905000"/>
            <a:ext cx="279082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/>
          <a:lstStyle>
            <a:defPPr>
              <a:defRPr lang="zh-CN" sz="1350" b="1">
                <a:solidFill>
                  <a:srgbClr val="59677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defPPr>
            <a:lvl1pPr>
              <a:defRPr lang="zh-CN" sz="1350" b="1">
                <a:solidFill>
                  <a:srgbClr val="59677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1pPr>
            <a:lvl2pPr>
              <a:defRPr lang="zh-CN" sz="1350" b="1">
                <a:solidFill>
                  <a:srgbClr val="59677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2pPr>
            <a:lvl3pPr>
              <a:defRPr lang="zh-CN" sz="1350" b="1">
                <a:solidFill>
                  <a:srgbClr val="59677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3pPr>
            <a:lvl4pPr>
              <a:defRPr lang="zh-CN" sz="1350" b="1">
                <a:solidFill>
                  <a:srgbClr val="59677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4pPr>
            <a:lvl5pPr>
              <a:defRPr lang="zh-CN" sz="1350" b="1">
                <a:solidFill>
                  <a:srgbClr val="59677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5pPr>
            <a:lvl6pPr>
              <a:defRPr lang="zh-CN" sz="1350" b="1">
                <a:solidFill>
                  <a:srgbClr val="59677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6pPr>
            <a:lvl7pPr>
              <a:defRPr lang="zh-CN" sz="1350" b="1">
                <a:solidFill>
                  <a:srgbClr val="59677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7pPr>
            <a:lvl8pPr>
              <a:defRPr lang="zh-CN" sz="1350" b="1">
                <a:solidFill>
                  <a:srgbClr val="59677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8pPr>
            <a:lvl9pPr>
              <a:defRPr lang="zh-CN" sz="1350" b="1">
                <a:solidFill>
                  <a:srgbClr val="59677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9pPr>
          </a:lstStyle>
          <a:p>
            <a:pPr algn="l">
              <a:defRPr lang="zh-CN" sz="1350" b="1">
                <a:solidFill>
                  <a:srgbClr val="59677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pPr>
            <a:r>
              <a:rPr sz="1350" b="1">
                <a:solidFill>
                  <a:srgbClr val="2459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直接竞争 · 国内 AI 主播</a:t>
            </a:r>
            <a:endParaRPr sz="1350" b="1">
              <a:solidFill>
                <a:srgbClr val="2459D6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17" name="representative-1"/>
          <p:cNvSpPr>
            <a:spLocks noGrp="1"/>
          </p:cNvSpPr>
          <p:nvPr/>
        </p:nvSpPr>
        <p:spPr>
          <a:xfrm>
            <a:off x="8096250" y="2362200"/>
            <a:ext cx="31813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lang="zh-CN" sz="2025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defPPr>
            <a:lvl1pPr>
              <a:defRPr lang="zh-CN" sz="2025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1pPr>
            <a:lvl2pPr>
              <a:defRPr lang="zh-CN" sz="2025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2pPr>
            <a:lvl3pPr>
              <a:defRPr lang="zh-CN" sz="2025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3pPr>
            <a:lvl4pPr>
              <a:defRPr lang="zh-CN" sz="2025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4pPr>
            <a:lvl5pPr>
              <a:defRPr lang="zh-CN" sz="2025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5pPr>
            <a:lvl6pPr>
              <a:defRPr lang="zh-CN" sz="2025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6pPr>
            <a:lvl7pPr>
              <a:defRPr lang="zh-CN" sz="2025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7pPr>
            <a:lvl8pPr>
              <a:defRPr lang="zh-CN" sz="2025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8pPr>
            <a:lvl9pPr>
              <a:defRPr lang="zh-CN" sz="2025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9pPr>
          </a:lstStyle>
          <a:p>
            <a:pPr>
              <a:defRPr lang="zh-CN" sz="2025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pPr>
            <a:r>
              <a:rPr lang="zh-CN" sz="2025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Lumi / Nox</a:t>
            </a:r>
            <a:endParaRPr lang="zh-CN" sz="2025" b="1">
              <a:solidFill>
                <a:srgbClr val="20252B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18" name="difference-label-1"/>
          <p:cNvSpPr>
            <a:spLocks noGrp="1"/>
          </p:cNvSpPr>
          <p:nvPr/>
        </p:nvSpPr>
        <p:spPr>
          <a:xfrm>
            <a:off x="8096250" y="3139440"/>
            <a:ext cx="31813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/>
          <a:lstStyle>
            <a:defPPr>
              <a:defRPr lang="zh-CN" sz="120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defPPr>
            <a:lvl1pPr>
              <a:defRPr lang="zh-CN" sz="120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1pPr>
            <a:lvl2pPr>
              <a:defRPr lang="zh-CN" sz="120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2pPr>
            <a:lvl3pPr>
              <a:defRPr lang="zh-CN" sz="120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3pPr>
            <a:lvl4pPr>
              <a:defRPr lang="zh-CN" sz="120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4pPr>
            <a:lvl5pPr>
              <a:defRPr lang="zh-CN" sz="120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5pPr>
            <a:lvl6pPr>
              <a:defRPr lang="zh-CN" sz="120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6pPr>
            <a:lvl7pPr>
              <a:defRPr lang="zh-CN" sz="120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7pPr>
            <a:lvl8pPr>
              <a:defRPr lang="zh-CN" sz="120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8pPr>
            <a:lvl9pPr>
              <a:defRPr lang="zh-CN" sz="120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9pPr>
          </a:lstStyle>
          <a:p>
            <a:pPr algn="l">
              <a:defRPr lang="zh-CN" sz="120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pPr>
            <a:r>
              <a:rPr sz="1200" b="1">
                <a:solidFill>
                  <a:srgbClr val="2459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姬岁歌拟差异</a:t>
            </a:r>
            <a:endParaRPr sz="1200" b="1">
              <a:solidFill>
                <a:srgbClr val="2459D6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19" name="difference-1"/>
          <p:cNvSpPr>
            <a:spLocks noGrp="1"/>
          </p:cNvSpPr>
          <p:nvPr/>
        </p:nvSpPr>
        <p:spPr>
          <a:xfrm>
            <a:off x="8096250" y="3413760"/>
            <a:ext cx="3181350" cy="29260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/>
          <a:lstStyle>
            <a:defPPr>
              <a:defRPr lang="zh-CN" sz="1650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defPPr>
            <a:lvl1pPr>
              <a:defRPr lang="zh-CN" sz="1650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1pPr>
            <a:lvl2pPr>
              <a:defRPr lang="zh-CN" sz="1650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2pPr>
            <a:lvl3pPr>
              <a:defRPr lang="zh-CN" sz="1650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3pPr>
            <a:lvl4pPr>
              <a:defRPr lang="zh-CN" sz="1650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4pPr>
            <a:lvl5pPr>
              <a:defRPr lang="zh-CN" sz="1650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5pPr>
            <a:lvl6pPr>
              <a:defRPr lang="zh-CN" sz="1650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6pPr>
            <a:lvl7pPr>
              <a:defRPr lang="zh-CN" sz="1650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7pPr>
            <a:lvl8pPr>
              <a:defRPr lang="zh-CN" sz="1650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8pPr>
            <a:lvl9pPr>
              <a:defRPr lang="zh-CN" sz="1650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9pPr>
          </a:lstStyle>
          <a:p>
            <a:pPr algn="l">
              <a:defRPr lang="zh-CN" sz="1650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pPr>
            <a:r>
              <a:rPr sz="1450" b="0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真人主持 + </a:t>
            </a:r>
            <a:r>
              <a:rPr lang="en-US" altLang="zh-CN" sz="1450" b="0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AI</a:t>
            </a:r>
            <a:r>
              <a:rPr altLang="en-US" sz="1450" b="0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联合直播，计算机视觉</a:t>
            </a:r>
            <a:endParaRPr altLang="en-US" sz="1450" b="0">
              <a:solidFill>
                <a:srgbClr val="1F2329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20" name="competitor-frame-2"/>
          <p:cNvSpPr>
            <a:spLocks noGrp="1"/>
          </p:cNvSpPr>
          <p:nvPr/>
        </p:nvSpPr>
        <p:spPr>
          <a:xfrm>
            <a:off x="4114800" y="4000500"/>
            <a:ext cx="3562350" cy="2076450"/>
          </a:xfrm>
          <a:prstGeom prst="rect">
            <a:avLst/>
          </a:prstGeom>
          <a:solidFill>
            <a:srgbClr val="FFFFFF"/>
          </a:solidFill>
          <a:ln w="9525">
            <a:solidFill>
              <a:srgbClr val="CDD7EB"/>
            </a:solidFill>
          </a:ln>
        </p:spPr>
      </p:sp>
      <p:sp>
        <p:nvSpPr>
          <p:cNvPr id="121" name="number-2"/>
          <p:cNvSpPr>
            <a:spLocks noGrp="1"/>
          </p:cNvSpPr>
          <p:nvPr/>
        </p:nvSpPr>
        <p:spPr>
          <a:xfrm>
            <a:off x="4305300" y="4162425"/>
            <a:ext cx="33337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lang="zh-CN" sz="225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defPPr>
            <a:lvl1pPr>
              <a:defRPr lang="zh-CN" sz="225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1pPr>
            <a:lvl2pPr>
              <a:defRPr lang="zh-CN" sz="225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2pPr>
            <a:lvl3pPr>
              <a:defRPr lang="zh-CN" sz="225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3pPr>
            <a:lvl4pPr>
              <a:defRPr lang="zh-CN" sz="225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4pPr>
            <a:lvl5pPr>
              <a:defRPr lang="zh-CN" sz="225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5pPr>
            <a:lvl6pPr>
              <a:defRPr lang="zh-CN" sz="225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6pPr>
            <a:lvl7pPr>
              <a:defRPr lang="zh-CN" sz="225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7pPr>
            <a:lvl8pPr>
              <a:defRPr lang="zh-CN" sz="225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8pPr>
            <a:lvl9pPr>
              <a:defRPr lang="zh-CN" sz="225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9pPr>
          </a:lstStyle>
          <a:p>
            <a:pPr>
              <a:defRPr lang="zh-CN" sz="225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pPr>
            <a:r>
              <a:rPr lang="zh-CN" sz="225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3</a:t>
            </a:r>
            <a:endParaRPr lang="zh-CN" sz="2250" b="1">
              <a:solidFill>
                <a:srgbClr val="2455D6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22" name="layer-2"/>
          <p:cNvSpPr>
            <a:spLocks noGrp="1"/>
          </p:cNvSpPr>
          <p:nvPr/>
        </p:nvSpPr>
        <p:spPr>
          <a:xfrm>
            <a:off x="4705350" y="4229100"/>
            <a:ext cx="279082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/>
          <a:lstStyle>
            <a:defPPr>
              <a:defRPr lang="zh-CN" sz="1350" b="1">
                <a:solidFill>
                  <a:srgbClr val="59677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defPPr>
            <a:lvl1pPr>
              <a:defRPr lang="zh-CN" sz="1350" b="1">
                <a:solidFill>
                  <a:srgbClr val="59677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1pPr>
            <a:lvl2pPr>
              <a:defRPr lang="zh-CN" sz="1350" b="1">
                <a:solidFill>
                  <a:srgbClr val="59677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2pPr>
            <a:lvl3pPr>
              <a:defRPr lang="zh-CN" sz="1350" b="1">
                <a:solidFill>
                  <a:srgbClr val="59677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3pPr>
            <a:lvl4pPr>
              <a:defRPr lang="zh-CN" sz="1350" b="1">
                <a:solidFill>
                  <a:srgbClr val="59677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4pPr>
            <a:lvl5pPr>
              <a:defRPr lang="zh-CN" sz="1350" b="1">
                <a:solidFill>
                  <a:srgbClr val="59677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5pPr>
            <a:lvl6pPr>
              <a:defRPr lang="zh-CN" sz="1350" b="1">
                <a:solidFill>
                  <a:srgbClr val="59677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6pPr>
            <a:lvl7pPr>
              <a:defRPr lang="zh-CN" sz="1350" b="1">
                <a:solidFill>
                  <a:srgbClr val="59677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7pPr>
            <a:lvl8pPr>
              <a:defRPr lang="zh-CN" sz="1350" b="1">
                <a:solidFill>
                  <a:srgbClr val="59677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8pPr>
            <a:lvl9pPr>
              <a:defRPr lang="zh-CN" sz="1350" b="1">
                <a:solidFill>
                  <a:srgbClr val="59677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9pPr>
          </a:lstStyle>
          <a:p>
            <a:pPr algn="l">
              <a:defRPr lang="zh-CN" sz="1350" b="1">
                <a:solidFill>
                  <a:srgbClr val="59677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pPr>
            <a:r>
              <a:rPr sz="1350" b="1">
                <a:solidFill>
                  <a:srgbClr val="2459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技术底座 · 开源工具</a:t>
            </a:r>
            <a:endParaRPr sz="1350" b="1">
              <a:solidFill>
                <a:srgbClr val="2459D6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23" name="representative-2"/>
          <p:cNvSpPr>
            <a:spLocks noGrp="1"/>
          </p:cNvSpPr>
          <p:nvPr/>
        </p:nvSpPr>
        <p:spPr>
          <a:xfrm>
            <a:off x="4305300" y="4686300"/>
            <a:ext cx="31813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lang="zh-CN" sz="2025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defPPr>
            <a:lvl1pPr>
              <a:defRPr lang="zh-CN" sz="2025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1pPr>
            <a:lvl2pPr>
              <a:defRPr lang="zh-CN" sz="2025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2pPr>
            <a:lvl3pPr>
              <a:defRPr lang="zh-CN" sz="2025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3pPr>
            <a:lvl4pPr>
              <a:defRPr lang="zh-CN" sz="2025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4pPr>
            <a:lvl5pPr>
              <a:defRPr lang="zh-CN" sz="2025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5pPr>
            <a:lvl6pPr>
              <a:defRPr lang="zh-CN" sz="2025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6pPr>
            <a:lvl7pPr>
              <a:defRPr lang="zh-CN" sz="2025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7pPr>
            <a:lvl8pPr>
              <a:defRPr lang="zh-CN" sz="2025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8pPr>
            <a:lvl9pPr>
              <a:defRPr lang="zh-CN" sz="2025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9pPr>
          </a:lstStyle>
          <a:p>
            <a:pPr>
              <a:defRPr lang="zh-CN" sz="2025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pPr>
            <a:r>
              <a:rPr lang="zh-CN" sz="2025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AI-Vtuber、吟美</a:t>
            </a:r>
            <a:endParaRPr lang="zh-CN" sz="2025" b="1">
              <a:solidFill>
                <a:srgbClr val="20252B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24" name="difference-label-2"/>
          <p:cNvSpPr>
            <a:spLocks noGrp="1"/>
          </p:cNvSpPr>
          <p:nvPr/>
        </p:nvSpPr>
        <p:spPr>
          <a:xfrm>
            <a:off x="4305300" y="5463540"/>
            <a:ext cx="31813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/>
          <a:lstStyle>
            <a:defPPr>
              <a:defRPr lang="zh-CN" sz="120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defPPr>
            <a:lvl1pPr>
              <a:defRPr lang="zh-CN" sz="120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1pPr>
            <a:lvl2pPr>
              <a:defRPr lang="zh-CN" sz="120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2pPr>
            <a:lvl3pPr>
              <a:defRPr lang="zh-CN" sz="120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3pPr>
            <a:lvl4pPr>
              <a:defRPr lang="zh-CN" sz="120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4pPr>
            <a:lvl5pPr>
              <a:defRPr lang="zh-CN" sz="120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5pPr>
            <a:lvl6pPr>
              <a:defRPr lang="zh-CN" sz="120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6pPr>
            <a:lvl7pPr>
              <a:defRPr lang="zh-CN" sz="120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7pPr>
            <a:lvl8pPr>
              <a:defRPr lang="zh-CN" sz="120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8pPr>
            <a:lvl9pPr>
              <a:defRPr lang="zh-CN" sz="120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9pPr>
          </a:lstStyle>
          <a:p>
            <a:pPr algn="l">
              <a:defRPr lang="zh-CN" sz="120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pPr>
            <a:r>
              <a:rPr sz="1200" b="1">
                <a:solidFill>
                  <a:srgbClr val="2459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姬岁歌拟差异</a:t>
            </a:r>
            <a:endParaRPr sz="1200" b="1">
              <a:solidFill>
                <a:srgbClr val="2459D6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25" name="difference-2"/>
          <p:cNvSpPr>
            <a:spLocks noGrp="1"/>
          </p:cNvSpPr>
          <p:nvPr/>
        </p:nvSpPr>
        <p:spPr>
          <a:xfrm>
            <a:off x="4305300" y="5738495"/>
            <a:ext cx="3371215" cy="292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/>
          <a:lstStyle>
            <a:defPPr>
              <a:defRPr lang="zh-CN" sz="1650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defPPr>
            <a:lvl1pPr>
              <a:defRPr lang="zh-CN" sz="1650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1pPr>
            <a:lvl2pPr>
              <a:defRPr lang="zh-CN" sz="1650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2pPr>
            <a:lvl3pPr>
              <a:defRPr lang="zh-CN" sz="1650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3pPr>
            <a:lvl4pPr>
              <a:defRPr lang="zh-CN" sz="1650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4pPr>
            <a:lvl5pPr>
              <a:defRPr lang="zh-CN" sz="1650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5pPr>
            <a:lvl6pPr>
              <a:defRPr lang="zh-CN" sz="1650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6pPr>
            <a:lvl7pPr>
              <a:defRPr lang="zh-CN" sz="1650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7pPr>
            <a:lvl8pPr>
              <a:defRPr lang="zh-CN" sz="1650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8pPr>
            <a:lvl9pPr>
              <a:defRPr lang="zh-CN" sz="1650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9pPr>
          </a:lstStyle>
          <a:p>
            <a:pPr algn="l">
              <a:defRPr lang="zh-CN" sz="1650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pPr>
            <a:r>
              <a:rPr sz="1450" b="0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基于已有工具进行微调和开发，数据闭源</a:t>
            </a:r>
            <a:endParaRPr sz="1450" b="0">
              <a:solidFill>
                <a:srgbClr val="1F2329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26" name="competitor-frame-3"/>
          <p:cNvSpPr>
            <a:spLocks noGrp="1"/>
          </p:cNvSpPr>
          <p:nvPr/>
        </p:nvSpPr>
        <p:spPr>
          <a:xfrm>
            <a:off x="7905750" y="4000500"/>
            <a:ext cx="3562350" cy="2076450"/>
          </a:xfrm>
          <a:prstGeom prst="rect">
            <a:avLst/>
          </a:prstGeom>
          <a:solidFill>
            <a:srgbClr val="FFFFFF"/>
          </a:solidFill>
          <a:ln w="9525">
            <a:solidFill>
              <a:srgbClr val="CDD7EB"/>
            </a:solidFill>
          </a:ln>
        </p:spPr>
      </p:sp>
      <p:sp>
        <p:nvSpPr>
          <p:cNvPr id="127" name="number-3"/>
          <p:cNvSpPr>
            <a:spLocks noGrp="1"/>
          </p:cNvSpPr>
          <p:nvPr/>
        </p:nvSpPr>
        <p:spPr>
          <a:xfrm>
            <a:off x="8096250" y="4162425"/>
            <a:ext cx="33337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lang="zh-CN" sz="225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defPPr>
            <a:lvl1pPr>
              <a:defRPr lang="zh-CN" sz="225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1pPr>
            <a:lvl2pPr>
              <a:defRPr lang="zh-CN" sz="225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2pPr>
            <a:lvl3pPr>
              <a:defRPr lang="zh-CN" sz="225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3pPr>
            <a:lvl4pPr>
              <a:defRPr lang="zh-CN" sz="225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4pPr>
            <a:lvl5pPr>
              <a:defRPr lang="zh-CN" sz="225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5pPr>
            <a:lvl6pPr>
              <a:defRPr lang="zh-CN" sz="225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6pPr>
            <a:lvl7pPr>
              <a:defRPr lang="zh-CN" sz="225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7pPr>
            <a:lvl8pPr>
              <a:defRPr lang="zh-CN" sz="225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8pPr>
            <a:lvl9pPr>
              <a:defRPr lang="zh-CN" sz="225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9pPr>
          </a:lstStyle>
          <a:p>
            <a:pPr>
              <a:defRPr lang="zh-CN" sz="225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pPr>
            <a:r>
              <a:rPr lang="zh-CN" sz="225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4</a:t>
            </a:r>
            <a:endParaRPr lang="zh-CN" sz="2250" b="1">
              <a:solidFill>
                <a:srgbClr val="2455D6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28" name="layer-3"/>
          <p:cNvSpPr>
            <a:spLocks noGrp="1"/>
          </p:cNvSpPr>
          <p:nvPr/>
        </p:nvSpPr>
        <p:spPr>
          <a:xfrm>
            <a:off x="8496300" y="4229100"/>
            <a:ext cx="279082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/>
          <a:lstStyle>
            <a:defPPr>
              <a:defRPr lang="zh-CN" sz="1350" b="1">
                <a:solidFill>
                  <a:srgbClr val="59677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defPPr>
            <a:lvl1pPr>
              <a:defRPr lang="zh-CN" sz="1350" b="1">
                <a:solidFill>
                  <a:srgbClr val="59677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1pPr>
            <a:lvl2pPr>
              <a:defRPr lang="zh-CN" sz="1350" b="1">
                <a:solidFill>
                  <a:srgbClr val="59677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2pPr>
            <a:lvl3pPr>
              <a:defRPr lang="zh-CN" sz="1350" b="1">
                <a:solidFill>
                  <a:srgbClr val="59677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3pPr>
            <a:lvl4pPr>
              <a:defRPr lang="zh-CN" sz="1350" b="1">
                <a:solidFill>
                  <a:srgbClr val="59677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4pPr>
            <a:lvl5pPr>
              <a:defRPr lang="zh-CN" sz="1350" b="1">
                <a:solidFill>
                  <a:srgbClr val="59677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5pPr>
            <a:lvl6pPr>
              <a:defRPr lang="zh-CN" sz="1350" b="1">
                <a:solidFill>
                  <a:srgbClr val="59677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6pPr>
            <a:lvl7pPr>
              <a:defRPr lang="zh-CN" sz="1350" b="1">
                <a:solidFill>
                  <a:srgbClr val="59677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7pPr>
            <a:lvl8pPr>
              <a:defRPr lang="zh-CN" sz="1350" b="1">
                <a:solidFill>
                  <a:srgbClr val="59677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8pPr>
            <a:lvl9pPr>
              <a:defRPr lang="zh-CN" sz="1350" b="1">
                <a:solidFill>
                  <a:srgbClr val="59677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9pPr>
          </a:lstStyle>
          <a:p>
            <a:pPr algn="l">
              <a:defRPr lang="zh-CN" sz="1350" b="1">
                <a:solidFill>
                  <a:srgbClr val="59677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pPr>
            <a:r>
              <a:rPr sz="1350" b="1">
                <a:solidFill>
                  <a:srgbClr val="2459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替代内容 · 真人 VUP / AI 偶像</a:t>
            </a:r>
            <a:endParaRPr sz="1350" b="1">
              <a:solidFill>
                <a:srgbClr val="2459D6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29" name="representative-3"/>
          <p:cNvSpPr>
            <a:spLocks noGrp="1"/>
          </p:cNvSpPr>
          <p:nvPr/>
        </p:nvSpPr>
        <p:spPr>
          <a:xfrm>
            <a:off x="8096250" y="4686300"/>
            <a:ext cx="31813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lang="zh-CN" sz="2025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defPPr>
            <a:lvl1pPr>
              <a:defRPr lang="zh-CN" sz="2025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1pPr>
            <a:lvl2pPr>
              <a:defRPr lang="zh-CN" sz="2025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2pPr>
            <a:lvl3pPr>
              <a:defRPr lang="zh-CN" sz="2025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3pPr>
            <a:lvl4pPr>
              <a:defRPr lang="zh-CN" sz="2025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4pPr>
            <a:lvl5pPr>
              <a:defRPr lang="zh-CN" sz="2025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5pPr>
            <a:lvl6pPr>
              <a:defRPr lang="zh-CN" sz="2025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6pPr>
            <a:lvl7pPr>
              <a:defRPr lang="zh-CN" sz="2025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7pPr>
            <a:lvl8pPr>
              <a:defRPr lang="zh-CN" sz="2025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8pPr>
            <a:lvl9pPr>
              <a:defRPr lang="zh-CN" sz="2025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9pPr>
          </a:lstStyle>
          <a:p>
            <a:pPr>
              <a:defRPr lang="zh-CN" sz="2025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pPr>
            <a:r>
              <a:rPr lang="zh-CN" sz="2025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传统 VUP、AI 偶像</a:t>
            </a:r>
            <a:endParaRPr lang="zh-CN" sz="2025" b="1">
              <a:solidFill>
                <a:srgbClr val="20252B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30" name="difference-label-3"/>
          <p:cNvSpPr>
            <a:spLocks noGrp="1"/>
          </p:cNvSpPr>
          <p:nvPr/>
        </p:nvSpPr>
        <p:spPr>
          <a:xfrm>
            <a:off x="8096250" y="5463540"/>
            <a:ext cx="31813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/>
          <a:lstStyle>
            <a:defPPr>
              <a:defRPr lang="zh-CN" sz="120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defPPr>
            <a:lvl1pPr>
              <a:defRPr lang="zh-CN" sz="120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1pPr>
            <a:lvl2pPr>
              <a:defRPr lang="zh-CN" sz="120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2pPr>
            <a:lvl3pPr>
              <a:defRPr lang="zh-CN" sz="120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3pPr>
            <a:lvl4pPr>
              <a:defRPr lang="zh-CN" sz="120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4pPr>
            <a:lvl5pPr>
              <a:defRPr lang="zh-CN" sz="120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5pPr>
            <a:lvl6pPr>
              <a:defRPr lang="zh-CN" sz="120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6pPr>
            <a:lvl7pPr>
              <a:defRPr lang="zh-CN" sz="120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7pPr>
            <a:lvl8pPr>
              <a:defRPr lang="zh-CN" sz="120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8pPr>
            <a:lvl9pPr>
              <a:defRPr lang="zh-CN" sz="120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9pPr>
          </a:lstStyle>
          <a:p>
            <a:pPr algn="l">
              <a:defRPr lang="zh-CN" sz="120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pPr>
            <a:r>
              <a:rPr sz="1200" b="1">
                <a:solidFill>
                  <a:srgbClr val="2459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姬岁歌拟差异</a:t>
            </a:r>
            <a:endParaRPr sz="1200" b="1">
              <a:solidFill>
                <a:srgbClr val="2459D6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31" name="difference-3"/>
          <p:cNvSpPr>
            <a:spLocks noGrp="1"/>
          </p:cNvSpPr>
          <p:nvPr/>
        </p:nvSpPr>
        <p:spPr>
          <a:xfrm>
            <a:off x="8096250" y="5737860"/>
            <a:ext cx="3181350" cy="29260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/>
          <a:lstStyle>
            <a:defPPr>
              <a:defRPr lang="zh-CN" sz="1650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defPPr>
            <a:lvl1pPr>
              <a:defRPr lang="zh-CN" sz="1650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1pPr>
            <a:lvl2pPr>
              <a:defRPr lang="zh-CN" sz="1650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2pPr>
            <a:lvl3pPr>
              <a:defRPr lang="zh-CN" sz="1650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3pPr>
            <a:lvl4pPr>
              <a:defRPr lang="zh-CN" sz="1650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4pPr>
            <a:lvl5pPr>
              <a:defRPr lang="zh-CN" sz="1650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5pPr>
            <a:lvl6pPr>
              <a:defRPr lang="zh-CN" sz="1650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6pPr>
            <a:lvl7pPr>
              <a:defRPr lang="zh-CN" sz="1650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7pPr>
            <a:lvl8pPr>
              <a:defRPr lang="zh-CN" sz="1650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8pPr>
            <a:lvl9pPr>
              <a:defRPr lang="zh-CN" sz="1650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9pPr>
          </a:lstStyle>
          <a:p>
            <a:pPr algn="l">
              <a:defRPr lang="zh-CN" sz="1650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pPr>
            <a:r>
              <a:rPr sz="1450" b="0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技术力与新事物的结合</a:t>
            </a:r>
            <a:endParaRPr sz="1450" b="0">
              <a:solidFill>
                <a:srgbClr val="1F2329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32" name="sources"/>
          <p:cNvSpPr>
            <a:spLocks noGrp="1"/>
          </p:cNvSpPr>
          <p:nvPr/>
        </p:nvSpPr>
        <p:spPr>
          <a:xfrm>
            <a:off x="552450" y="643890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/>
          <a:lstStyle>
            <a:defPPr>
              <a:defRPr lang="zh-CN" sz="900" b="0">
                <a:solidFill>
                  <a:srgbClr val="7F88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defPPr>
            <a:lvl1pPr>
              <a:defRPr lang="zh-CN" sz="900" b="0">
                <a:solidFill>
                  <a:srgbClr val="7F88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1pPr>
            <a:lvl2pPr>
              <a:defRPr lang="zh-CN" sz="900" b="0">
                <a:solidFill>
                  <a:srgbClr val="7F88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2pPr>
            <a:lvl3pPr>
              <a:defRPr lang="zh-CN" sz="900" b="0">
                <a:solidFill>
                  <a:srgbClr val="7F88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3pPr>
            <a:lvl4pPr>
              <a:defRPr lang="zh-CN" sz="900" b="0">
                <a:solidFill>
                  <a:srgbClr val="7F88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4pPr>
            <a:lvl5pPr>
              <a:defRPr lang="zh-CN" sz="900" b="0">
                <a:solidFill>
                  <a:srgbClr val="7F88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5pPr>
            <a:lvl6pPr>
              <a:defRPr lang="zh-CN" sz="900" b="0">
                <a:solidFill>
                  <a:srgbClr val="7F88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6pPr>
            <a:lvl7pPr>
              <a:defRPr lang="zh-CN" sz="900" b="0">
                <a:solidFill>
                  <a:srgbClr val="7F88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7pPr>
            <a:lvl8pPr>
              <a:defRPr lang="zh-CN" sz="900" b="0">
                <a:solidFill>
                  <a:srgbClr val="7F88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8pPr>
            <a:lvl9pPr>
              <a:defRPr lang="zh-CN" sz="900" b="0">
                <a:solidFill>
                  <a:srgbClr val="7F88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9pPr>
          </a:lstStyle>
          <a:p>
            <a:pPr algn="l">
              <a:defRPr lang="zh-CN" sz="900" b="0">
                <a:solidFill>
                  <a:srgbClr val="7F88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pPr>
            <a:r>
              <a:rPr sz="1050" b="0">
                <a:solidFill>
                  <a:srgbClr val="8A909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  <a:hlinkClick r:id="rId1"/>
              </a:rPr>
              <a:t>来源：[M1] CTR × B站《2026 年轻人消费趋势报告》</a:t>
            </a:r>
            <a:r>
              <a:rPr sz="1050" b="0">
                <a:solidFill>
                  <a:srgbClr val="8A909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    竞品：Vedal 官网、Lumi_Nox / AI-Vtuber / AI-YinMei 官方仓库、B站 Z 指数；口径见备注</a:t>
            </a:r>
            <a:endParaRPr sz="1050" b="0">
              <a:solidFill>
                <a:srgbClr val="8A909C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33" name="TextBox 132"/>
          <p:cNvSpPr txBox="1"/>
          <p:nvPr/>
        </p:nvSpPr>
        <p:spPr>
          <a:xfrm>
            <a:off x="548640" y="1298448"/>
            <a:ext cx="1109167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>
                <a:solidFill>
                  <a:srgbClr val="5B62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中文、双角色、记忆、弹幕、游戏等能力同类项目已有，不作独有壁垒；比较维度统一为“观众看点”与“姬岁歌拟差异”</a:t>
            </a:r>
            <a:endParaRPr sz="1350" b="0">
              <a:solidFill>
                <a:srgbClr val="5B62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34" name="TextBox 133"/>
          <p:cNvSpPr txBox="1"/>
          <p:nvPr/>
        </p:nvSpPr>
        <p:spPr>
          <a:xfrm>
            <a:off x="4306824" y="2773680"/>
            <a:ext cx="31821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5B62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观众看点  </a:t>
            </a:r>
            <a:r>
              <a:rPr sz="1300" b="0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成熟人物关系与长期内容</a:t>
            </a:r>
            <a:endParaRPr sz="1300" b="0">
              <a:solidFill>
                <a:srgbClr val="1F2329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35" name="TextBox 134"/>
          <p:cNvSpPr txBox="1"/>
          <p:nvPr/>
        </p:nvSpPr>
        <p:spPr>
          <a:xfrm>
            <a:off x="8097774" y="2773680"/>
            <a:ext cx="31821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5B62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观众看点  </a:t>
            </a:r>
            <a:r>
              <a:rPr sz="1300" b="0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双 AI 对话、记忆与游戏</a:t>
            </a:r>
            <a:endParaRPr sz="1300" b="0">
              <a:solidFill>
                <a:srgbClr val="1F2329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36" name="TextBox 135"/>
          <p:cNvSpPr txBox="1"/>
          <p:nvPr/>
        </p:nvSpPr>
        <p:spPr>
          <a:xfrm>
            <a:off x="4306824" y="5097780"/>
            <a:ext cx="31821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5B62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观众看点  </a:t>
            </a:r>
            <a:r>
              <a:rPr sz="1300" b="0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开源接入，降低技术门槛</a:t>
            </a:r>
            <a:endParaRPr sz="1300" b="0">
              <a:solidFill>
                <a:srgbClr val="1F2329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37" name="TextBox 136"/>
          <p:cNvSpPr txBox="1"/>
          <p:nvPr/>
        </p:nvSpPr>
        <p:spPr>
          <a:xfrm>
            <a:off x="8097774" y="5097780"/>
            <a:ext cx="31821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5B62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观众看点  </a:t>
            </a:r>
            <a:r>
              <a:rPr sz="1300" b="0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真人表演或 AI 角色故事</a:t>
            </a:r>
            <a:endParaRPr sz="1300" b="0">
              <a:solidFill>
                <a:srgbClr val="1F2329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sz="1300" b="1">
                <a:solidFill>
                  <a:srgbClr val="2459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03 产品介绍 · 1/6 AI 自主直播</a:t>
            </a:r>
            <a:endParaRPr lang="en-US" sz="1300" dirty="0"/>
          </a:p>
        </p:txBody>
      </p:sp>
      <p:sp>
        <p:nvSpPr>
          <p:cNvPr id="31" name="Shape 27"/>
          <p:cNvSpPr/>
          <p:nvPr/>
        </p:nvSpPr>
        <p:spPr>
          <a:xfrm>
            <a:off x="548640" y="6382512"/>
            <a:ext cx="11094415" cy="0"/>
          </a:xfrm>
          <a:prstGeom prst="line">
            <a:avLst/>
          </a:prstGeom>
          <a:noFill/>
          <a:ln w="9525">
            <a:solidFill>
              <a:srgbClr val="D5D9E0"/>
            </a:solidFill>
            <a:prstDash val="solid"/>
          </a:ln>
        </p:spPr>
        <p:txBody>
          <a:bodyPr/>
          <a:p/>
        </p:txBody>
      </p:sp>
      <p:sp>
        <p:nvSpPr>
          <p:cNvPr id="33" name="Text 29"/>
          <p:cNvSpPr txBox="1"/>
          <p:nvPr/>
        </p:nvSpPr>
        <p:spPr>
          <a:xfrm>
            <a:off x="10543032" y="6437376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1200" b="1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06</a:t>
            </a:r>
            <a:r>
              <a:rPr sz="1200" b="0">
                <a:solidFill>
                  <a:srgbClr val="8A909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 / 16</a:t>
            </a:r>
            <a:endParaRPr lang="en-US" sz="1200" dirty="0"/>
          </a:p>
        </p:txBody>
      </p:sp>
      <p:sp>
        <p:nvSpPr>
          <p:cNvPr id="101" name="title"/>
          <p:cNvSpPr>
            <a:spLocks noGrp="1"/>
          </p:cNvSpPr>
          <p:nvPr/>
        </p:nvSpPr>
        <p:spPr>
          <a:xfrm>
            <a:off x="552450" y="742950"/>
            <a:ext cx="11096625" cy="600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/>
          <a:lstStyle>
            <a:defPPr>
              <a:defRPr lang="zh-CN" sz="2850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defPPr>
            <a:lvl1pPr>
              <a:defRPr lang="zh-CN" sz="2850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1pPr>
            <a:lvl2pPr>
              <a:defRPr lang="zh-CN" sz="2850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2pPr>
            <a:lvl3pPr>
              <a:defRPr lang="zh-CN" sz="2850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3pPr>
            <a:lvl4pPr>
              <a:defRPr lang="zh-CN" sz="2850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4pPr>
            <a:lvl5pPr>
              <a:defRPr lang="zh-CN" sz="2850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5pPr>
            <a:lvl6pPr>
              <a:defRPr lang="zh-CN" sz="2850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6pPr>
            <a:lvl7pPr>
              <a:defRPr lang="zh-CN" sz="2850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7pPr>
            <a:lvl8pPr>
              <a:defRPr lang="zh-CN" sz="2850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8pPr>
            <a:lvl9pPr>
              <a:defRPr lang="zh-CN" sz="2850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9pPr>
          </a:lstStyle>
          <a:p>
            <a:pPr algn="l">
              <a:defRPr lang="zh-CN" sz="2850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pPr>
            <a:r>
              <a:rPr sz="2850" b="1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AI 自主直播：两个场景准备验证的节目看点</a:t>
            </a:r>
            <a:endParaRPr sz="2850" b="1">
              <a:solidFill>
                <a:srgbClr val="1F2329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02" name="intro"/>
          <p:cNvSpPr>
            <a:spLocks noGrp="1"/>
          </p:cNvSpPr>
          <p:nvPr/>
        </p:nvSpPr>
        <p:spPr>
          <a:xfrm>
            <a:off x="552450" y="1400175"/>
            <a:ext cx="110871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/>
          <a:lstStyle>
            <a:defPPr>
              <a:defRPr lang="zh-CN" sz="1725" b="0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defPPr>
            <a:lvl1pPr>
              <a:defRPr lang="zh-CN" sz="1725" b="0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1pPr>
            <a:lvl2pPr>
              <a:defRPr lang="zh-CN" sz="1725" b="0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2pPr>
            <a:lvl3pPr>
              <a:defRPr lang="zh-CN" sz="1725" b="0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3pPr>
            <a:lvl4pPr>
              <a:defRPr lang="zh-CN" sz="1725" b="0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4pPr>
            <a:lvl5pPr>
              <a:defRPr lang="zh-CN" sz="1725" b="0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5pPr>
            <a:lvl6pPr>
              <a:defRPr lang="zh-CN" sz="1725" b="0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6pPr>
            <a:lvl7pPr>
              <a:defRPr lang="zh-CN" sz="1725" b="0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7pPr>
            <a:lvl8pPr>
              <a:defRPr lang="zh-CN" sz="1725" b="0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8pPr>
            <a:lvl9pPr>
              <a:defRPr lang="zh-CN" sz="1725" b="0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9pPr>
          </a:lstStyle>
          <a:p>
            <a:pPr algn="l">
              <a:defRPr lang="zh-CN" sz="1725" b="0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pPr>
            <a:r>
              <a:rPr sz="1600" b="0">
                <a:solidFill>
                  <a:srgbClr val="5B62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角色自主决策、游戏解说与弹幕互动，形成独立节目；首阶段定位（独立时段或技术演示）待确认</a:t>
            </a:r>
            <a:endParaRPr sz="1600" b="0">
              <a:solidFill>
                <a:srgbClr val="5B62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pic>
        <p:nvPicPr>
          <p:cNvPr id="103" name="图片 10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2450" y="2079817"/>
            <a:ext cx="5353050" cy="3012691"/>
          </a:xfrm>
          <a:prstGeom prst="rect">
            <a:avLst/>
          </a:prstGeom>
        </p:spPr>
      </p:pic>
      <p:pic>
        <p:nvPicPr>
          <p:cNvPr id="104" name="图片 10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0" y="2079817"/>
            <a:ext cx="5353050" cy="3012691"/>
          </a:xfrm>
          <a:prstGeom prst="rect">
            <a:avLst/>
          </a:prstGeom>
        </p:spPr>
      </p:pic>
      <p:sp>
        <p:nvSpPr>
          <p:cNvPr id="105" name="minecraft-label"/>
          <p:cNvSpPr>
            <a:spLocks noGrp="1"/>
          </p:cNvSpPr>
          <p:nvPr/>
        </p:nvSpPr>
        <p:spPr>
          <a:xfrm>
            <a:off x="552450" y="5257800"/>
            <a:ext cx="535305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lang="zh-CN" sz="180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defPPr>
            <a:lvl1pPr>
              <a:defRPr lang="zh-CN" sz="180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1pPr>
            <a:lvl2pPr>
              <a:defRPr lang="zh-CN" sz="180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2pPr>
            <a:lvl3pPr>
              <a:defRPr lang="zh-CN" sz="180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3pPr>
            <a:lvl4pPr>
              <a:defRPr lang="zh-CN" sz="180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4pPr>
            <a:lvl5pPr>
              <a:defRPr lang="zh-CN" sz="180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5pPr>
            <a:lvl6pPr>
              <a:defRPr lang="zh-CN" sz="180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6pPr>
            <a:lvl7pPr>
              <a:defRPr lang="zh-CN" sz="180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7pPr>
            <a:lvl8pPr>
              <a:defRPr lang="zh-CN" sz="180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8pPr>
            <a:lvl9pPr>
              <a:defRPr lang="zh-CN" sz="180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9pPr>
          </a:lstStyle>
          <a:p>
            <a:pPr>
              <a:defRPr lang="zh-CN" sz="180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pPr>
            <a:r>
              <a:rPr lang="zh-CN" sz="180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我的世界：临场意外与接梗</a:t>
            </a:r>
            <a:endParaRPr lang="zh-CN" sz="1800" b="1">
              <a:solidFill>
                <a:srgbClr val="2455D6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06" name="spire-label"/>
          <p:cNvSpPr>
            <a:spLocks noGrp="1"/>
          </p:cNvSpPr>
          <p:nvPr/>
        </p:nvSpPr>
        <p:spPr>
          <a:xfrm>
            <a:off x="6286500" y="5257800"/>
            <a:ext cx="535305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lang="zh-CN" sz="180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defPPr>
            <a:lvl1pPr>
              <a:defRPr lang="zh-CN" sz="180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1pPr>
            <a:lvl2pPr>
              <a:defRPr lang="zh-CN" sz="180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2pPr>
            <a:lvl3pPr>
              <a:defRPr lang="zh-CN" sz="180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3pPr>
            <a:lvl4pPr>
              <a:defRPr lang="zh-CN" sz="180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4pPr>
            <a:lvl5pPr>
              <a:defRPr lang="zh-CN" sz="180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5pPr>
            <a:lvl6pPr>
              <a:defRPr lang="zh-CN" sz="180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6pPr>
            <a:lvl7pPr>
              <a:defRPr lang="zh-CN" sz="180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7pPr>
            <a:lvl8pPr>
              <a:defRPr lang="zh-CN" sz="180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8pPr>
            <a:lvl9pPr>
              <a:defRPr lang="zh-CN" sz="180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9pPr>
          </a:lstStyle>
          <a:p>
            <a:pPr>
              <a:defRPr lang="zh-CN" sz="180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pPr>
            <a:r>
              <a:rPr lang="zh-CN" sz="180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杀戮尖塔：决策反差与吐槽</a:t>
            </a:r>
            <a:endParaRPr lang="zh-CN" sz="1800" b="1">
              <a:solidFill>
                <a:srgbClr val="2455D6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07" name="human"/>
          <p:cNvSpPr>
            <a:spLocks noGrp="1"/>
          </p:cNvSpPr>
          <p:nvPr/>
        </p:nvSpPr>
        <p:spPr>
          <a:xfrm>
            <a:off x="548640" y="5669280"/>
            <a:ext cx="5349240" cy="54864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/>
          <a:lstStyle>
            <a:defPPr>
              <a:defRPr lang="zh-CN" sz="1575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defPPr>
            <a:lvl1pPr>
              <a:defRPr lang="zh-CN" sz="1575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1pPr>
            <a:lvl2pPr>
              <a:defRPr lang="zh-CN" sz="1575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2pPr>
            <a:lvl3pPr>
              <a:defRPr lang="zh-CN" sz="1575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3pPr>
            <a:lvl4pPr>
              <a:defRPr lang="zh-CN" sz="1575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4pPr>
            <a:lvl5pPr>
              <a:defRPr lang="zh-CN" sz="1575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5pPr>
            <a:lvl6pPr>
              <a:defRPr lang="zh-CN" sz="1575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6pPr>
            <a:lvl7pPr>
              <a:defRPr lang="zh-CN" sz="1575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7pPr>
            <a:lvl8pPr>
              <a:defRPr lang="zh-CN" sz="1575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8pPr>
            <a:lvl9pPr>
              <a:defRPr lang="zh-CN" sz="1575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9pPr>
          </a:lstStyle>
          <a:p>
            <a:pPr algn="l">
              <a:defRPr lang="zh-CN" sz="1575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pPr>
            <a:r>
              <a:rPr sz="1500" b="1">
                <a:solidFill>
                  <a:srgbClr val="2459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准备验证  </a:t>
            </a:r>
            <a:r>
              <a:rPr sz="1500" b="0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突发危险时，角色能否即时接梗并做出选择</a:t>
            </a:r>
            <a:endParaRPr sz="1500" b="0">
              <a:solidFill>
                <a:srgbClr val="1F2329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08" name="ai"/>
          <p:cNvSpPr>
            <a:spLocks noGrp="1"/>
          </p:cNvSpPr>
          <p:nvPr/>
        </p:nvSpPr>
        <p:spPr>
          <a:xfrm>
            <a:off x="6291072" y="5669280"/>
            <a:ext cx="5349240" cy="54864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/>
          <a:lstStyle>
            <a:defPPr>
              <a:defRPr lang="zh-CN" sz="1575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defPPr>
            <a:lvl1pPr>
              <a:defRPr lang="zh-CN" sz="1575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1pPr>
            <a:lvl2pPr>
              <a:defRPr lang="zh-CN" sz="1575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2pPr>
            <a:lvl3pPr>
              <a:defRPr lang="zh-CN" sz="1575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3pPr>
            <a:lvl4pPr>
              <a:defRPr lang="zh-CN" sz="1575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4pPr>
            <a:lvl5pPr>
              <a:defRPr lang="zh-CN" sz="1575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5pPr>
            <a:lvl6pPr>
              <a:defRPr lang="zh-CN" sz="1575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6pPr>
            <a:lvl7pPr>
              <a:defRPr lang="zh-CN" sz="1575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7pPr>
            <a:lvl8pPr>
              <a:defRPr lang="zh-CN" sz="1575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8pPr>
            <a:lvl9pPr>
              <a:defRPr lang="zh-CN" sz="1575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9pPr>
          </a:lstStyle>
          <a:p>
            <a:pPr algn="l">
              <a:defRPr lang="zh-CN" sz="1575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pPr>
            <a:r>
              <a:rPr sz="1500" b="1">
                <a:solidFill>
                  <a:srgbClr val="2459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准备验证  </a:t>
            </a:r>
            <a:r>
              <a:rPr sz="1500" b="0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出牌决策的反差能否引出吐槽与弹幕预测</a:t>
            </a:r>
            <a:endParaRPr sz="1500" b="0">
              <a:solidFill>
                <a:srgbClr val="1F2329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10" name="disclosure"/>
          <p:cNvSpPr>
            <a:spLocks noGrp="1"/>
          </p:cNvSpPr>
          <p:nvPr/>
        </p:nvSpPr>
        <p:spPr>
          <a:xfrm>
            <a:off x="552450" y="6448425"/>
            <a:ext cx="9906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/>
          <a:lstStyle>
            <a:defPPr>
              <a:defRPr lang="zh-CN" sz="900" b="0">
                <a:solidFill>
                  <a:srgbClr val="7F88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defPPr>
            <a:lvl1pPr>
              <a:defRPr lang="zh-CN" sz="900" b="0">
                <a:solidFill>
                  <a:srgbClr val="7F88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1pPr>
            <a:lvl2pPr>
              <a:defRPr lang="zh-CN" sz="900" b="0">
                <a:solidFill>
                  <a:srgbClr val="7F88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2pPr>
            <a:lvl3pPr>
              <a:defRPr lang="zh-CN" sz="900" b="0">
                <a:solidFill>
                  <a:srgbClr val="7F88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3pPr>
            <a:lvl4pPr>
              <a:defRPr lang="zh-CN" sz="900" b="0">
                <a:solidFill>
                  <a:srgbClr val="7F88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4pPr>
            <a:lvl5pPr>
              <a:defRPr lang="zh-CN" sz="900" b="0">
                <a:solidFill>
                  <a:srgbClr val="7F88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5pPr>
            <a:lvl6pPr>
              <a:defRPr lang="zh-CN" sz="900" b="0">
                <a:solidFill>
                  <a:srgbClr val="7F88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6pPr>
            <a:lvl7pPr>
              <a:defRPr lang="zh-CN" sz="900" b="0">
                <a:solidFill>
                  <a:srgbClr val="7F88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7pPr>
            <a:lvl8pPr>
              <a:defRPr lang="zh-CN" sz="900" b="0">
                <a:solidFill>
                  <a:srgbClr val="7F88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8pPr>
            <a:lvl9pPr>
              <a:defRPr lang="zh-CN" sz="900" b="0">
                <a:solidFill>
                  <a:srgbClr val="7F88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9pPr>
          </a:lstStyle>
          <a:p>
            <a:pPr algn="l">
              <a:defRPr lang="zh-CN" sz="900" b="0">
                <a:solidFill>
                  <a:srgbClr val="7F88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pPr>
            <a:r>
              <a:rPr sz="1050" b="0">
                <a:solidFill>
                  <a:srgbClr val="8A909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节目概念示意，非实机：AI 生成画面与拟写台词、弹幕，不代表已实现能力；两场景的观众观察项均为弹幕参与与回访</a:t>
            </a:r>
            <a:endParaRPr sz="1050" b="0">
              <a:solidFill>
                <a:srgbClr val="8A909C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11" name="Rounded Rectangle 110"/>
          <p:cNvSpPr/>
          <p:nvPr/>
        </p:nvSpPr>
        <p:spPr>
          <a:xfrm>
            <a:off x="685800" y="2194560"/>
            <a:ext cx="2148840" cy="310896"/>
          </a:xfrm>
          <a:prstGeom prst="roundRect">
            <a:avLst>
              <a:gd name="adj" fmla="val 50000"/>
            </a:avLst>
          </a:prstGeom>
          <a:solidFill>
            <a:srgbClr val="245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2" name="TextBox 111"/>
          <p:cNvSpPr txBox="1"/>
          <p:nvPr/>
        </p:nvSpPr>
        <p:spPr>
          <a:xfrm>
            <a:off x="685800" y="2194560"/>
            <a:ext cx="214884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节目概念示意 · 非实机</a:t>
            </a:r>
            <a:endParaRPr sz="120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2459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03 产品介绍 · 2/6 MVP 完成度</a:t>
            </a:r>
            <a:endParaRPr sz="1300" b="1">
              <a:solidFill>
                <a:srgbClr val="2459D6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1672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MVP 已跑通局部链路，整场直播指标待实测</a:t>
            </a:r>
            <a:endParaRPr sz="3000" b="1">
              <a:solidFill>
                <a:srgbClr val="1F2329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pic>
        <p:nvPicPr>
          <p:cNvPr id="4" name="Picture 3" descr="live-focu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5989320" cy="257818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1417320"/>
            <a:ext cx="5989320" cy="2578184"/>
          </a:xfrm>
          <a:prstGeom prst="rect">
            <a:avLst/>
          </a:prstGeom>
          <a:noFill/>
          <a:ln w="9525">
            <a:solidFill>
              <a:srgbClr val="D5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685800" y="1536192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245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85800" y="1536192"/>
            <a:ext cx="141732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真实运行截图</a:t>
            </a:r>
            <a:endParaRPr sz="120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" y="4050368"/>
            <a:ext cx="5989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5B62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开发版游戏工作台，2026-10-14：AI 没做成工作台，口播“背包里只有云杉原木，得先把它变成木板”。Live2D 为临时占位模型，非姬岁歌最终形象</a:t>
            </a:r>
            <a:endParaRPr sz="1150" b="0">
              <a:solidFill>
                <a:srgbClr val="5B62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812280" y="1417320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245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812280" y="1417320"/>
            <a:ext cx="201168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已完成（有验收记录）</a:t>
            </a:r>
            <a:endParaRPr sz="120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949440" y="1801368"/>
            <a:ext cx="469087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· Flappy Bird：100/100 局达 1,000 分，零碰撞</a:t>
            </a:r>
            <a:endParaRPr sz="1400" b="0">
              <a:solidFill>
                <a:srgbClr val="1F2329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949440" y="2130552"/>
            <a:ext cx="469087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· STS2 快照：18 次成功动作，0 次工具错误</a:t>
            </a:r>
            <a:endParaRPr sz="1400" b="0">
              <a:solidFill>
                <a:srgbClr val="1F2329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812280" y="2624328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245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812280" y="2624328"/>
            <a:ext cx="109728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2459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联调中</a:t>
            </a:r>
            <a:endParaRPr sz="1200" b="1">
              <a:solidFill>
                <a:srgbClr val="2459D6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949440" y="3008376"/>
            <a:ext cx="469087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· Minecraft 规划→执行：采木、木剑；建家未完成</a:t>
            </a:r>
            <a:endParaRPr sz="1400" b="0">
              <a:solidFill>
                <a:srgbClr val="1F2329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949440" y="3337560"/>
            <a:ext cx="469087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· 语音、字幕、Live2D 舞台与导演工作台</a:t>
            </a:r>
            <a:endParaRPr sz="1400" b="0">
              <a:solidFill>
                <a:srgbClr val="1F2329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812280" y="3831335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8A909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812280" y="3831335"/>
            <a:ext cx="109728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5B62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规划中</a:t>
            </a:r>
            <a:endParaRPr sz="1200" b="1">
              <a:solidFill>
                <a:srgbClr val="5B62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949440" y="4215383"/>
            <a:ext cx="469087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· 人类一败涂地联机控制</a:t>
            </a:r>
            <a:endParaRPr sz="1400" b="0">
              <a:solidFill>
                <a:srgbClr val="1F2329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949440" y="4544568"/>
            <a:ext cx="469087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· B站 / 抖音真实事件接入；原创 Live2D 接入</a:t>
            </a:r>
            <a:endParaRPr sz="1400" b="0">
              <a:solidFill>
                <a:srgbClr val="1F2329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48640" y="4645152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2459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整场直播实测字段（同一版本、注明日期与条件）</a:t>
            </a:r>
            <a:endParaRPr sz="1500" b="1">
              <a:solidFill>
                <a:srgbClr val="2459D6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548640" y="5029200"/>
            <a:ext cx="2072030" cy="12618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8A909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85800" y="5148072"/>
            <a:ext cx="179771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5B62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连续运行时长</a:t>
            </a:r>
            <a:endParaRPr sz="1300" b="1">
              <a:solidFill>
                <a:srgbClr val="5B62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85800" y="5422392"/>
            <a:ext cx="179771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8A909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待实测</a:t>
            </a:r>
            <a:endParaRPr sz="2000" b="1">
              <a:solidFill>
                <a:srgbClr val="8A909C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85800" y="5852160"/>
            <a:ext cx="179771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5B62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开播到中断</a:t>
            </a:r>
            <a:endParaRPr sz="1100" b="0">
              <a:solidFill>
                <a:srgbClr val="5B62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2803550" y="5029200"/>
            <a:ext cx="2072030" cy="12618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8A909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2940710" y="5148072"/>
            <a:ext cx="179771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5B62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响应耗时</a:t>
            </a:r>
            <a:endParaRPr sz="1300" b="1">
              <a:solidFill>
                <a:srgbClr val="5B62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2940710" y="5422392"/>
            <a:ext cx="179771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8A909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待实测</a:t>
            </a:r>
            <a:endParaRPr sz="2000" b="1">
              <a:solidFill>
                <a:srgbClr val="8A909C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940710" y="5852160"/>
            <a:ext cx="179771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5B62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语音输入 → 首次可听回应</a:t>
            </a:r>
            <a:endParaRPr sz="1100" b="0">
              <a:solidFill>
                <a:srgbClr val="5B62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5058460" y="5029200"/>
            <a:ext cx="2072030" cy="12618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245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5195620" y="5148072"/>
            <a:ext cx="179771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5B62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任务成功 / 尝试</a:t>
            </a:r>
            <a:endParaRPr sz="1300" b="1">
              <a:solidFill>
                <a:srgbClr val="5B62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195620" y="5422392"/>
            <a:ext cx="179771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2459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18 / 18</a:t>
            </a:r>
            <a:endParaRPr sz="2000" b="1">
              <a:solidFill>
                <a:srgbClr val="2459D6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5195620" y="5852160"/>
            <a:ext cx="179771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5B62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仅 STS2 快照；其余待实测</a:t>
            </a:r>
            <a:endParaRPr sz="1100" b="0">
              <a:solidFill>
                <a:srgbClr val="5B62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7313371" y="5029200"/>
            <a:ext cx="2072030" cy="12618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8A909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7450531" y="5148072"/>
            <a:ext cx="179771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5B62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人工接管</a:t>
            </a:r>
            <a:endParaRPr sz="1300" b="1">
              <a:solidFill>
                <a:srgbClr val="5B62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7450531" y="5422392"/>
            <a:ext cx="179771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8A909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待实测</a:t>
            </a:r>
            <a:endParaRPr sz="2000" b="1">
              <a:solidFill>
                <a:srgbClr val="8A909C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7450531" y="5852160"/>
            <a:ext cx="179771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5B62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次数与原因</a:t>
            </a:r>
            <a:endParaRPr sz="1100" b="0">
              <a:solidFill>
                <a:srgbClr val="5B62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9568281" y="5029200"/>
            <a:ext cx="2072030" cy="12618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8A909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9705441" y="5148072"/>
            <a:ext cx="179771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5B62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调用成本</a:t>
            </a:r>
            <a:endParaRPr sz="1300" b="1">
              <a:solidFill>
                <a:srgbClr val="5B62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9705441" y="5422392"/>
            <a:ext cx="179771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8A909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待实测</a:t>
            </a:r>
            <a:endParaRPr sz="2000" b="1">
              <a:solidFill>
                <a:srgbClr val="8A909C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9705441" y="5852160"/>
            <a:ext cx="179771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5B62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STS2 快照 57,826 tokens，费用未折算</a:t>
            </a:r>
            <a:endParaRPr sz="1100" b="0">
              <a:solidFill>
                <a:srgbClr val="5B62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cxnSp>
        <p:nvCxnSpPr>
          <p:cNvPr id="42" name="Connector 41"/>
          <p:cNvCxnSpPr/>
          <p:nvPr/>
        </p:nvCxnSpPr>
        <p:spPr>
          <a:xfrm>
            <a:off x="548640" y="6382512"/>
            <a:ext cx="11091672" cy="0"/>
          </a:xfrm>
          <a:prstGeom prst="line">
            <a:avLst/>
          </a:prstGeom>
          <a:ln w="9525">
            <a:solidFill>
              <a:srgbClr val="D5D9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548640" y="6437376"/>
            <a:ext cx="98755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8A909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来源：docs/demo-summary-20261018.md · output/sts2/streamer-acceptance.json · logs/minecraft-deepseek-live-run.json</a:t>
            </a:r>
            <a:endParaRPr sz="1100" b="0">
              <a:solidFill>
                <a:srgbClr val="8A909C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44" name="page-number"/>
          <p:cNvSpPr txBox="1"/>
          <p:nvPr/>
        </p:nvSpPr>
        <p:spPr>
          <a:xfrm>
            <a:off x="10543032" y="6437376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200" b="1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07</a:t>
            </a:r>
            <a:r>
              <a:rPr sz="1200" b="0">
                <a:solidFill>
                  <a:srgbClr val="8A909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 / 16</a:t>
            </a:r>
            <a:endParaRPr sz="1200" b="0">
              <a:solidFill>
                <a:srgbClr val="8A909C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sz="1300" b="1">
                <a:solidFill>
                  <a:srgbClr val="2459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03 产品介绍 · 3/6 真人与 AI 联机共播</a:t>
            </a:r>
            <a:endParaRPr lang="en-US" sz="1300" dirty="0"/>
          </a:p>
        </p:txBody>
      </p:sp>
      <p:sp>
        <p:nvSpPr>
          <p:cNvPr id="37" name="Shape 33"/>
          <p:cNvSpPr/>
          <p:nvPr/>
        </p:nvSpPr>
        <p:spPr>
          <a:xfrm>
            <a:off x="548640" y="6382512"/>
            <a:ext cx="11094415" cy="0"/>
          </a:xfrm>
          <a:prstGeom prst="line">
            <a:avLst/>
          </a:prstGeom>
          <a:noFill/>
          <a:ln w="9525">
            <a:solidFill>
              <a:srgbClr val="D5D9E0"/>
            </a:solidFill>
            <a:prstDash val="solid"/>
          </a:ln>
        </p:spPr>
        <p:txBody>
          <a:bodyPr/>
          <a:p/>
        </p:txBody>
      </p:sp>
      <p:sp>
        <p:nvSpPr>
          <p:cNvPr id="39" name="Text 35"/>
          <p:cNvSpPr txBox="1"/>
          <p:nvPr/>
        </p:nvSpPr>
        <p:spPr>
          <a:xfrm>
            <a:off x="10543032" y="6437376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1200" b="1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08</a:t>
            </a:r>
            <a:r>
              <a:rPr sz="1200" b="0">
                <a:solidFill>
                  <a:srgbClr val="8A909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 / 16</a:t>
            </a:r>
            <a:endParaRPr lang="en-US" sz="1200" dirty="0"/>
          </a:p>
        </p:txBody>
      </p:sp>
      <p:sp>
        <p:nvSpPr>
          <p:cNvPr id="101" name="title"/>
          <p:cNvSpPr>
            <a:spLocks noGrp="1"/>
          </p:cNvSpPr>
          <p:nvPr/>
        </p:nvSpPr>
        <p:spPr>
          <a:xfrm>
            <a:off x="552450" y="742950"/>
            <a:ext cx="11096625" cy="600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/>
          <a:lstStyle>
            <a:defPPr>
              <a:defRPr lang="zh-CN" sz="2850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defPPr>
            <a:lvl1pPr>
              <a:defRPr lang="zh-CN" sz="2850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1pPr>
            <a:lvl2pPr>
              <a:defRPr lang="zh-CN" sz="2850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2pPr>
            <a:lvl3pPr>
              <a:defRPr lang="zh-CN" sz="2850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3pPr>
            <a:lvl4pPr>
              <a:defRPr lang="zh-CN" sz="2850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4pPr>
            <a:lvl5pPr>
              <a:defRPr lang="zh-CN" sz="2850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5pPr>
            <a:lvl6pPr>
              <a:defRPr lang="zh-CN" sz="2850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6pPr>
            <a:lvl7pPr>
              <a:defRPr lang="zh-CN" sz="2850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7pPr>
            <a:lvl8pPr>
              <a:defRPr lang="zh-CN" sz="2850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8pPr>
            <a:lvl9pPr>
              <a:defRPr lang="zh-CN" sz="2850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9pPr>
          </a:lstStyle>
          <a:p>
            <a:pPr algn="l">
              <a:defRPr lang="zh-CN" sz="2850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pPr>
            <a:r>
              <a:rPr sz="2850" b="1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人机共播的节目设计与实现路径</a:t>
            </a:r>
            <a:endParaRPr sz="2850" b="1">
              <a:solidFill>
                <a:srgbClr val="1F2329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02" name="intro"/>
          <p:cNvSpPr>
            <a:spLocks noGrp="1"/>
          </p:cNvSpPr>
          <p:nvPr/>
        </p:nvSpPr>
        <p:spPr>
          <a:xfrm>
            <a:off x="552450" y="1400175"/>
            <a:ext cx="110871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/>
          <a:lstStyle>
            <a:defPPr>
              <a:defRPr lang="zh-CN" sz="1725" b="0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defPPr>
            <a:lvl1pPr>
              <a:defRPr lang="zh-CN" sz="1725" b="0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1pPr>
            <a:lvl2pPr>
              <a:defRPr lang="zh-CN" sz="1725" b="0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2pPr>
            <a:lvl3pPr>
              <a:defRPr lang="zh-CN" sz="1725" b="0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3pPr>
            <a:lvl4pPr>
              <a:defRPr lang="zh-CN" sz="1725" b="0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4pPr>
            <a:lvl5pPr>
              <a:defRPr lang="zh-CN" sz="1725" b="0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5pPr>
            <a:lvl6pPr>
              <a:defRPr lang="zh-CN" sz="1725" b="0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6pPr>
            <a:lvl7pPr>
              <a:defRPr lang="zh-CN" sz="1725" b="0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7pPr>
            <a:lvl8pPr>
              <a:defRPr lang="zh-CN" sz="1725" b="0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8pPr>
            <a:lvl9pPr>
              <a:defRPr lang="zh-CN" sz="1725" b="0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9pPr>
          </a:lstStyle>
          <a:p>
            <a:pPr algn="l">
              <a:defRPr lang="zh-CN" sz="1725" b="0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pPr>
            <a:r>
              <a:rPr sz="1600" b="0">
                <a:solidFill>
                  <a:srgbClr val="5B62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人类一败涂地 · 合作解谜节目构想  </a:t>
            </a:r>
            <a:r>
              <a:rPr sz="1600" b="1">
                <a:solidFill>
                  <a:srgbClr val="2459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联机能力待开发验证</a:t>
            </a:r>
            <a:endParaRPr sz="1600" b="1">
              <a:solidFill>
                <a:srgbClr val="2459D6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pic>
        <p:nvPicPr>
          <p:cNvPr id="103" name="图片 10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920240"/>
            <a:ext cx="6896412" cy="3886200"/>
          </a:xfrm>
          <a:prstGeom prst="rect">
            <a:avLst/>
          </a:prstGeom>
        </p:spPr>
      </p:pic>
      <p:sp>
        <p:nvSpPr>
          <p:cNvPr id="104" name="point-0"/>
          <p:cNvSpPr>
            <a:spLocks noGrp="1"/>
          </p:cNvSpPr>
          <p:nvPr/>
        </p:nvSpPr>
        <p:spPr>
          <a:xfrm>
            <a:off x="7765092" y="1920240"/>
            <a:ext cx="3875219" cy="31089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/>
          <a:lstStyle>
            <a:defPPr>
              <a:defRPr lang="zh-CN" sz="1875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defPPr>
            <a:lvl1pPr>
              <a:defRPr lang="zh-CN" sz="1875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1pPr>
            <a:lvl2pPr>
              <a:defRPr lang="zh-CN" sz="1875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2pPr>
            <a:lvl3pPr>
              <a:defRPr lang="zh-CN" sz="1875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3pPr>
            <a:lvl4pPr>
              <a:defRPr lang="zh-CN" sz="1875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4pPr>
            <a:lvl5pPr>
              <a:defRPr lang="zh-CN" sz="1875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5pPr>
            <a:lvl6pPr>
              <a:defRPr lang="zh-CN" sz="1875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6pPr>
            <a:lvl7pPr>
              <a:defRPr lang="zh-CN" sz="1875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7pPr>
            <a:lvl8pPr>
              <a:defRPr lang="zh-CN" sz="1875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8pPr>
            <a:lvl9pPr>
              <a:defRPr lang="zh-CN" sz="1875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9pPr>
          </a:lstStyle>
          <a:p>
            <a:pPr algn="l">
              <a:defRPr lang="zh-CN" sz="1875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pPr>
            <a:r>
              <a:rPr sz="1600" b="1">
                <a:solidFill>
                  <a:srgbClr val="2459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本场挑战</a:t>
            </a:r>
            <a:endParaRPr sz="1600" b="1">
              <a:solidFill>
                <a:srgbClr val="2459D6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05" name="explain-0"/>
          <p:cNvSpPr>
            <a:spLocks noGrp="1"/>
          </p:cNvSpPr>
          <p:nvPr/>
        </p:nvSpPr>
        <p:spPr>
          <a:xfrm>
            <a:off x="7765092" y="2249424"/>
            <a:ext cx="3875219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/>
          <a:lstStyle>
            <a:defPPr>
              <a:defRPr lang="zh-CN" sz="1650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defPPr>
            <a:lvl1pPr>
              <a:defRPr lang="zh-CN" sz="1650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1pPr>
            <a:lvl2pPr>
              <a:defRPr lang="zh-CN" sz="1650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2pPr>
            <a:lvl3pPr>
              <a:defRPr lang="zh-CN" sz="1650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3pPr>
            <a:lvl4pPr>
              <a:defRPr lang="zh-CN" sz="1650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4pPr>
            <a:lvl5pPr>
              <a:defRPr lang="zh-CN" sz="1650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5pPr>
            <a:lvl6pPr>
              <a:defRPr lang="zh-CN" sz="1650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6pPr>
            <a:lvl7pPr>
              <a:defRPr lang="zh-CN" sz="1650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7pPr>
            <a:lvl8pPr>
              <a:defRPr lang="zh-CN" sz="1650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8pPr>
            <a:lvl9pPr>
              <a:defRPr lang="zh-CN" sz="1650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9pPr>
          </a:lstStyle>
          <a:p>
            <a:pPr algn="l">
              <a:defRPr lang="zh-CN" sz="1650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pPr>
            <a:r>
              <a:rPr sz="1500" b="0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限时把队友拉过断崖</a:t>
            </a:r>
            <a:endParaRPr sz="1500" b="0">
              <a:solidFill>
                <a:srgbClr val="1F2329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06" name="point-1"/>
          <p:cNvSpPr>
            <a:spLocks noGrp="1"/>
          </p:cNvSpPr>
          <p:nvPr/>
        </p:nvSpPr>
        <p:spPr>
          <a:xfrm>
            <a:off x="7765092" y="2770632"/>
            <a:ext cx="3875219" cy="31089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/>
          <a:lstStyle>
            <a:defPPr>
              <a:defRPr lang="zh-CN" sz="1875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defPPr>
            <a:lvl1pPr>
              <a:defRPr lang="zh-CN" sz="1875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1pPr>
            <a:lvl2pPr>
              <a:defRPr lang="zh-CN" sz="1875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2pPr>
            <a:lvl3pPr>
              <a:defRPr lang="zh-CN" sz="1875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3pPr>
            <a:lvl4pPr>
              <a:defRPr lang="zh-CN" sz="1875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4pPr>
            <a:lvl5pPr>
              <a:defRPr lang="zh-CN" sz="1875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5pPr>
            <a:lvl6pPr>
              <a:defRPr lang="zh-CN" sz="1875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6pPr>
            <a:lvl7pPr>
              <a:defRPr lang="zh-CN" sz="1875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7pPr>
            <a:lvl8pPr>
              <a:defRPr lang="zh-CN" sz="1875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8pPr>
            <a:lvl9pPr>
              <a:defRPr lang="zh-CN" sz="1875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9pPr>
          </a:lstStyle>
          <a:p>
            <a:pPr algn="l">
              <a:defRPr lang="zh-CN" sz="1875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pPr>
            <a:r>
              <a:rPr sz="1600" b="1">
                <a:solidFill>
                  <a:srgbClr val="2459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主持人任务</a:t>
            </a:r>
            <a:endParaRPr sz="1600" b="1">
              <a:solidFill>
                <a:srgbClr val="2459D6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07" name="explain-1"/>
          <p:cNvSpPr>
            <a:spLocks noGrp="1"/>
          </p:cNvSpPr>
          <p:nvPr/>
        </p:nvSpPr>
        <p:spPr>
          <a:xfrm>
            <a:off x="7765092" y="3099816"/>
            <a:ext cx="3875219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/>
          <a:lstStyle>
            <a:defPPr>
              <a:defRPr lang="zh-CN" sz="1650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defPPr>
            <a:lvl1pPr>
              <a:defRPr lang="zh-CN" sz="1650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1pPr>
            <a:lvl2pPr>
              <a:defRPr lang="zh-CN" sz="1650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2pPr>
            <a:lvl3pPr>
              <a:defRPr lang="zh-CN" sz="1650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3pPr>
            <a:lvl4pPr>
              <a:defRPr lang="zh-CN" sz="1650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4pPr>
            <a:lvl5pPr>
              <a:defRPr lang="zh-CN" sz="1650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5pPr>
            <a:lvl6pPr>
              <a:defRPr lang="zh-CN" sz="1650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6pPr>
            <a:lvl7pPr>
              <a:defRPr lang="zh-CN" sz="1650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7pPr>
            <a:lvl8pPr>
              <a:defRPr lang="zh-CN" sz="1650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8pPr>
            <a:lvl9pPr>
              <a:defRPr lang="zh-CN" sz="1650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9pPr>
          </a:lstStyle>
          <a:p>
            <a:pPr algn="l">
              <a:defRPr lang="zh-CN" sz="1650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pPr>
            <a:r>
              <a:rPr sz="1500" b="0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定规则、出主意、给真实反应</a:t>
            </a:r>
            <a:endParaRPr sz="1500" b="0">
              <a:solidFill>
                <a:srgbClr val="1F2329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08" name="point-2"/>
          <p:cNvSpPr>
            <a:spLocks noGrp="1"/>
          </p:cNvSpPr>
          <p:nvPr/>
        </p:nvSpPr>
        <p:spPr>
          <a:xfrm>
            <a:off x="7765092" y="3621024"/>
            <a:ext cx="3875219" cy="31089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/>
          <a:lstStyle>
            <a:defPPr>
              <a:defRPr lang="zh-CN" sz="1875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defPPr>
            <a:lvl1pPr>
              <a:defRPr lang="zh-CN" sz="1875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1pPr>
            <a:lvl2pPr>
              <a:defRPr lang="zh-CN" sz="1875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2pPr>
            <a:lvl3pPr>
              <a:defRPr lang="zh-CN" sz="1875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3pPr>
            <a:lvl4pPr>
              <a:defRPr lang="zh-CN" sz="1875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4pPr>
            <a:lvl5pPr>
              <a:defRPr lang="zh-CN" sz="1875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5pPr>
            <a:lvl6pPr>
              <a:defRPr lang="zh-CN" sz="1875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6pPr>
            <a:lvl7pPr>
              <a:defRPr lang="zh-CN" sz="1875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7pPr>
            <a:lvl8pPr>
              <a:defRPr lang="zh-CN" sz="1875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8pPr>
            <a:lvl9pPr>
              <a:defRPr lang="zh-CN" sz="1875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9pPr>
          </a:lstStyle>
          <a:p>
            <a:pPr algn="l">
              <a:defRPr lang="zh-CN" sz="1875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pPr>
            <a:r>
              <a:rPr sz="1600" b="1">
                <a:solidFill>
                  <a:srgbClr val="2459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AI 角色任务</a:t>
            </a:r>
            <a:endParaRPr sz="1600" b="1">
              <a:solidFill>
                <a:srgbClr val="2459D6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09" name="explain-2"/>
          <p:cNvSpPr>
            <a:spLocks noGrp="1"/>
          </p:cNvSpPr>
          <p:nvPr/>
        </p:nvSpPr>
        <p:spPr>
          <a:xfrm>
            <a:off x="7765092" y="3950208"/>
            <a:ext cx="3875219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/>
          <a:lstStyle>
            <a:defPPr>
              <a:defRPr lang="zh-CN" sz="1650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defPPr>
            <a:lvl1pPr>
              <a:defRPr lang="zh-CN" sz="1650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1pPr>
            <a:lvl2pPr>
              <a:defRPr lang="zh-CN" sz="1650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2pPr>
            <a:lvl3pPr>
              <a:defRPr lang="zh-CN" sz="1650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3pPr>
            <a:lvl4pPr>
              <a:defRPr lang="zh-CN" sz="1650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4pPr>
            <a:lvl5pPr>
              <a:defRPr lang="zh-CN" sz="1650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5pPr>
            <a:lvl6pPr>
              <a:defRPr lang="zh-CN" sz="1650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6pPr>
            <a:lvl7pPr>
              <a:defRPr lang="zh-CN" sz="1650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7pPr>
            <a:lvl8pPr>
              <a:defRPr lang="zh-CN" sz="1650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8pPr>
            <a:lvl9pPr>
              <a:defRPr lang="zh-CN" sz="1650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9pPr>
          </a:lstStyle>
          <a:p>
            <a:pPr algn="l">
              <a:defRPr lang="zh-CN" sz="1650" b="0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pPr>
            <a:r>
              <a:rPr sz="1500" b="0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按角色接话；联机动作待实现</a:t>
            </a:r>
            <a:endParaRPr sz="1500" b="0">
              <a:solidFill>
                <a:srgbClr val="1F2329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10" name="footer"/>
          <p:cNvSpPr>
            <a:spLocks noGrp="1"/>
          </p:cNvSpPr>
          <p:nvPr/>
        </p:nvSpPr>
        <p:spPr>
          <a:xfrm>
            <a:off x="552450" y="6457950"/>
            <a:ext cx="9906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/>
          <a:lstStyle>
            <a:defPPr>
              <a:defRPr lang="zh-CN" sz="900" b="0">
                <a:solidFill>
                  <a:srgbClr val="7F88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defPPr>
            <a:lvl1pPr>
              <a:defRPr lang="zh-CN" sz="900" b="0">
                <a:solidFill>
                  <a:srgbClr val="7F88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1pPr>
            <a:lvl2pPr>
              <a:defRPr lang="zh-CN" sz="900" b="0">
                <a:solidFill>
                  <a:srgbClr val="7F88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2pPr>
            <a:lvl3pPr>
              <a:defRPr lang="zh-CN" sz="900" b="0">
                <a:solidFill>
                  <a:srgbClr val="7F88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3pPr>
            <a:lvl4pPr>
              <a:defRPr lang="zh-CN" sz="900" b="0">
                <a:solidFill>
                  <a:srgbClr val="7F88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4pPr>
            <a:lvl5pPr>
              <a:defRPr lang="zh-CN" sz="900" b="0">
                <a:solidFill>
                  <a:srgbClr val="7F88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5pPr>
            <a:lvl6pPr>
              <a:defRPr lang="zh-CN" sz="900" b="0">
                <a:solidFill>
                  <a:srgbClr val="7F88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6pPr>
            <a:lvl7pPr>
              <a:defRPr lang="zh-CN" sz="900" b="0">
                <a:solidFill>
                  <a:srgbClr val="7F88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7pPr>
            <a:lvl8pPr>
              <a:defRPr lang="zh-CN" sz="900" b="0">
                <a:solidFill>
                  <a:srgbClr val="7F88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8pPr>
            <a:lvl9pPr>
              <a:defRPr lang="zh-CN" sz="900" b="0">
                <a:solidFill>
                  <a:srgbClr val="7F88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9pPr>
          </a:lstStyle>
          <a:p>
            <a:pPr algn="l">
              <a:defRPr lang="zh-CN" sz="900" b="0">
                <a:solidFill>
                  <a:srgbClr val="7F88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pPr>
            <a:r>
              <a:rPr sz="1050" b="0">
                <a:solidFill>
                  <a:srgbClr val="8A909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节目效果示意，非实机录屏；对白与弹幕为拟写；人机联机控制尚待实现与验证</a:t>
            </a:r>
            <a:endParaRPr sz="1050" b="0">
              <a:solidFill>
                <a:srgbClr val="8A909C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11" name="Rounded Rectangle 110"/>
          <p:cNvSpPr/>
          <p:nvPr/>
        </p:nvSpPr>
        <p:spPr>
          <a:xfrm>
            <a:off x="5159052" y="2029968"/>
            <a:ext cx="2148840" cy="310896"/>
          </a:xfrm>
          <a:prstGeom prst="roundRect">
            <a:avLst>
              <a:gd name="adj" fmla="val 50000"/>
            </a:avLst>
          </a:prstGeom>
          <a:solidFill>
            <a:srgbClr val="245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2" name="TextBox 111"/>
          <p:cNvSpPr txBox="1"/>
          <p:nvPr/>
        </p:nvSpPr>
        <p:spPr>
          <a:xfrm>
            <a:off x="5159052" y="2029968"/>
            <a:ext cx="214884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节目概念示意 · 非实机</a:t>
            </a:r>
            <a:endParaRPr sz="120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13" name="TextBox 112"/>
          <p:cNvSpPr txBox="1"/>
          <p:nvPr/>
        </p:nvSpPr>
        <p:spPr>
          <a:xfrm>
            <a:off x="548640" y="5897880"/>
            <a:ext cx="689641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>
                <a:solidFill>
                  <a:srgbClr val="2459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实现路径  </a:t>
            </a:r>
            <a:r>
              <a:rPr sz="1250" b="0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先在已接入的 Minecraft 中验证主持人与 AI 的对话和任务协作，再开发本游戏联机；Minecraft 成果不能证明本游戏的控制能力</a:t>
            </a:r>
            <a:endParaRPr sz="1250" b="0">
              <a:solidFill>
                <a:srgbClr val="1F2329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14" name="TextBox 113"/>
          <p:cNvSpPr txBox="1"/>
          <p:nvPr/>
        </p:nvSpPr>
        <p:spPr>
          <a:xfrm>
            <a:off x="7765092" y="4471416"/>
            <a:ext cx="387521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2459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观众参与</a:t>
            </a:r>
            <a:endParaRPr sz="1600" b="1">
              <a:solidFill>
                <a:srgbClr val="2459D6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15" name="TextBox 114"/>
          <p:cNvSpPr txBox="1"/>
          <p:nvPr/>
        </p:nvSpPr>
        <p:spPr>
          <a:xfrm>
            <a:off x="7765092" y="4800600"/>
            <a:ext cx="387521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弹幕投票先救谁、怎么爬</a:t>
            </a:r>
            <a:endParaRPr sz="1500" b="0">
              <a:solidFill>
                <a:srgbClr val="1F2329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16" name="TextBox 115"/>
          <p:cNvSpPr txBox="1"/>
          <p:nvPr/>
        </p:nvSpPr>
        <p:spPr>
          <a:xfrm>
            <a:off x="7765092" y="5321808"/>
            <a:ext cx="387521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2459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下场回收</a:t>
            </a:r>
            <a:endParaRPr sz="1600" b="1">
              <a:solidFill>
                <a:srgbClr val="2459D6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17" name="TextBox 116"/>
          <p:cNvSpPr txBox="1"/>
          <p:nvPr/>
        </p:nvSpPr>
        <p:spPr>
          <a:xfrm>
            <a:off x="7765092" y="5650992"/>
            <a:ext cx="387521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清算这场谁拖累了谁</a:t>
            </a:r>
            <a:endParaRPr sz="1500" b="0">
              <a:solidFill>
                <a:srgbClr val="1F2329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2459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03 产品介绍 · 4/6 观众验证</a:t>
            </a:r>
            <a:endParaRPr sz="1300" b="1">
              <a:solidFill>
                <a:srgbClr val="2459D6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1672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观众验证：已有 5 人初步反馈，30 人测试待执行</a:t>
            </a:r>
            <a:endParaRPr sz="3000" b="1">
              <a:solidFill>
                <a:srgbClr val="1F2329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4663440" cy="3337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822960" y="1645920"/>
            <a:ext cx="160020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245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16002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2459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已有 · 初步定性</a:t>
            </a:r>
            <a:endParaRPr sz="1200" b="1">
              <a:solidFill>
                <a:srgbClr val="2459D6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2960" y="2029968"/>
            <a:ext cx="41148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5 名路人观众</a:t>
            </a:r>
            <a:endParaRPr sz="2000" b="1">
              <a:solidFill>
                <a:srgbClr val="1F2329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22960" y="2560320"/>
            <a:ext cx="11887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5B62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主要反馈</a:t>
            </a:r>
            <a:endParaRPr sz="1400" b="1">
              <a:solidFill>
                <a:srgbClr val="5B62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011680" y="2560320"/>
            <a:ext cx="2926079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偏好整活与联动内容（团队口述）</a:t>
            </a:r>
            <a:endParaRPr sz="1400" b="0">
              <a:solidFill>
                <a:srgbClr val="1F2329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22960" y="2990087"/>
            <a:ext cx="11887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5B62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招募渠道</a:t>
            </a:r>
            <a:endParaRPr sz="1400" b="1">
              <a:solidFill>
                <a:srgbClr val="5B62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011680" y="2990087"/>
            <a:ext cx="2926079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>
                <a:solidFill>
                  <a:srgbClr val="8A909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待补</a:t>
            </a:r>
            <a:endParaRPr sz="1400" b="0">
              <a:solidFill>
                <a:srgbClr val="8A909C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22960" y="3419856"/>
            <a:ext cx="11887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5B62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观看材料</a:t>
            </a:r>
            <a:endParaRPr sz="1400" b="1">
              <a:solidFill>
                <a:srgbClr val="5B62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011680" y="3419856"/>
            <a:ext cx="2926079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>
                <a:solidFill>
                  <a:srgbClr val="8A909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待补</a:t>
            </a:r>
            <a:endParaRPr sz="1400" b="0">
              <a:solidFill>
                <a:srgbClr val="8A909C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22960" y="3849624"/>
            <a:ext cx="11887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5B62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时间</a:t>
            </a:r>
            <a:endParaRPr sz="1400" b="1">
              <a:solidFill>
                <a:srgbClr val="5B62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011680" y="3849624"/>
            <a:ext cx="2926079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>
                <a:solidFill>
                  <a:srgbClr val="8A909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2026-10（具体日期待补）</a:t>
            </a:r>
            <a:endParaRPr sz="1400" b="0">
              <a:solidFill>
                <a:srgbClr val="8A909C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22960" y="4279392"/>
            <a:ext cx="11887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5B62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据此修改</a:t>
            </a:r>
            <a:endParaRPr sz="1400" b="1">
              <a:solidFill>
                <a:srgbClr val="5B62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011680" y="4279392"/>
            <a:ext cx="2926079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>
                <a:solidFill>
                  <a:srgbClr val="8A909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待补</a:t>
            </a:r>
            <a:endParaRPr sz="1400" b="0">
              <a:solidFill>
                <a:srgbClr val="8A909C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486399" y="1463040"/>
            <a:ext cx="6153912" cy="3337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8A909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/>
          <p:cNvSpPr/>
          <p:nvPr/>
        </p:nvSpPr>
        <p:spPr>
          <a:xfrm>
            <a:off x="5760719" y="1645920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8A909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5760719" y="1645920"/>
            <a:ext cx="141732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5B62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计划 · 待执行</a:t>
            </a:r>
            <a:endParaRPr sz="1200" b="1">
              <a:solidFill>
                <a:srgbClr val="5B62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760719" y="2029968"/>
            <a:ext cx="560527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30 名成年受试者</a:t>
            </a:r>
            <a:endParaRPr sz="2000" b="1">
              <a:solidFill>
                <a:srgbClr val="1F2329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760719" y="2514600"/>
            <a:ext cx="56052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5B62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观察指标</a:t>
            </a:r>
            <a:endParaRPr sz="1400" b="1">
              <a:solidFill>
                <a:srgbClr val="5B62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5760719" y="2834640"/>
            <a:ext cx="1033272" cy="347472"/>
          </a:xfrm>
          <a:prstGeom prst="roundRect">
            <a:avLst>
              <a:gd name="adj" fmla="val 50000"/>
            </a:avLst>
          </a:prstGeom>
          <a:solidFill>
            <a:srgbClr val="EAF0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5760719" y="2834640"/>
            <a:ext cx="103327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2459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观看时长</a:t>
            </a:r>
            <a:endParaRPr sz="1300" b="1">
              <a:solidFill>
                <a:srgbClr val="2459D6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6903719" y="2834640"/>
            <a:ext cx="1033272" cy="347472"/>
          </a:xfrm>
          <a:prstGeom prst="roundRect">
            <a:avLst>
              <a:gd name="adj" fmla="val 50000"/>
            </a:avLst>
          </a:prstGeom>
          <a:solidFill>
            <a:srgbClr val="EAF0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903719" y="2834640"/>
            <a:ext cx="103327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2459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角色辨识</a:t>
            </a:r>
            <a:endParaRPr sz="1300" b="1">
              <a:solidFill>
                <a:srgbClr val="2459D6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8046720" y="2834640"/>
            <a:ext cx="1033272" cy="347472"/>
          </a:xfrm>
          <a:prstGeom prst="roundRect">
            <a:avLst>
              <a:gd name="adj" fmla="val 50000"/>
            </a:avLst>
          </a:prstGeom>
          <a:solidFill>
            <a:srgbClr val="EAF0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8046720" y="2834640"/>
            <a:ext cx="103327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2459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事件记忆</a:t>
            </a:r>
            <a:endParaRPr sz="1300" b="1">
              <a:solidFill>
                <a:srgbClr val="2459D6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9189720" y="2834640"/>
            <a:ext cx="1033272" cy="347472"/>
          </a:xfrm>
          <a:prstGeom prst="roundRect">
            <a:avLst>
              <a:gd name="adj" fmla="val 50000"/>
            </a:avLst>
          </a:prstGeom>
          <a:solidFill>
            <a:srgbClr val="EAF0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9189720" y="2834640"/>
            <a:ext cx="103327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2459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主动回访</a:t>
            </a:r>
            <a:endParaRPr sz="1300" b="1">
              <a:solidFill>
                <a:srgbClr val="2459D6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10332720" y="2834640"/>
            <a:ext cx="1033272" cy="347472"/>
          </a:xfrm>
          <a:prstGeom prst="roundRect">
            <a:avLst>
              <a:gd name="adj" fmla="val 50000"/>
            </a:avLst>
          </a:prstGeom>
          <a:solidFill>
            <a:srgbClr val="EAF0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10332720" y="2834640"/>
            <a:ext cx="103327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2459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付费意愿</a:t>
            </a:r>
            <a:endParaRPr sz="1300" b="1">
              <a:solidFill>
                <a:srgbClr val="2459D6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5760719" y="3337560"/>
            <a:ext cx="5605272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2459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方法  </a:t>
            </a:r>
            <a:r>
              <a:rPr sz="1400" b="0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按观看习惯分层，随机平衡两段各 6 分钟样片的观看顺序</a:t>
            </a:r>
            <a:endParaRPr sz="1400" b="0">
              <a:solidFill>
                <a:srgbClr val="1F2329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  <a:p>
            <a:pPr algn="l">
              <a:spcAft>
                <a:spcPts val="500"/>
              </a:spcAft>
            </a:pPr>
            <a:r>
              <a:rPr sz="1400" b="1">
                <a:solidFill>
                  <a:srgbClr val="2459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探索性对比  </a:t>
            </a:r>
            <a:r>
              <a:rPr sz="1400" b="0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同主题、同时长的纯 AI 与人机共播短片</a:t>
            </a:r>
            <a:endParaRPr sz="1400" b="0">
              <a:solidFill>
                <a:srgbClr val="1F2329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  <a:p>
            <a:pPr algn="l">
              <a:spcAft>
                <a:spcPts val="500"/>
              </a:spcAft>
            </a:pPr>
            <a:r>
              <a:rPr sz="1400" b="1">
                <a:solidFill>
                  <a:srgbClr val="2459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预设门槛  </a:t>
            </a:r>
            <a:r>
              <a:rPr sz="1400" b="0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自由观看中位数 3 分钟；≥15 人记住角色或事件；≥6 人 7 天内主动回看满 60 秒</a:t>
            </a:r>
            <a:endParaRPr sz="1400" b="0">
              <a:solidFill>
                <a:srgbClr val="1F2329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548640" y="502920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2459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证据强度由弱到强（均未验证）</a:t>
            </a:r>
            <a:endParaRPr sz="1500" b="1">
              <a:solidFill>
                <a:srgbClr val="2459D6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548640" y="5440680"/>
            <a:ext cx="3246120" cy="7772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D5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777240" y="5486400"/>
            <a:ext cx="2788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口头意愿</a:t>
            </a:r>
            <a:endParaRPr sz="1700" b="1">
              <a:solidFill>
                <a:srgbClr val="1F2329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777240" y="5833872"/>
            <a:ext cx="2788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5B62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“愿意看 / 愿意买”</a:t>
            </a:r>
            <a:endParaRPr sz="1300" b="0">
              <a:solidFill>
                <a:srgbClr val="5B62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cxnSp>
        <p:nvCxnSpPr>
          <p:cNvPr id="38" name="Connector 37"/>
          <p:cNvCxnSpPr/>
          <p:nvPr/>
        </p:nvCxnSpPr>
        <p:spPr>
          <a:xfrm>
            <a:off x="3886199" y="5824728"/>
            <a:ext cx="502921" cy="0"/>
          </a:xfrm>
          <a:prstGeom prst="line">
            <a:avLst/>
          </a:prstGeom>
          <a:ln w="25400">
            <a:solidFill>
              <a:srgbClr val="2459D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4480559" y="5440680"/>
            <a:ext cx="324612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4709159" y="5486400"/>
            <a:ext cx="2788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真实回访</a:t>
            </a:r>
            <a:endParaRPr sz="1700" b="1">
              <a:solidFill>
                <a:srgbClr val="1F2329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4709159" y="5833872"/>
            <a:ext cx="2788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5B62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自愿回到下一场</a:t>
            </a:r>
            <a:endParaRPr sz="1300" b="0">
              <a:solidFill>
                <a:srgbClr val="5B62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cxnSp>
        <p:nvCxnSpPr>
          <p:cNvPr id="42" name="Connector 41"/>
          <p:cNvCxnSpPr/>
          <p:nvPr/>
        </p:nvCxnSpPr>
        <p:spPr>
          <a:xfrm>
            <a:off x="7818119" y="5824728"/>
            <a:ext cx="502921" cy="0"/>
          </a:xfrm>
          <a:prstGeom prst="line">
            <a:avLst/>
          </a:prstGeom>
          <a:ln w="25400">
            <a:solidFill>
              <a:srgbClr val="2459D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8412480" y="5440680"/>
            <a:ext cx="324612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8641080" y="5486400"/>
            <a:ext cx="2788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真实付费</a:t>
            </a:r>
            <a:endParaRPr sz="1700" b="1">
              <a:solidFill>
                <a:srgbClr val="1F2329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8641080" y="5833872"/>
            <a:ext cx="2788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5B62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平台净到账</a:t>
            </a:r>
            <a:endParaRPr sz="1300" b="0">
              <a:solidFill>
                <a:srgbClr val="5B62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cxnSp>
        <p:nvCxnSpPr>
          <p:cNvPr id="46" name="Connector 45"/>
          <p:cNvCxnSpPr/>
          <p:nvPr/>
        </p:nvCxnSpPr>
        <p:spPr>
          <a:xfrm>
            <a:off x="548640" y="6382512"/>
            <a:ext cx="11091672" cy="0"/>
          </a:xfrm>
          <a:prstGeom prst="line">
            <a:avLst/>
          </a:prstGeom>
          <a:ln w="9525">
            <a:solidFill>
              <a:srgbClr val="D5D9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548640" y="6437376"/>
            <a:ext cx="98755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8A909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依据：团队口述（5 人路人反馈，2026-10）；商业计划书第 19 页“观众验收与接梗复测”    小样本结果只用于改节目，不宣称已验证 PMF</a:t>
            </a:r>
            <a:endParaRPr sz="1100" b="0">
              <a:solidFill>
                <a:srgbClr val="8A909C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48" name="page-number"/>
          <p:cNvSpPr txBox="1"/>
          <p:nvPr/>
        </p:nvSpPr>
        <p:spPr>
          <a:xfrm>
            <a:off x="10543032" y="6437376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200" b="1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09</a:t>
            </a:r>
            <a:r>
              <a:rPr sz="1200" b="0">
                <a:solidFill>
                  <a:srgbClr val="8A909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 / 16</a:t>
            </a:r>
            <a:endParaRPr sz="1200" b="0">
              <a:solidFill>
                <a:srgbClr val="8A909C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" name="连接符: 肘形 33"/>
          <p:cNvCxnSpPr>
            <a:stCxn id="20" idx="3"/>
            <a:endCxn id="26" idx="1"/>
          </p:cNvCxnSpPr>
          <p:nvPr/>
        </p:nvCxnSpPr>
        <p:spPr>
          <a:xfrm>
            <a:off x="5000625" y="4238625"/>
            <a:ext cx="619125" cy="600075"/>
          </a:xfrm>
          <a:prstGeom prst="bentConnector3">
            <a:avLst>
              <a:gd name="adj1" fmla="val 50000"/>
            </a:avLst>
          </a:prstGeom>
          <a:ln w="15240">
            <a:solidFill>
              <a:srgbClr val="647CA9"/>
            </a:solidFill>
            <a:tailEnd type="arrow" w="med" len="med"/>
          </a:ln>
        </p:spPr>
      </p:cxnSp>
      <p:cxnSp>
        <p:nvCxnSpPr>
          <p:cNvPr id="33" name="连接符: 肘形 32"/>
          <p:cNvCxnSpPr>
            <a:stCxn id="20" idx="3"/>
            <a:endCxn id="23" idx="1"/>
          </p:cNvCxnSpPr>
          <p:nvPr/>
        </p:nvCxnSpPr>
        <p:spPr>
          <a:xfrm flipV="1">
            <a:off x="5000625" y="3619500"/>
            <a:ext cx="619125" cy="619125"/>
          </a:xfrm>
          <a:prstGeom prst="bentConnector3">
            <a:avLst>
              <a:gd name="adj1" fmla="val 50000"/>
            </a:avLst>
          </a:prstGeom>
          <a:ln w="15240">
            <a:solidFill>
              <a:srgbClr val="647CA9"/>
            </a:solidFill>
            <a:tailEnd type="arrow" w="med" len="med"/>
          </a:ln>
        </p:spPr>
      </p:cxnSp>
      <p:cxnSp>
        <p:nvCxnSpPr>
          <p:cNvPr id="32" name="直接箭头连接符 31"/>
          <p:cNvCxnSpPr>
            <a:stCxn id="17" idx="2"/>
            <a:endCxn id="20" idx="0"/>
          </p:cNvCxnSpPr>
          <p:nvPr/>
        </p:nvCxnSpPr>
        <p:spPr>
          <a:xfrm>
            <a:off x="3857625" y="3486150"/>
            <a:ext cx="0" cy="276225"/>
          </a:xfrm>
          <a:prstGeom prst="straightConnector1">
            <a:avLst/>
          </a:prstGeom>
          <a:ln w="15240">
            <a:solidFill>
              <a:srgbClr val="647CA9"/>
            </a:solidFill>
            <a:tailEnd type="arrow" w="med" len="med"/>
          </a:ln>
        </p:spPr>
      </p:cxnSp>
      <p:cxnSp>
        <p:nvCxnSpPr>
          <p:cNvPr id="31" name="连接符: 肘形 30"/>
          <p:cNvCxnSpPr>
            <a:stCxn id="14" idx="3"/>
            <a:endCxn id="20" idx="1"/>
          </p:cNvCxnSpPr>
          <p:nvPr/>
        </p:nvCxnSpPr>
        <p:spPr>
          <a:xfrm flipV="1">
            <a:off x="2076450" y="4238625"/>
            <a:ext cx="638175" cy="866775"/>
          </a:xfrm>
          <a:prstGeom prst="bentConnector3">
            <a:avLst>
              <a:gd name="adj1" fmla="val 50000"/>
            </a:avLst>
          </a:prstGeom>
          <a:ln w="15240">
            <a:solidFill>
              <a:srgbClr val="647CA9"/>
            </a:solidFill>
            <a:tailEnd type="arrow" w="med" len="med"/>
          </a:ln>
        </p:spPr>
      </p:cxnSp>
      <p:cxnSp>
        <p:nvCxnSpPr>
          <p:cNvPr id="30" name="连接符: 肘形 29"/>
          <p:cNvCxnSpPr>
            <a:stCxn id="11" idx="3"/>
            <a:endCxn id="20" idx="1"/>
          </p:cNvCxnSpPr>
          <p:nvPr/>
        </p:nvCxnSpPr>
        <p:spPr>
          <a:xfrm>
            <a:off x="2076450" y="4152900"/>
            <a:ext cx="638175" cy="85725"/>
          </a:xfrm>
          <a:prstGeom prst="bentConnector3">
            <a:avLst>
              <a:gd name="adj1" fmla="val 50000"/>
            </a:avLst>
          </a:prstGeom>
          <a:ln w="15240">
            <a:solidFill>
              <a:srgbClr val="647CA9"/>
            </a:solidFill>
            <a:tailEnd type="arrow" w="med" len="med"/>
          </a:ln>
        </p:spPr>
      </p:cxnSp>
      <p:cxnSp>
        <p:nvCxnSpPr>
          <p:cNvPr id="29" name="连接符: 肘形 28"/>
          <p:cNvCxnSpPr>
            <a:stCxn id="8" idx="3"/>
            <a:endCxn id="20" idx="1"/>
          </p:cNvCxnSpPr>
          <p:nvPr/>
        </p:nvCxnSpPr>
        <p:spPr>
          <a:xfrm>
            <a:off x="2076450" y="3200400"/>
            <a:ext cx="638175" cy="1038225"/>
          </a:xfrm>
          <a:prstGeom prst="bentConnector3">
            <a:avLst>
              <a:gd name="adj1" fmla="val 50000"/>
            </a:avLst>
          </a:prstGeom>
          <a:ln w="15240">
            <a:solidFill>
              <a:srgbClr val="647CA9"/>
            </a:solidFill>
            <a:tailEnd type="arrow" w="med" len="med"/>
          </a:ln>
        </p:spPr>
      </p:cxnSp>
      <p:sp>
        <p:nvSpPr>
          <p:cNvPr id="44" name="eyebrow"/>
          <p:cNvSpPr>
            <a:spLocks noGrp="1"/>
          </p:cNvSpPr>
          <p:nvPr/>
        </p:nvSpPr>
        <p:spPr>
          <a:xfrm>
            <a:off x="552450" y="295275"/>
            <a:ext cx="6667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/>
          <a:lstStyle>
            <a:defPPr>
              <a:defRPr lang="zh-CN" sz="135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defPPr>
            <a:lvl1pPr>
              <a:defRPr lang="zh-CN" sz="135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1pPr>
            <a:lvl2pPr>
              <a:defRPr lang="zh-CN" sz="135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2pPr>
            <a:lvl3pPr>
              <a:defRPr lang="zh-CN" sz="135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3pPr>
            <a:lvl4pPr>
              <a:defRPr lang="zh-CN" sz="135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4pPr>
            <a:lvl5pPr>
              <a:defRPr lang="zh-CN" sz="135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5pPr>
            <a:lvl6pPr>
              <a:defRPr lang="zh-CN" sz="135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6pPr>
            <a:lvl7pPr>
              <a:defRPr lang="zh-CN" sz="135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7pPr>
            <a:lvl8pPr>
              <a:defRPr lang="zh-CN" sz="135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8pPr>
            <a:lvl9pPr>
              <a:defRPr lang="zh-CN" sz="135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9pPr>
          </a:lstStyle>
          <a:p>
            <a:pPr algn="l">
              <a:defRPr lang="zh-CN" sz="135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pPr>
            <a:r>
              <a:rPr sz="1300" b="1">
                <a:solidFill>
                  <a:srgbClr val="2459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03 产品介绍 · 5/6 技术与角色资产</a:t>
            </a:r>
            <a:endParaRPr sz="1300" b="1">
              <a:solidFill>
                <a:srgbClr val="2459D6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2" name="title"/>
          <p:cNvSpPr>
            <a:spLocks noGrp="1"/>
          </p:cNvSpPr>
          <p:nvPr/>
        </p:nvSpPr>
        <p:spPr>
          <a:xfrm>
            <a:off x="552450" y="742950"/>
            <a:ext cx="11096625" cy="600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/>
          <a:lstStyle>
            <a:defPPr>
              <a:defRPr lang="zh-CN" sz="2850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defPPr>
            <a:lvl1pPr>
              <a:defRPr lang="zh-CN" sz="2850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1pPr>
            <a:lvl2pPr>
              <a:defRPr lang="zh-CN" sz="2850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2pPr>
            <a:lvl3pPr>
              <a:defRPr lang="zh-CN" sz="2850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3pPr>
            <a:lvl4pPr>
              <a:defRPr lang="zh-CN" sz="2850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4pPr>
            <a:lvl5pPr>
              <a:defRPr lang="zh-CN" sz="2850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5pPr>
            <a:lvl6pPr>
              <a:defRPr lang="zh-CN" sz="2850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6pPr>
            <a:lvl7pPr>
              <a:defRPr lang="zh-CN" sz="2850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7pPr>
            <a:lvl8pPr>
              <a:defRPr lang="zh-CN" sz="2850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8pPr>
            <a:lvl9pPr>
              <a:defRPr lang="zh-CN" sz="2850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9pPr>
          </a:lstStyle>
          <a:p>
            <a:pPr algn="l">
              <a:defRPr lang="zh-CN" sz="2850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pPr>
            <a:r>
              <a:rPr sz="2850" b="1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直播角色引擎方案与周边概念</a:t>
            </a:r>
            <a:endParaRPr sz="2850" b="1">
              <a:solidFill>
                <a:srgbClr val="1F2329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3" name="architecture-heading"/>
          <p:cNvSpPr>
            <a:spLocks noGrp="1"/>
          </p:cNvSpPr>
          <p:nvPr/>
        </p:nvSpPr>
        <p:spPr>
          <a:xfrm>
            <a:off x="552450" y="1724025"/>
            <a:ext cx="68580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/>
          <a:lstStyle>
            <a:defPPr>
              <a:defRPr lang="zh-CN" sz="1800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defPPr>
            <a:lvl1pPr>
              <a:defRPr lang="zh-CN" sz="1800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1pPr>
            <a:lvl2pPr>
              <a:defRPr lang="zh-CN" sz="1800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2pPr>
            <a:lvl3pPr>
              <a:defRPr lang="zh-CN" sz="1800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3pPr>
            <a:lvl4pPr>
              <a:defRPr lang="zh-CN" sz="1800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4pPr>
            <a:lvl5pPr>
              <a:defRPr lang="zh-CN" sz="1800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5pPr>
            <a:lvl6pPr>
              <a:defRPr lang="zh-CN" sz="1800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6pPr>
            <a:lvl7pPr>
              <a:defRPr lang="zh-CN" sz="1800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7pPr>
            <a:lvl8pPr>
              <a:defRPr lang="zh-CN" sz="1800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8pPr>
            <a:lvl9pPr>
              <a:defRPr lang="zh-CN" sz="1800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9pPr>
          </a:lstStyle>
          <a:p>
            <a:pPr algn="l">
              <a:defRPr lang="zh-CN" sz="1800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pPr>
            <a:r>
              <a:rPr sz="1800" b="1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技术方案示意（标注实现状态）</a:t>
            </a:r>
            <a:endParaRPr sz="1800" b="1">
              <a:solidFill>
                <a:srgbClr val="1F2329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4" name="merch-heading"/>
          <p:cNvSpPr>
            <a:spLocks noGrp="1"/>
          </p:cNvSpPr>
          <p:nvPr/>
        </p:nvSpPr>
        <p:spPr>
          <a:xfrm>
            <a:off x="8096250" y="1724025"/>
            <a:ext cx="35433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lang="zh-CN" sz="1800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defPPr>
            <a:lvl1pPr>
              <a:defRPr lang="zh-CN" sz="1800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1pPr>
            <a:lvl2pPr>
              <a:defRPr lang="zh-CN" sz="1800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2pPr>
            <a:lvl3pPr>
              <a:defRPr lang="zh-CN" sz="1800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3pPr>
            <a:lvl4pPr>
              <a:defRPr lang="zh-CN" sz="1800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4pPr>
            <a:lvl5pPr>
              <a:defRPr lang="zh-CN" sz="1800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5pPr>
            <a:lvl6pPr>
              <a:defRPr lang="zh-CN" sz="1800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6pPr>
            <a:lvl7pPr>
              <a:defRPr lang="zh-CN" sz="1800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7pPr>
            <a:lvl8pPr>
              <a:defRPr lang="zh-CN" sz="1800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8pPr>
            <a:lvl9pPr>
              <a:defRPr lang="zh-CN" sz="1800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9pPr>
          </a:lstStyle>
          <a:p>
            <a:pPr>
              <a:defRPr lang="zh-CN" sz="1800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pPr>
            <a:r>
              <a:rPr lang="zh-CN" sz="1800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周边概念设计</a:t>
            </a:r>
            <a:endParaRPr lang="zh-CN" sz="1800" b="1">
              <a:solidFill>
                <a:srgbClr val="20252B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5" name="inputs-heading"/>
          <p:cNvSpPr>
            <a:spLocks noGrp="1"/>
          </p:cNvSpPr>
          <p:nvPr/>
        </p:nvSpPr>
        <p:spPr>
          <a:xfrm>
            <a:off x="552450" y="2333625"/>
            <a:ext cx="1524000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lang="zh-CN" sz="1350" b="1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defPPr>
            <a:lvl1pPr>
              <a:defRPr lang="zh-CN" sz="1350" b="1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1pPr>
            <a:lvl2pPr>
              <a:defRPr lang="zh-CN" sz="1350" b="1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2pPr>
            <a:lvl3pPr>
              <a:defRPr lang="zh-CN" sz="1350" b="1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3pPr>
            <a:lvl4pPr>
              <a:defRPr lang="zh-CN" sz="1350" b="1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4pPr>
            <a:lvl5pPr>
              <a:defRPr lang="zh-CN" sz="1350" b="1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5pPr>
            <a:lvl6pPr>
              <a:defRPr lang="zh-CN" sz="1350" b="1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6pPr>
            <a:lvl7pPr>
              <a:defRPr lang="zh-CN" sz="1350" b="1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7pPr>
            <a:lvl8pPr>
              <a:defRPr lang="zh-CN" sz="1350" b="1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8pPr>
            <a:lvl9pPr>
              <a:defRPr lang="zh-CN" sz="1350" b="1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9pPr>
          </a:lstStyle>
          <a:p>
            <a:pPr>
              <a:defRPr lang="zh-CN" sz="1350" b="1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pPr>
            <a:r>
              <a:rPr lang="zh-CN" sz="1350" b="1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互动输入</a:t>
            </a:r>
            <a:endParaRPr lang="zh-CN" sz="1350" b="1">
              <a:solidFill>
                <a:srgbClr val="637087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6" name="engine-heading"/>
          <p:cNvSpPr>
            <a:spLocks noGrp="1"/>
          </p:cNvSpPr>
          <p:nvPr/>
        </p:nvSpPr>
        <p:spPr>
          <a:xfrm>
            <a:off x="2714625" y="2333625"/>
            <a:ext cx="2286000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lang="zh-CN" sz="1350" b="1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defPPr>
            <a:lvl1pPr>
              <a:defRPr lang="zh-CN" sz="1350" b="1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1pPr>
            <a:lvl2pPr>
              <a:defRPr lang="zh-CN" sz="1350" b="1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2pPr>
            <a:lvl3pPr>
              <a:defRPr lang="zh-CN" sz="1350" b="1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3pPr>
            <a:lvl4pPr>
              <a:defRPr lang="zh-CN" sz="1350" b="1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4pPr>
            <a:lvl5pPr>
              <a:defRPr lang="zh-CN" sz="1350" b="1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5pPr>
            <a:lvl6pPr>
              <a:defRPr lang="zh-CN" sz="1350" b="1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6pPr>
            <a:lvl7pPr>
              <a:defRPr lang="zh-CN" sz="1350" b="1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7pPr>
            <a:lvl8pPr>
              <a:defRPr lang="zh-CN" sz="1350" b="1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8pPr>
            <a:lvl9pPr>
              <a:defRPr lang="zh-CN" sz="1350" b="1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9pPr>
          </a:lstStyle>
          <a:p>
            <a:pPr>
              <a:defRPr lang="zh-CN" sz="1350" b="1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pPr>
            <a:r>
              <a:rPr lang="zh-CN" sz="1350" b="1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角色引擎</a:t>
            </a:r>
            <a:endParaRPr lang="zh-CN" sz="1350" b="1">
              <a:solidFill>
                <a:srgbClr val="637087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7" name="outputs-heading"/>
          <p:cNvSpPr>
            <a:spLocks noGrp="1"/>
          </p:cNvSpPr>
          <p:nvPr/>
        </p:nvSpPr>
        <p:spPr>
          <a:xfrm>
            <a:off x="5619750" y="2333625"/>
            <a:ext cx="1809750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lang="zh-CN" sz="1350" b="1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defPPr>
            <a:lvl1pPr>
              <a:defRPr lang="zh-CN" sz="1350" b="1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1pPr>
            <a:lvl2pPr>
              <a:defRPr lang="zh-CN" sz="1350" b="1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2pPr>
            <a:lvl3pPr>
              <a:defRPr lang="zh-CN" sz="1350" b="1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3pPr>
            <a:lvl4pPr>
              <a:defRPr lang="zh-CN" sz="1350" b="1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4pPr>
            <a:lvl5pPr>
              <a:defRPr lang="zh-CN" sz="1350" b="1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5pPr>
            <a:lvl6pPr>
              <a:defRPr lang="zh-CN" sz="1350" b="1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6pPr>
            <a:lvl7pPr>
              <a:defRPr lang="zh-CN" sz="1350" b="1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7pPr>
            <a:lvl8pPr>
              <a:defRPr lang="zh-CN" sz="1350" b="1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8pPr>
            <a:lvl9pPr>
              <a:defRPr lang="zh-CN" sz="1350" b="1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9pPr>
          </a:lstStyle>
          <a:p>
            <a:pPr>
              <a:defRPr lang="zh-CN" sz="1350" b="1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pPr>
            <a:r>
              <a:rPr lang="zh-CN" sz="1350" b="1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表达与执行</a:t>
            </a:r>
            <a:endParaRPr lang="zh-CN" sz="1350" b="1">
              <a:solidFill>
                <a:srgbClr val="637087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8" name="human-input"/>
          <p:cNvSpPr>
            <a:spLocks noGrp="1"/>
          </p:cNvSpPr>
          <p:nvPr/>
        </p:nvSpPr>
        <p:spPr>
          <a:xfrm>
            <a:off x="552450" y="2838450"/>
            <a:ext cx="1524000" cy="723900"/>
          </a:xfrm>
          <a:prstGeom prst="rect">
            <a:avLst/>
          </a:prstGeom>
          <a:solidFill>
            <a:srgbClr val="F5F7FB"/>
          </a:solidFill>
          <a:ln w="9525">
            <a:solidFill>
              <a:srgbClr val="CCD6E8"/>
            </a:solidFill>
          </a:ln>
        </p:spPr>
        <p:txBody>
          <a:bodyPr/>
          <a:p/>
        </p:txBody>
      </p:sp>
      <p:sp>
        <p:nvSpPr>
          <p:cNvPr id="9" name="human-input-title"/>
          <p:cNvSpPr>
            <a:spLocks noGrp="1"/>
          </p:cNvSpPr>
          <p:nvPr/>
        </p:nvSpPr>
        <p:spPr>
          <a:xfrm>
            <a:off x="666750" y="2952750"/>
            <a:ext cx="12954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lang="zh-CN" sz="1575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defPPr>
            <a:lvl1pPr>
              <a:defRPr lang="zh-CN" sz="1575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1pPr>
            <a:lvl2pPr>
              <a:defRPr lang="zh-CN" sz="1575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2pPr>
            <a:lvl3pPr>
              <a:defRPr lang="zh-CN" sz="1575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3pPr>
            <a:lvl4pPr>
              <a:defRPr lang="zh-CN" sz="1575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4pPr>
            <a:lvl5pPr>
              <a:defRPr lang="zh-CN" sz="1575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5pPr>
            <a:lvl6pPr>
              <a:defRPr lang="zh-CN" sz="1575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6pPr>
            <a:lvl7pPr>
              <a:defRPr lang="zh-CN" sz="1575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7pPr>
            <a:lvl8pPr>
              <a:defRPr lang="zh-CN" sz="1575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8pPr>
            <a:lvl9pPr>
              <a:defRPr lang="zh-CN" sz="1575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9pPr>
          </a:lstStyle>
          <a:p>
            <a:pPr>
              <a:defRPr lang="zh-CN" sz="1575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pPr>
            <a:r>
              <a:rPr lang="zh-CN" sz="1575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真人语音</a:t>
            </a:r>
            <a:endParaRPr lang="zh-CN" sz="1575" b="1">
              <a:solidFill>
                <a:srgbClr val="20252B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0" name="human-input-sub"/>
          <p:cNvSpPr>
            <a:spLocks noGrp="1"/>
          </p:cNvSpPr>
          <p:nvPr/>
        </p:nvSpPr>
        <p:spPr>
          <a:xfrm>
            <a:off x="666750" y="3248025"/>
            <a:ext cx="12954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lang="zh-CN" sz="1275" b="0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defPPr>
            <a:lvl1pPr>
              <a:defRPr lang="zh-CN" sz="1275" b="0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1pPr>
            <a:lvl2pPr>
              <a:defRPr lang="zh-CN" sz="1275" b="0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2pPr>
            <a:lvl3pPr>
              <a:defRPr lang="zh-CN" sz="1275" b="0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3pPr>
            <a:lvl4pPr>
              <a:defRPr lang="zh-CN" sz="1275" b="0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4pPr>
            <a:lvl5pPr>
              <a:defRPr lang="zh-CN" sz="1275" b="0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5pPr>
            <a:lvl6pPr>
              <a:defRPr lang="zh-CN" sz="1275" b="0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6pPr>
            <a:lvl7pPr>
              <a:defRPr lang="zh-CN" sz="1275" b="0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7pPr>
            <a:lvl8pPr>
              <a:defRPr lang="zh-CN" sz="1275" b="0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8pPr>
            <a:lvl9pPr>
              <a:defRPr lang="zh-CN" sz="1275" b="0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9pPr>
          </a:lstStyle>
          <a:p>
            <a:pPr>
              <a:defRPr lang="zh-CN" sz="1275" b="0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pPr>
            <a:r>
              <a:rPr lang="zh-CN" sz="1275" b="0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ASR 识别</a:t>
            </a:r>
            <a:endParaRPr lang="zh-CN" sz="1275" b="0">
              <a:solidFill>
                <a:srgbClr val="637087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1" name="chat-input"/>
          <p:cNvSpPr>
            <a:spLocks noGrp="1"/>
          </p:cNvSpPr>
          <p:nvPr/>
        </p:nvSpPr>
        <p:spPr>
          <a:xfrm>
            <a:off x="552450" y="3790950"/>
            <a:ext cx="1524000" cy="723900"/>
          </a:xfrm>
          <a:prstGeom prst="rect">
            <a:avLst/>
          </a:prstGeom>
          <a:solidFill>
            <a:srgbClr val="F5F7FB"/>
          </a:solidFill>
          <a:ln w="9525">
            <a:solidFill>
              <a:srgbClr val="CCD6E8"/>
            </a:solidFill>
            <a:prstDash val="dash"/>
          </a:ln>
        </p:spPr>
        <p:txBody>
          <a:bodyPr/>
          <a:p/>
        </p:txBody>
      </p:sp>
      <p:sp>
        <p:nvSpPr>
          <p:cNvPr id="12" name="chat-input-title"/>
          <p:cNvSpPr>
            <a:spLocks noGrp="1"/>
          </p:cNvSpPr>
          <p:nvPr/>
        </p:nvSpPr>
        <p:spPr>
          <a:xfrm>
            <a:off x="666750" y="3905250"/>
            <a:ext cx="12954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lang="zh-CN" sz="1575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defPPr>
            <a:lvl1pPr>
              <a:defRPr lang="zh-CN" sz="1575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1pPr>
            <a:lvl2pPr>
              <a:defRPr lang="zh-CN" sz="1575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2pPr>
            <a:lvl3pPr>
              <a:defRPr lang="zh-CN" sz="1575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3pPr>
            <a:lvl4pPr>
              <a:defRPr lang="zh-CN" sz="1575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4pPr>
            <a:lvl5pPr>
              <a:defRPr lang="zh-CN" sz="1575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5pPr>
            <a:lvl6pPr>
              <a:defRPr lang="zh-CN" sz="1575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6pPr>
            <a:lvl7pPr>
              <a:defRPr lang="zh-CN" sz="1575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7pPr>
            <a:lvl8pPr>
              <a:defRPr lang="zh-CN" sz="1575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8pPr>
            <a:lvl9pPr>
              <a:defRPr lang="zh-CN" sz="1575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9pPr>
          </a:lstStyle>
          <a:p>
            <a:pPr>
              <a:defRPr lang="zh-CN" sz="1575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pPr>
            <a:r>
              <a:rPr lang="zh-CN" sz="1575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观众弹幕</a:t>
            </a:r>
            <a:endParaRPr lang="zh-CN" sz="1575" b="1">
              <a:solidFill>
                <a:srgbClr val="20252B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3" name="chat-input-sub"/>
          <p:cNvSpPr>
            <a:spLocks noGrp="1"/>
          </p:cNvSpPr>
          <p:nvPr/>
        </p:nvSpPr>
        <p:spPr>
          <a:xfrm>
            <a:off x="666750" y="4200525"/>
            <a:ext cx="12954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lang="zh-CN" sz="1275" b="0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defPPr>
            <a:lvl1pPr>
              <a:defRPr lang="zh-CN" sz="1275" b="0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1pPr>
            <a:lvl2pPr>
              <a:defRPr lang="zh-CN" sz="1275" b="0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2pPr>
            <a:lvl3pPr>
              <a:defRPr lang="zh-CN" sz="1275" b="0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3pPr>
            <a:lvl4pPr>
              <a:defRPr lang="zh-CN" sz="1275" b="0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4pPr>
            <a:lvl5pPr>
              <a:defRPr lang="zh-CN" sz="1275" b="0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5pPr>
            <a:lvl6pPr>
              <a:defRPr lang="zh-CN" sz="1275" b="0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6pPr>
            <a:lvl7pPr>
              <a:defRPr lang="zh-CN" sz="1275" b="0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7pPr>
            <a:lvl8pPr>
              <a:defRPr lang="zh-CN" sz="1275" b="0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8pPr>
            <a:lvl9pPr>
              <a:defRPr lang="zh-CN" sz="1275" b="0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9pPr>
          </a:lstStyle>
          <a:p>
            <a:pPr>
              <a:defRPr lang="zh-CN" sz="1275" b="0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pPr>
            <a:r>
              <a:rPr lang="zh-CN" sz="1275" b="0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筛选与聚合</a:t>
            </a:r>
            <a:endParaRPr lang="zh-CN" sz="1275" b="0">
              <a:solidFill>
                <a:srgbClr val="637087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4" name="game-input"/>
          <p:cNvSpPr>
            <a:spLocks noGrp="1"/>
          </p:cNvSpPr>
          <p:nvPr/>
        </p:nvSpPr>
        <p:spPr>
          <a:xfrm>
            <a:off x="552450" y="4743450"/>
            <a:ext cx="1524000" cy="723900"/>
          </a:xfrm>
          <a:prstGeom prst="rect">
            <a:avLst/>
          </a:prstGeom>
          <a:solidFill>
            <a:srgbClr val="F5F7FB"/>
          </a:solidFill>
          <a:ln w="9525">
            <a:solidFill>
              <a:srgbClr val="CCD6E8"/>
            </a:solidFill>
            <a:prstDash val="dash"/>
          </a:ln>
        </p:spPr>
        <p:txBody>
          <a:bodyPr/>
          <a:p/>
        </p:txBody>
      </p:sp>
      <p:sp>
        <p:nvSpPr>
          <p:cNvPr id="15" name="game-input-title"/>
          <p:cNvSpPr>
            <a:spLocks noGrp="1"/>
          </p:cNvSpPr>
          <p:nvPr/>
        </p:nvSpPr>
        <p:spPr>
          <a:xfrm>
            <a:off x="666750" y="4857750"/>
            <a:ext cx="12954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lang="zh-CN" sz="1575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defPPr>
            <a:lvl1pPr>
              <a:defRPr lang="zh-CN" sz="1575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1pPr>
            <a:lvl2pPr>
              <a:defRPr lang="zh-CN" sz="1575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2pPr>
            <a:lvl3pPr>
              <a:defRPr lang="zh-CN" sz="1575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3pPr>
            <a:lvl4pPr>
              <a:defRPr lang="zh-CN" sz="1575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4pPr>
            <a:lvl5pPr>
              <a:defRPr lang="zh-CN" sz="1575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5pPr>
            <a:lvl6pPr>
              <a:defRPr lang="zh-CN" sz="1575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6pPr>
            <a:lvl7pPr>
              <a:defRPr lang="zh-CN" sz="1575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7pPr>
            <a:lvl8pPr>
              <a:defRPr lang="zh-CN" sz="1575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8pPr>
            <a:lvl9pPr>
              <a:defRPr lang="zh-CN" sz="1575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9pPr>
          </a:lstStyle>
          <a:p>
            <a:pPr>
              <a:defRPr lang="zh-CN" sz="1575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pPr>
            <a:r>
              <a:rPr lang="zh-CN" sz="1575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游戏状态</a:t>
            </a:r>
            <a:endParaRPr lang="zh-CN" sz="1575" b="1">
              <a:solidFill>
                <a:srgbClr val="20252B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6" name="game-input-sub"/>
          <p:cNvSpPr>
            <a:spLocks noGrp="1"/>
          </p:cNvSpPr>
          <p:nvPr/>
        </p:nvSpPr>
        <p:spPr>
          <a:xfrm>
            <a:off x="666750" y="5153025"/>
            <a:ext cx="12954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lang="zh-CN" sz="1275" b="0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defPPr>
            <a:lvl1pPr>
              <a:defRPr lang="zh-CN" sz="1275" b="0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1pPr>
            <a:lvl2pPr>
              <a:defRPr lang="zh-CN" sz="1275" b="0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2pPr>
            <a:lvl3pPr>
              <a:defRPr lang="zh-CN" sz="1275" b="0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3pPr>
            <a:lvl4pPr>
              <a:defRPr lang="zh-CN" sz="1275" b="0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4pPr>
            <a:lvl5pPr>
              <a:defRPr lang="zh-CN" sz="1275" b="0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5pPr>
            <a:lvl6pPr>
              <a:defRPr lang="zh-CN" sz="1275" b="0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6pPr>
            <a:lvl7pPr>
              <a:defRPr lang="zh-CN" sz="1275" b="0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7pPr>
            <a:lvl8pPr>
              <a:defRPr lang="zh-CN" sz="1275" b="0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8pPr>
            <a:lvl9pPr>
              <a:defRPr lang="zh-CN" sz="1275" b="0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9pPr>
          </a:lstStyle>
          <a:p>
            <a:pPr>
              <a:defRPr lang="zh-CN" sz="1275" b="0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pPr>
            <a:r>
              <a:rPr lang="zh-CN" sz="1275" b="0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场景与任务</a:t>
            </a:r>
            <a:endParaRPr lang="zh-CN" sz="1275" b="0">
              <a:solidFill>
                <a:srgbClr val="637087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7" name="persona-memory"/>
          <p:cNvSpPr>
            <a:spLocks noGrp="1"/>
          </p:cNvSpPr>
          <p:nvPr/>
        </p:nvSpPr>
        <p:spPr>
          <a:xfrm>
            <a:off x="2714625" y="2762250"/>
            <a:ext cx="2286000" cy="723900"/>
          </a:xfrm>
          <a:prstGeom prst="rect">
            <a:avLst/>
          </a:prstGeom>
          <a:solidFill>
            <a:srgbClr val="F5F7FB"/>
          </a:solidFill>
          <a:ln w="9525">
            <a:solidFill>
              <a:srgbClr val="CCD6E8"/>
            </a:solidFill>
          </a:ln>
        </p:spPr>
        <p:txBody>
          <a:bodyPr/>
          <a:p/>
        </p:txBody>
      </p:sp>
      <p:sp>
        <p:nvSpPr>
          <p:cNvPr id="18" name="persona-memory-title"/>
          <p:cNvSpPr>
            <a:spLocks noGrp="1"/>
          </p:cNvSpPr>
          <p:nvPr/>
        </p:nvSpPr>
        <p:spPr>
          <a:xfrm>
            <a:off x="2828925" y="2876550"/>
            <a:ext cx="20574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lang="zh-CN" sz="1575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defPPr>
            <a:lvl1pPr>
              <a:defRPr lang="zh-CN" sz="1575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1pPr>
            <a:lvl2pPr>
              <a:defRPr lang="zh-CN" sz="1575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2pPr>
            <a:lvl3pPr>
              <a:defRPr lang="zh-CN" sz="1575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3pPr>
            <a:lvl4pPr>
              <a:defRPr lang="zh-CN" sz="1575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4pPr>
            <a:lvl5pPr>
              <a:defRPr lang="zh-CN" sz="1575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5pPr>
            <a:lvl6pPr>
              <a:defRPr lang="zh-CN" sz="1575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6pPr>
            <a:lvl7pPr>
              <a:defRPr lang="zh-CN" sz="1575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7pPr>
            <a:lvl8pPr>
              <a:defRPr lang="zh-CN" sz="1575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8pPr>
            <a:lvl9pPr>
              <a:defRPr lang="zh-CN" sz="1575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9pPr>
          </a:lstStyle>
          <a:p>
            <a:pPr>
              <a:defRPr lang="zh-CN" sz="1575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pPr>
            <a:r>
              <a:rPr lang="zh-CN" sz="1575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人格与共同记忆</a:t>
            </a:r>
            <a:endParaRPr lang="zh-CN" sz="1575" b="1">
              <a:solidFill>
                <a:srgbClr val="20252B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9" name="persona-memory-sub"/>
          <p:cNvSpPr>
            <a:spLocks noGrp="1"/>
          </p:cNvSpPr>
          <p:nvPr/>
        </p:nvSpPr>
        <p:spPr>
          <a:xfrm>
            <a:off x="2828925" y="3171825"/>
            <a:ext cx="20574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lang="zh-CN" sz="1275" b="0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defPPr>
            <a:lvl1pPr>
              <a:defRPr lang="zh-CN" sz="1275" b="0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1pPr>
            <a:lvl2pPr>
              <a:defRPr lang="zh-CN" sz="1275" b="0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2pPr>
            <a:lvl3pPr>
              <a:defRPr lang="zh-CN" sz="1275" b="0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3pPr>
            <a:lvl4pPr>
              <a:defRPr lang="zh-CN" sz="1275" b="0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4pPr>
            <a:lvl5pPr>
              <a:defRPr lang="zh-CN" sz="1275" b="0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5pPr>
            <a:lvl6pPr>
              <a:defRPr lang="zh-CN" sz="1275" b="0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6pPr>
            <a:lvl7pPr>
              <a:defRPr lang="zh-CN" sz="1275" b="0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7pPr>
            <a:lvl8pPr>
              <a:defRPr lang="zh-CN" sz="1275" b="0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8pPr>
            <a:lvl9pPr>
              <a:defRPr lang="zh-CN" sz="1275" b="0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9pPr>
          </a:lstStyle>
          <a:p>
            <a:pPr>
              <a:defRPr lang="zh-CN" sz="1275" b="0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pPr>
            <a:r>
              <a:rPr lang="zh-CN" sz="1275" b="0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角色设定、历史事件</a:t>
            </a:r>
            <a:endParaRPr lang="zh-CN" sz="1275" b="0">
              <a:solidFill>
                <a:srgbClr val="637087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20" name="character-engine"/>
          <p:cNvSpPr>
            <a:spLocks noGrp="1"/>
          </p:cNvSpPr>
          <p:nvPr/>
        </p:nvSpPr>
        <p:spPr>
          <a:xfrm>
            <a:off x="2714625" y="3762375"/>
            <a:ext cx="2286000" cy="952500"/>
          </a:xfrm>
          <a:prstGeom prst="rect">
            <a:avLst/>
          </a:prstGeom>
          <a:solidFill>
            <a:srgbClr val="2455D6"/>
          </a:solidFill>
          <a:ln w="9525">
            <a:solidFill>
              <a:srgbClr val="2455D6"/>
            </a:solidFill>
          </a:ln>
        </p:spPr>
        <p:txBody>
          <a:bodyPr/>
          <a:p/>
        </p:txBody>
      </p:sp>
      <p:sp>
        <p:nvSpPr>
          <p:cNvPr id="21" name="character-engine-title"/>
          <p:cNvSpPr>
            <a:spLocks noGrp="1"/>
          </p:cNvSpPr>
          <p:nvPr/>
        </p:nvSpPr>
        <p:spPr>
          <a:xfrm>
            <a:off x="2828925" y="3876675"/>
            <a:ext cx="20574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lang="zh-CN" sz="18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defPPr>
            <a:lvl1pPr>
              <a:defRPr lang="zh-CN" sz="18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1pPr>
            <a:lvl2pPr>
              <a:defRPr lang="zh-CN" sz="18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2pPr>
            <a:lvl3pPr>
              <a:defRPr lang="zh-CN" sz="18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3pPr>
            <a:lvl4pPr>
              <a:defRPr lang="zh-CN" sz="18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4pPr>
            <a:lvl5pPr>
              <a:defRPr lang="zh-CN" sz="18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5pPr>
            <a:lvl6pPr>
              <a:defRPr lang="zh-CN" sz="18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6pPr>
            <a:lvl7pPr>
              <a:defRPr lang="zh-CN" sz="18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7pPr>
            <a:lvl8pPr>
              <a:defRPr lang="zh-CN" sz="18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8pPr>
            <a:lvl9pPr>
              <a:defRPr lang="zh-CN" sz="18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9pPr>
          </a:lstStyle>
          <a:p>
            <a:pPr>
              <a:defRPr lang="zh-CN" sz="18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pPr>
            <a:r>
              <a:rPr lang="zh-CN" sz="18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场景理解与调度</a:t>
            </a:r>
            <a:endParaRPr lang="zh-CN" sz="180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22" name="character-engine-sub"/>
          <p:cNvSpPr>
            <a:spLocks noGrp="1"/>
          </p:cNvSpPr>
          <p:nvPr/>
        </p:nvSpPr>
        <p:spPr>
          <a:xfrm>
            <a:off x="2828925" y="4171950"/>
            <a:ext cx="20574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lang="zh-CN" sz="1275" b="0">
                <a:solidFill>
                  <a:srgbClr val="EAF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defPPr>
            <a:lvl1pPr>
              <a:defRPr lang="zh-CN" sz="1275" b="0">
                <a:solidFill>
                  <a:srgbClr val="EAF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1pPr>
            <a:lvl2pPr>
              <a:defRPr lang="zh-CN" sz="1275" b="0">
                <a:solidFill>
                  <a:srgbClr val="EAF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2pPr>
            <a:lvl3pPr>
              <a:defRPr lang="zh-CN" sz="1275" b="0">
                <a:solidFill>
                  <a:srgbClr val="EAF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3pPr>
            <a:lvl4pPr>
              <a:defRPr lang="zh-CN" sz="1275" b="0">
                <a:solidFill>
                  <a:srgbClr val="EAF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4pPr>
            <a:lvl5pPr>
              <a:defRPr lang="zh-CN" sz="1275" b="0">
                <a:solidFill>
                  <a:srgbClr val="EAF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5pPr>
            <a:lvl6pPr>
              <a:defRPr lang="zh-CN" sz="1275" b="0">
                <a:solidFill>
                  <a:srgbClr val="EAF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6pPr>
            <a:lvl7pPr>
              <a:defRPr lang="zh-CN" sz="1275" b="0">
                <a:solidFill>
                  <a:srgbClr val="EAF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7pPr>
            <a:lvl8pPr>
              <a:defRPr lang="zh-CN" sz="1275" b="0">
                <a:solidFill>
                  <a:srgbClr val="EAF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8pPr>
            <a:lvl9pPr>
              <a:defRPr lang="zh-CN" sz="1275" b="0">
                <a:solidFill>
                  <a:srgbClr val="EAF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9pPr>
          </a:lstStyle>
          <a:p>
            <a:pPr>
              <a:defRPr lang="zh-CN" sz="1275" b="0">
                <a:solidFill>
                  <a:srgbClr val="EAF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pPr>
            <a:r>
              <a:rPr lang="zh-CN" sz="1275" b="0">
                <a:solidFill>
                  <a:srgbClr val="EAF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LLM 生成与动作规划</a:t>
            </a:r>
            <a:endParaRPr lang="zh-CN" sz="1275" b="0">
              <a:solidFill>
                <a:srgbClr val="EAF0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23" name="speech-output"/>
          <p:cNvSpPr>
            <a:spLocks noGrp="1"/>
          </p:cNvSpPr>
          <p:nvPr/>
        </p:nvSpPr>
        <p:spPr>
          <a:xfrm>
            <a:off x="5619750" y="3209925"/>
            <a:ext cx="1809750" cy="819150"/>
          </a:xfrm>
          <a:prstGeom prst="rect">
            <a:avLst/>
          </a:prstGeom>
          <a:solidFill>
            <a:srgbClr val="F5F7FB"/>
          </a:solidFill>
          <a:ln w="9525">
            <a:solidFill>
              <a:srgbClr val="CCD6E8"/>
            </a:solidFill>
          </a:ln>
        </p:spPr>
        <p:txBody>
          <a:bodyPr/>
          <a:p/>
        </p:txBody>
      </p:sp>
      <p:sp>
        <p:nvSpPr>
          <p:cNvPr id="24" name="speech-output-title"/>
          <p:cNvSpPr>
            <a:spLocks noGrp="1"/>
          </p:cNvSpPr>
          <p:nvPr/>
        </p:nvSpPr>
        <p:spPr>
          <a:xfrm>
            <a:off x="5734050" y="3324225"/>
            <a:ext cx="15811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lang="zh-CN" sz="1575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defPPr>
            <a:lvl1pPr>
              <a:defRPr lang="zh-CN" sz="1575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1pPr>
            <a:lvl2pPr>
              <a:defRPr lang="zh-CN" sz="1575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2pPr>
            <a:lvl3pPr>
              <a:defRPr lang="zh-CN" sz="1575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3pPr>
            <a:lvl4pPr>
              <a:defRPr lang="zh-CN" sz="1575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4pPr>
            <a:lvl5pPr>
              <a:defRPr lang="zh-CN" sz="1575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5pPr>
            <a:lvl6pPr>
              <a:defRPr lang="zh-CN" sz="1575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6pPr>
            <a:lvl7pPr>
              <a:defRPr lang="zh-CN" sz="1575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7pPr>
            <a:lvl8pPr>
              <a:defRPr lang="zh-CN" sz="1575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8pPr>
            <a:lvl9pPr>
              <a:defRPr lang="zh-CN" sz="1575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9pPr>
          </a:lstStyle>
          <a:p>
            <a:pPr>
              <a:defRPr lang="zh-CN" sz="1575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pPr>
            <a:r>
              <a:rPr lang="zh-CN" sz="1575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语言回应</a:t>
            </a:r>
            <a:endParaRPr lang="zh-CN" sz="1575" b="1">
              <a:solidFill>
                <a:srgbClr val="20252B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25" name="speech-output-sub"/>
          <p:cNvSpPr>
            <a:spLocks noGrp="1"/>
          </p:cNvSpPr>
          <p:nvPr/>
        </p:nvSpPr>
        <p:spPr>
          <a:xfrm>
            <a:off x="5734050" y="3619500"/>
            <a:ext cx="158115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lang="zh-CN" sz="1275" b="0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defPPr>
            <a:lvl1pPr>
              <a:defRPr lang="zh-CN" sz="1275" b="0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1pPr>
            <a:lvl2pPr>
              <a:defRPr lang="zh-CN" sz="1275" b="0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2pPr>
            <a:lvl3pPr>
              <a:defRPr lang="zh-CN" sz="1275" b="0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3pPr>
            <a:lvl4pPr>
              <a:defRPr lang="zh-CN" sz="1275" b="0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4pPr>
            <a:lvl5pPr>
              <a:defRPr lang="zh-CN" sz="1275" b="0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5pPr>
            <a:lvl6pPr>
              <a:defRPr lang="zh-CN" sz="1275" b="0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6pPr>
            <a:lvl7pPr>
              <a:defRPr lang="zh-CN" sz="1275" b="0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7pPr>
            <a:lvl8pPr>
              <a:defRPr lang="zh-CN" sz="1275" b="0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8pPr>
            <a:lvl9pPr>
              <a:defRPr lang="zh-CN" sz="1275" b="0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9pPr>
          </a:lstStyle>
          <a:p>
            <a:pPr>
              <a:defRPr lang="zh-CN" sz="1275" b="0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pPr>
            <a:r>
              <a:rPr lang="zh-CN" sz="1275" b="0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TTS · 字幕 · Live2D</a:t>
            </a:r>
            <a:endParaRPr lang="zh-CN" sz="1275" b="0">
              <a:solidFill>
                <a:srgbClr val="637087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26" name="action-output"/>
          <p:cNvSpPr>
            <a:spLocks noGrp="1"/>
          </p:cNvSpPr>
          <p:nvPr/>
        </p:nvSpPr>
        <p:spPr>
          <a:xfrm>
            <a:off x="5619750" y="4429125"/>
            <a:ext cx="1809750" cy="819150"/>
          </a:xfrm>
          <a:prstGeom prst="rect">
            <a:avLst/>
          </a:prstGeom>
          <a:solidFill>
            <a:srgbClr val="F5F7FB"/>
          </a:solidFill>
          <a:ln w="9525">
            <a:solidFill>
              <a:srgbClr val="CCD6E8"/>
            </a:solidFill>
            <a:prstDash val="dash"/>
          </a:ln>
        </p:spPr>
        <p:txBody>
          <a:bodyPr/>
          <a:p/>
        </p:txBody>
      </p:sp>
      <p:sp>
        <p:nvSpPr>
          <p:cNvPr id="27" name="action-output-title"/>
          <p:cNvSpPr>
            <a:spLocks noGrp="1"/>
          </p:cNvSpPr>
          <p:nvPr/>
        </p:nvSpPr>
        <p:spPr>
          <a:xfrm>
            <a:off x="5734050" y="4543425"/>
            <a:ext cx="15811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lang="zh-CN" sz="1575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defPPr>
            <a:lvl1pPr>
              <a:defRPr lang="zh-CN" sz="1575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1pPr>
            <a:lvl2pPr>
              <a:defRPr lang="zh-CN" sz="1575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2pPr>
            <a:lvl3pPr>
              <a:defRPr lang="zh-CN" sz="1575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3pPr>
            <a:lvl4pPr>
              <a:defRPr lang="zh-CN" sz="1575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4pPr>
            <a:lvl5pPr>
              <a:defRPr lang="zh-CN" sz="1575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5pPr>
            <a:lvl6pPr>
              <a:defRPr lang="zh-CN" sz="1575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6pPr>
            <a:lvl7pPr>
              <a:defRPr lang="zh-CN" sz="1575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7pPr>
            <a:lvl8pPr>
              <a:defRPr lang="zh-CN" sz="1575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8pPr>
            <a:lvl9pPr>
              <a:defRPr lang="zh-CN" sz="1575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9pPr>
          </a:lstStyle>
          <a:p>
            <a:pPr>
              <a:defRPr lang="zh-CN" sz="1575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pPr>
            <a:r>
              <a:rPr lang="zh-CN" sz="1575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游戏动作</a:t>
            </a:r>
            <a:endParaRPr lang="zh-CN" sz="1575" b="1">
              <a:solidFill>
                <a:srgbClr val="20252B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28" name="action-output-sub"/>
          <p:cNvSpPr>
            <a:spLocks noGrp="1"/>
          </p:cNvSpPr>
          <p:nvPr/>
        </p:nvSpPr>
        <p:spPr>
          <a:xfrm>
            <a:off x="5734050" y="4838700"/>
            <a:ext cx="158115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lang="zh-CN" sz="1275" b="0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defPPr>
            <a:lvl1pPr>
              <a:defRPr lang="zh-CN" sz="1275" b="0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1pPr>
            <a:lvl2pPr>
              <a:defRPr lang="zh-CN" sz="1275" b="0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2pPr>
            <a:lvl3pPr>
              <a:defRPr lang="zh-CN" sz="1275" b="0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3pPr>
            <a:lvl4pPr>
              <a:defRPr lang="zh-CN" sz="1275" b="0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4pPr>
            <a:lvl5pPr>
              <a:defRPr lang="zh-CN" sz="1275" b="0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5pPr>
            <a:lvl6pPr>
              <a:defRPr lang="zh-CN" sz="1275" b="0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6pPr>
            <a:lvl7pPr>
              <a:defRPr lang="zh-CN" sz="1275" b="0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7pPr>
            <a:lvl8pPr>
              <a:defRPr lang="zh-CN" sz="1275" b="0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8pPr>
            <a:lvl9pPr>
              <a:defRPr lang="zh-CN" sz="1275" b="0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9pPr>
          </a:lstStyle>
          <a:p>
            <a:pPr>
              <a:defRPr lang="zh-CN" sz="1275" b="0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pPr>
            <a:r>
              <a:rPr lang="zh-CN" sz="1275" b="0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工具执行与结果回传</a:t>
            </a:r>
            <a:endParaRPr lang="zh-CN" sz="1275" b="0">
              <a:solidFill>
                <a:srgbClr val="637087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cxnSp>
        <p:nvCxnSpPr>
          <p:cNvPr id="35" name="feedback-down"/>
          <p:cNvCxnSpPr/>
          <p:nvPr/>
        </p:nvCxnSpPr>
        <p:spPr>
          <a:xfrm>
            <a:off x="6524625" y="5248275"/>
            <a:ext cx="0" cy="419100"/>
          </a:xfrm>
          <a:prstGeom prst="straightConnector1">
            <a:avLst/>
          </a:prstGeom>
          <a:ln w="15240">
            <a:solidFill>
              <a:srgbClr val="647CA9"/>
            </a:solidFill>
          </a:ln>
        </p:spPr>
      </p:cxnSp>
      <p:cxnSp>
        <p:nvCxnSpPr>
          <p:cNvPr id="36" name="feedback-across"/>
          <p:cNvCxnSpPr/>
          <p:nvPr/>
        </p:nvCxnSpPr>
        <p:spPr>
          <a:xfrm>
            <a:off x="1314450" y="5667375"/>
            <a:ext cx="5210175" cy="0"/>
          </a:xfrm>
          <a:prstGeom prst="straightConnector1">
            <a:avLst/>
          </a:prstGeom>
          <a:ln w="15240">
            <a:solidFill>
              <a:srgbClr val="647CA9"/>
            </a:solidFill>
          </a:ln>
        </p:spPr>
      </p:cxnSp>
      <p:cxnSp>
        <p:nvCxnSpPr>
          <p:cNvPr id="37" name="feedback-up"/>
          <p:cNvCxnSpPr/>
          <p:nvPr/>
        </p:nvCxnSpPr>
        <p:spPr>
          <a:xfrm>
            <a:off x="1314450" y="5467350"/>
            <a:ext cx="0" cy="200025"/>
          </a:xfrm>
          <a:prstGeom prst="straightConnector1">
            <a:avLst/>
          </a:prstGeom>
          <a:ln w="15240">
            <a:solidFill>
              <a:srgbClr val="647CA9"/>
            </a:solidFill>
            <a:headEnd type="arrow" w="med" len="med"/>
          </a:ln>
        </p:spPr>
      </p:cxnSp>
      <p:sp>
        <p:nvSpPr>
          <p:cNvPr id="38" name="feedback-label"/>
          <p:cNvSpPr>
            <a:spLocks noGrp="1"/>
          </p:cNvSpPr>
          <p:nvPr/>
        </p:nvSpPr>
        <p:spPr>
          <a:xfrm>
            <a:off x="2352675" y="5760720"/>
            <a:ext cx="5095875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lang="zh-CN" sz="1275" b="0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defPPr>
            <a:lvl1pPr>
              <a:defRPr lang="zh-CN" sz="1275" b="0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1pPr>
            <a:lvl2pPr>
              <a:defRPr lang="zh-CN" sz="1275" b="0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2pPr>
            <a:lvl3pPr>
              <a:defRPr lang="zh-CN" sz="1275" b="0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3pPr>
            <a:lvl4pPr>
              <a:defRPr lang="zh-CN" sz="1275" b="0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4pPr>
            <a:lvl5pPr>
              <a:defRPr lang="zh-CN" sz="1275" b="0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5pPr>
            <a:lvl6pPr>
              <a:defRPr lang="zh-CN" sz="1275" b="0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6pPr>
            <a:lvl7pPr>
              <a:defRPr lang="zh-CN" sz="1275" b="0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7pPr>
            <a:lvl8pPr>
              <a:defRPr lang="zh-CN" sz="1275" b="0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8pPr>
            <a:lvl9pPr>
              <a:defRPr lang="zh-CN" sz="1275" b="0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9pPr>
          </a:lstStyle>
          <a:p>
            <a:pPr>
              <a:defRPr lang="zh-CN" sz="1275" b="0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pPr>
            <a:r>
              <a:rPr lang="zh-CN" sz="1275" b="0">
                <a:solidFill>
                  <a:srgbClr val="637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执行结果回写状态，重要事件进入记忆</a:t>
            </a:r>
            <a:endParaRPr lang="zh-CN" sz="1275" b="0">
              <a:solidFill>
                <a:srgbClr val="637087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pic>
        <p:nvPicPr>
          <p:cNvPr id="39" name="图片 3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6250" y="2324100"/>
            <a:ext cx="3543300" cy="3543300"/>
          </a:xfrm>
          <a:prstGeom prst="rect">
            <a:avLst/>
          </a:prstGeom>
        </p:spPr>
      </p:pic>
      <p:sp>
        <p:nvSpPr>
          <p:cNvPr id="40" name="merch-caption"/>
          <p:cNvSpPr>
            <a:spLocks noGrp="1"/>
          </p:cNvSpPr>
          <p:nvPr/>
        </p:nvSpPr>
        <p:spPr>
          <a:xfrm>
            <a:off x="8096250" y="6029325"/>
            <a:ext cx="35433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/>
          <a:lstStyle>
            <a:defPPr>
              <a:defRPr lang="zh-CN" sz="165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defPPr>
            <a:lvl1pPr>
              <a:defRPr lang="zh-CN" sz="165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1pPr>
            <a:lvl2pPr>
              <a:defRPr lang="zh-CN" sz="165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2pPr>
            <a:lvl3pPr>
              <a:defRPr lang="zh-CN" sz="165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3pPr>
            <a:lvl4pPr>
              <a:defRPr lang="zh-CN" sz="165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4pPr>
            <a:lvl5pPr>
              <a:defRPr lang="zh-CN" sz="165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5pPr>
            <a:lvl6pPr>
              <a:defRPr lang="zh-CN" sz="165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6pPr>
            <a:lvl7pPr>
              <a:defRPr lang="zh-CN" sz="165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7pPr>
            <a:lvl8pPr>
              <a:defRPr lang="zh-CN" sz="165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8pPr>
            <a:lvl9pPr>
              <a:defRPr lang="zh-CN" sz="165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9pPr>
          </a:lstStyle>
          <a:p>
            <a:pPr algn="l">
              <a:defRPr lang="zh-CN" sz="1650" b="1">
                <a:solidFill>
                  <a:srgbClr val="2455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pPr>
            <a:r>
              <a:rPr sz="1400" b="1">
                <a:solidFill>
                  <a:srgbClr val="2459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立牌 · 徽章（概念设计，尚未打样）</a:t>
            </a:r>
            <a:endParaRPr sz="1400" b="1">
              <a:solidFill>
                <a:srgbClr val="2459D6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41" name="footer-line"/>
          <p:cNvSpPr>
            <a:spLocks noGrp="1"/>
          </p:cNvSpPr>
          <p:nvPr/>
        </p:nvSpPr>
        <p:spPr>
          <a:xfrm>
            <a:off x="552450" y="6381750"/>
            <a:ext cx="11096625" cy="0"/>
          </a:xfrm>
          <a:prstGeom prst="line">
            <a:avLst/>
          </a:prstGeom>
          <a:noFill/>
          <a:ln w="9525">
            <a:solidFill>
              <a:srgbClr val="D9DFE8"/>
            </a:solidFill>
          </a:ln>
        </p:spPr>
        <p:txBody>
          <a:bodyPr/>
          <a:p/>
        </p:txBody>
      </p:sp>
      <p:sp>
        <p:nvSpPr>
          <p:cNvPr id="42" name="disclosure"/>
          <p:cNvSpPr>
            <a:spLocks noGrp="1"/>
          </p:cNvSpPr>
          <p:nvPr/>
        </p:nvSpPr>
        <p:spPr>
          <a:xfrm>
            <a:off x="552450" y="6457950"/>
            <a:ext cx="98107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/>
          <a:lstStyle>
            <a:defPPr>
              <a:defRPr lang="zh-CN" sz="900" b="0">
                <a:solidFill>
                  <a:srgbClr val="7F88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defPPr>
            <a:lvl1pPr>
              <a:defRPr lang="zh-CN" sz="900" b="0">
                <a:solidFill>
                  <a:srgbClr val="7F88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1pPr>
            <a:lvl2pPr>
              <a:defRPr lang="zh-CN" sz="900" b="0">
                <a:solidFill>
                  <a:srgbClr val="7F88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2pPr>
            <a:lvl3pPr>
              <a:defRPr lang="zh-CN" sz="900" b="0">
                <a:solidFill>
                  <a:srgbClr val="7F88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3pPr>
            <a:lvl4pPr>
              <a:defRPr lang="zh-CN" sz="900" b="0">
                <a:solidFill>
                  <a:srgbClr val="7F88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4pPr>
            <a:lvl5pPr>
              <a:defRPr lang="zh-CN" sz="900" b="0">
                <a:solidFill>
                  <a:srgbClr val="7F88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5pPr>
            <a:lvl6pPr>
              <a:defRPr lang="zh-CN" sz="900" b="0">
                <a:solidFill>
                  <a:srgbClr val="7F88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6pPr>
            <a:lvl7pPr>
              <a:defRPr lang="zh-CN" sz="900" b="0">
                <a:solidFill>
                  <a:srgbClr val="7F88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7pPr>
            <a:lvl8pPr>
              <a:defRPr lang="zh-CN" sz="900" b="0">
                <a:solidFill>
                  <a:srgbClr val="7F88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8pPr>
            <a:lvl9pPr>
              <a:defRPr lang="zh-CN" sz="900" b="0">
                <a:solidFill>
                  <a:srgbClr val="7F88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9pPr>
          </a:lstStyle>
          <a:p>
            <a:pPr algn="l">
              <a:defRPr lang="zh-CN" sz="900" b="0">
                <a:solidFill>
                  <a:srgbClr val="7F88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pPr>
            <a:r>
              <a:rPr sz="1050" b="0">
                <a:solidFill>
                  <a:srgbClr val="8A909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技术链路为方案示意，非已上线架构；周边为 AI 生成概念设计、尚未打样，无报价与销量</a:t>
            </a:r>
            <a:endParaRPr sz="1050" b="0">
              <a:solidFill>
                <a:srgbClr val="8A909C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43" name="page-number"/>
          <p:cNvSpPr>
            <a:spLocks noGrp="1"/>
          </p:cNvSpPr>
          <p:nvPr/>
        </p:nvSpPr>
        <p:spPr>
          <a:xfrm>
            <a:off x="10543032" y="6437376"/>
            <a:ext cx="1097280" cy="27432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>
            <a:defPPr>
              <a:defRPr lang="zh-CN" sz="1050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defPPr>
            <a:lvl1pPr>
              <a:defRPr lang="zh-CN" sz="1050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1pPr>
            <a:lvl2pPr>
              <a:defRPr lang="zh-CN" sz="1050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2pPr>
            <a:lvl3pPr>
              <a:defRPr lang="zh-CN" sz="1050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3pPr>
            <a:lvl4pPr>
              <a:defRPr lang="zh-CN" sz="1050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4pPr>
            <a:lvl5pPr>
              <a:defRPr lang="zh-CN" sz="1050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5pPr>
            <a:lvl6pPr>
              <a:defRPr lang="zh-CN" sz="1050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6pPr>
            <a:lvl7pPr>
              <a:defRPr lang="zh-CN" sz="1050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7pPr>
            <a:lvl8pPr>
              <a:defRPr lang="zh-CN" sz="1050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8pPr>
            <a:lvl9pPr>
              <a:defRPr lang="zh-CN" sz="1050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9pPr>
          </a:lstStyle>
          <a:p>
            <a:pPr algn="r">
              <a:defRPr lang="zh-CN" sz="1050" b="1">
                <a:solidFill>
                  <a:srgbClr val="2025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pPr>
            <a:r>
              <a:rPr sz="1200" b="1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10</a:t>
            </a:r>
            <a:r>
              <a:rPr sz="1200" b="0">
                <a:solidFill>
                  <a:srgbClr val="8A909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 / 16</a:t>
            </a:r>
            <a:endParaRPr sz="1200" b="0">
              <a:solidFill>
                <a:srgbClr val="8A909C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548640" y="605332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5B62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实线框  </a:t>
            </a:r>
            <a:r>
              <a:rPr sz="1150" b="0">
                <a:solidFill>
                  <a:srgbClr val="5B62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仓库已有模块（未做端到端重新验收）    </a:t>
            </a:r>
            <a:r>
              <a:rPr sz="1150" b="1">
                <a:solidFill>
                  <a:srgbClr val="5B62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虚线框  </a:t>
            </a:r>
            <a:r>
              <a:rPr sz="1150" b="0">
                <a:solidFill>
                  <a:srgbClr val="5B62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联调中或局部验证</a:t>
            </a:r>
            <a:endParaRPr sz="1150" b="0">
              <a:solidFill>
                <a:srgbClr val="5B62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2459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03 产品介绍 · 6/6 关键技术问题</a:t>
            </a:r>
            <a:endParaRPr sz="1300" b="1">
              <a:solidFill>
                <a:srgbClr val="2459D6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1672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关键技术问题与拟积累的资产</a:t>
            </a:r>
            <a:endParaRPr sz="3000" b="1">
              <a:solidFill>
                <a:srgbClr val="1F2329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58368" y="1417320"/>
            <a:ext cx="192023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2459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问题</a:t>
            </a:r>
            <a:endParaRPr sz="1400" b="1">
              <a:solidFill>
                <a:srgbClr val="2459D6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761488" y="1417320"/>
            <a:ext cx="30175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2459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实现办法</a:t>
            </a:r>
            <a:endParaRPr sz="1400" b="1">
              <a:solidFill>
                <a:srgbClr val="2459D6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961888" y="1417320"/>
            <a:ext cx="28803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2459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当前证据</a:t>
            </a:r>
            <a:endParaRPr sz="1400" b="1">
              <a:solidFill>
                <a:srgbClr val="2459D6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025128" y="1417320"/>
            <a:ext cx="254203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2459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待解决</a:t>
            </a:r>
            <a:endParaRPr sz="1400" b="1">
              <a:solidFill>
                <a:srgbClr val="2459D6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cxnSp>
        <p:nvCxnSpPr>
          <p:cNvPr id="8" name="Connector 7"/>
          <p:cNvCxnSpPr/>
          <p:nvPr/>
        </p:nvCxnSpPr>
        <p:spPr>
          <a:xfrm>
            <a:off x="548640" y="1783080"/>
            <a:ext cx="11091672" cy="0"/>
          </a:xfrm>
          <a:prstGeom prst="line">
            <a:avLst/>
          </a:prstGeom>
          <a:ln w="15875">
            <a:solidFill>
              <a:srgbClr val="2459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58368" y="1874519"/>
            <a:ext cx="1920239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说话时机</a:t>
            </a:r>
            <a:endParaRPr sz="1600" b="1">
              <a:solidFill>
                <a:srgbClr val="1F2329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  <a:p>
            <a:pPr algn="l"/>
            <a:r>
              <a:rPr sz="1250" b="0">
                <a:solidFill>
                  <a:srgbClr val="5B62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主持人与 AI 不抢话</a:t>
            </a:r>
            <a:endParaRPr sz="1250" b="0">
              <a:solidFill>
                <a:srgbClr val="5B62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761488" y="1874519"/>
            <a:ext cx="2971800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语音识别送入上下文，调度决定谁、何时回应</a:t>
            </a:r>
            <a:endParaRPr sz="1350" b="0">
              <a:solidFill>
                <a:srgbClr val="1F2329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961888" y="1874519"/>
            <a:ext cx="2834640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>
                <a:solidFill>
                  <a:srgbClr val="2459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语音调度代码已有；首次可听回应耗时待实测</a:t>
            </a:r>
            <a:endParaRPr sz="1350" b="0">
              <a:solidFill>
                <a:srgbClr val="2459D6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025128" y="1874519"/>
            <a:ext cx="2542032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>
                <a:solidFill>
                  <a:srgbClr val="5B62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实测延迟；长回复截断，主持人续场</a:t>
            </a:r>
            <a:endParaRPr sz="1350" b="0">
              <a:solidFill>
                <a:srgbClr val="5B62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cxnSp>
        <p:nvCxnSpPr>
          <p:cNvPr id="13" name="Connector 12"/>
          <p:cNvCxnSpPr/>
          <p:nvPr/>
        </p:nvCxnSpPr>
        <p:spPr>
          <a:xfrm>
            <a:off x="548640" y="2606039"/>
            <a:ext cx="11091672" cy="0"/>
          </a:xfrm>
          <a:prstGeom prst="line">
            <a:avLst/>
          </a:prstGeom>
          <a:ln w="9525">
            <a:solidFill>
              <a:srgbClr val="D5D9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58368" y="2660903"/>
            <a:ext cx="1920239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游戏执行</a:t>
            </a:r>
            <a:endParaRPr sz="1600" b="1">
              <a:solidFill>
                <a:srgbClr val="1F2329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  <a:p>
            <a:pPr algn="l"/>
            <a:r>
              <a:rPr sz="1250" b="0">
                <a:solidFill>
                  <a:srgbClr val="5B62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说到做到</a:t>
            </a:r>
            <a:endParaRPr sz="1250" b="0">
              <a:solidFill>
                <a:srgbClr val="5B62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761488" y="2660903"/>
            <a:ext cx="2971800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模型规划 → 程序执行并检查结果 → 按准备 / 尝试 / 完成分别口播</a:t>
            </a:r>
            <a:endParaRPr sz="1350" b="0">
              <a:solidFill>
                <a:srgbClr val="1F2329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961888" y="2660903"/>
            <a:ext cx="2834640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STS2 快照 18 次成功动作；Minecraft 采木与木剑</a:t>
            </a:r>
            <a:endParaRPr sz="1350" b="0">
              <a:solidFill>
                <a:srgbClr val="1F2329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025128" y="2660903"/>
            <a:ext cx="2542032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>
                <a:solidFill>
                  <a:srgbClr val="5B62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长任务与复杂地形稳定性；建家闭环</a:t>
            </a:r>
            <a:endParaRPr sz="1350" b="0">
              <a:solidFill>
                <a:srgbClr val="5B62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cxnSp>
        <p:nvCxnSpPr>
          <p:cNvPr id="18" name="Connector 17"/>
          <p:cNvCxnSpPr/>
          <p:nvPr/>
        </p:nvCxnSpPr>
        <p:spPr>
          <a:xfrm>
            <a:off x="548640" y="3392423"/>
            <a:ext cx="11091672" cy="0"/>
          </a:xfrm>
          <a:prstGeom prst="line">
            <a:avLst/>
          </a:prstGeom>
          <a:ln w="9525">
            <a:solidFill>
              <a:srgbClr val="D5D9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58368" y="3447287"/>
            <a:ext cx="1920239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跨场记忆</a:t>
            </a:r>
            <a:endParaRPr sz="1600" b="1">
              <a:solidFill>
                <a:srgbClr val="1F2329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  <a:p>
            <a:pPr algn="l"/>
            <a:r>
              <a:rPr sz="1250" b="0">
                <a:solidFill>
                  <a:srgbClr val="5B62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下一场能回收</a:t>
            </a:r>
            <a:endParaRPr sz="1250" b="0">
              <a:solidFill>
                <a:srgbClr val="5B62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761488" y="3447287"/>
            <a:ext cx="2971800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候选记忆经人工审核后写入 SQLite</a:t>
            </a:r>
            <a:endParaRPr sz="1350" b="0">
              <a:solidFill>
                <a:srgbClr val="1F2329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961888" y="3447287"/>
            <a:ext cx="2834640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>
                <a:solidFill>
                  <a:srgbClr val="2459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导演工作台记忆审核页已实现</a:t>
            </a:r>
            <a:endParaRPr sz="1350" b="0">
              <a:solidFill>
                <a:srgbClr val="2459D6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025128" y="3447287"/>
            <a:ext cx="2542032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>
                <a:solidFill>
                  <a:srgbClr val="5B62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回收效果待观众验证；错误记忆纠正</a:t>
            </a:r>
            <a:endParaRPr sz="1350" b="0">
              <a:solidFill>
                <a:srgbClr val="5B62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cxnSp>
        <p:nvCxnSpPr>
          <p:cNvPr id="23" name="Connector 22"/>
          <p:cNvCxnSpPr/>
          <p:nvPr/>
        </p:nvCxnSpPr>
        <p:spPr>
          <a:xfrm>
            <a:off x="548640" y="4178808"/>
            <a:ext cx="11091672" cy="0"/>
          </a:xfrm>
          <a:prstGeom prst="line">
            <a:avLst/>
          </a:prstGeom>
          <a:ln w="9525">
            <a:solidFill>
              <a:srgbClr val="D5D9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58368" y="4233672"/>
            <a:ext cx="1920239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角色一致性</a:t>
            </a:r>
            <a:endParaRPr sz="1600" b="1">
              <a:solidFill>
                <a:srgbClr val="1F2329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  <a:p>
            <a:pPr algn="l"/>
            <a:r>
              <a:rPr sz="1250" b="0">
                <a:solidFill>
                  <a:srgbClr val="5B62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岁与歌可区分</a:t>
            </a:r>
            <a:endParaRPr sz="1250" b="0">
              <a:solidFill>
                <a:srgbClr val="5B62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761488" y="4233672"/>
            <a:ext cx="2971800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人格设定与情绪状态模块约束回应</a:t>
            </a:r>
            <a:endParaRPr sz="1350" b="0">
              <a:solidFill>
                <a:srgbClr val="1F2329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961888" y="4233672"/>
            <a:ext cx="2834640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>
                <a:solidFill>
                  <a:srgbClr val="2459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角色状态模块已有；观众能否分辨待验证</a:t>
            </a:r>
            <a:endParaRPr sz="1350" b="0">
              <a:solidFill>
                <a:srgbClr val="2459D6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9025128" y="4233672"/>
            <a:ext cx="2542032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>
                <a:solidFill>
                  <a:srgbClr val="5B62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≥30 个中文场景测试，岁 / 歌分别复核</a:t>
            </a:r>
            <a:endParaRPr sz="1350" b="0">
              <a:solidFill>
                <a:srgbClr val="5B62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cxnSp>
        <p:nvCxnSpPr>
          <p:cNvPr id="28" name="Connector 27"/>
          <p:cNvCxnSpPr/>
          <p:nvPr/>
        </p:nvCxnSpPr>
        <p:spPr>
          <a:xfrm>
            <a:off x="548640" y="4965192"/>
            <a:ext cx="11091672" cy="0"/>
          </a:xfrm>
          <a:prstGeom prst="line">
            <a:avLst/>
          </a:prstGeom>
          <a:ln w="9525">
            <a:solidFill>
              <a:srgbClr val="D5D9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548640" y="4983480"/>
            <a:ext cx="3544824" cy="1261872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777240" y="5120640"/>
            <a:ext cx="3087624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外部模型与组件  </a:t>
            </a:r>
            <a:r>
              <a:rPr sz="1200" b="0">
                <a:solidFill>
                  <a:srgbClr val="5B62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可替换</a:t>
            </a:r>
            <a:endParaRPr sz="1200" b="0">
              <a:solidFill>
                <a:srgbClr val="5B62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777240" y="5532120"/>
            <a:ext cx="3087624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SenseVoice · DeepSeek / 千问 · GPT-SoVITS · Live2D · OBS · Mineflayer</a:t>
            </a:r>
            <a:endParaRPr sz="1350" b="0">
              <a:solidFill>
                <a:srgbClr val="1F2329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4322064" y="4983480"/>
            <a:ext cx="3544824" cy="1261872"/>
          </a:xfrm>
          <a:prstGeom prst="roundRect">
            <a:avLst>
              <a:gd name="adj" fmla="val 6000"/>
            </a:avLst>
          </a:prstGeom>
          <a:solidFill>
            <a:srgbClr val="EAF0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4550664" y="5120640"/>
            <a:ext cx="3087624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团队工程工作  </a:t>
            </a:r>
            <a:r>
              <a:rPr sz="1200" b="0">
                <a:solidFill>
                  <a:srgbClr val="5B62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已有 / 联调中</a:t>
            </a:r>
            <a:endParaRPr sz="1200" b="0">
              <a:solidFill>
                <a:srgbClr val="5B62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4550664" y="5532120"/>
            <a:ext cx="3087624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调度与人工接管 · 游戏桥接与结果检查 · 记忆审核 · 导演工作台</a:t>
            </a:r>
            <a:endParaRPr sz="1350" b="0">
              <a:solidFill>
                <a:srgbClr val="1F2329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8095488" y="4983480"/>
            <a:ext cx="3544824" cy="12618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8A909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8324088" y="5120640"/>
            <a:ext cx="3087624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拟积累的资产  </a:t>
            </a:r>
            <a:r>
              <a:rPr sz="1200" b="0">
                <a:solidFill>
                  <a:srgbClr val="5B62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未验证</a:t>
            </a:r>
            <a:endParaRPr sz="1200" b="0">
              <a:solidFill>
                <a:srgbClr val="5B62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8324088" y="5532120"/>
            <a:ext cx="3087624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角色设定与声线 · 节目事件库 · 中文接梗场景库 · 切片素材</a:t>
            </a:r>
            <a:endParaRPr sz="1350" b="0">
              <a:solidFill>
                <a:srgbClr val="1F2329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cxnSp>
        <p:nvCxnSpPr>
          <p:cNvPr id="38" name="Connector 37"/>
          <p:cNvCxnSpPr/>
          <p:nvPr/>
        </p:nvCxnSpPr>
        <p:spPr>
          <a:xfrm>
            <a:off x="548640" y="6382512"/>
            <a:ext cx="11091672" cy="0"/>
          </a:xfrm>
          <a:prstGeom prst="line">
            <a:avLst/>
          </a:prstGeom>
          <a:ln w="9525">
            <a:solidFill>
              <a:srgbClr val="D5D9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548640" y="6437376"/>
            <a:ext cx="98755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8A909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依据：商业计划书第 8–9 页；工程索引 [I1][I2][I4][I6]；docs/demo-summary-20261018.md    未验证的只称拟建立优势，不宣称技术领先或壁垒</a:t>
            </a:r>
            <a:endParaRPr sz="1100" b="0">
              <a:solidFill>
                <a:srgbClr val="8A909C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40" name="page-number"/>
          <p:cNvSpPr txBox="1"/>
          <p:nvPr/>
        </p:nvSpPr>
        <p:spPr>
          <a:xfrm>
            <a:off x="10543032" y="6437376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200" b="1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11</a:t>
            </a:r>
            <a:r>
              <a:rPr sz="1200" b="0">
                <a:solidFill>
                  <a:srgbClr val="8A909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 / 16</a:t>
            </a:r>
            <a:endParaRPr sz="1200" b="0">
              <a:solidFill>
                <a:srgbClr val="8A909C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459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04 团队介绍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3200" b="1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核心团队与关键岗位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1737360"/>
            <a:ext cx="6720840" cy="1353312"/>
          </a:xfrm>
          <a:prstGeom prst="roundRect">
            <a:avLst>
              <a:gd name="adj" fmla="val 8000"/>
            </a:avLst>
          </a:prstGeom>
          <a:solidFill>
            <a:srgbClr val="2459D6"/>
          </a:solidFill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777240" y="1847088"/>
            <a:ext cx="62636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杨若朝  </a:t>
            </a:r>
            <a:r>
              <a:rPr lang="en-US" sz="1400" b="1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首席执行官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212848"/>
            <a:ext cx="6263640" cy="3108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sz="14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本项目交付  </a:t>
            </a:r>
            <a:r>
              <a:rPr sz="1400" b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项目统筹与资源决策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48640" y="3218688"/>
            <a:ext cx="6720840" cy="13533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2459D6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 txBox="1"/>
          <p:nvPr/>
        </p:nvSpPr>
        <p:spPr>
          <a:xfrm>
            <a:off x="777240" y="3328416"/>
            <a:ext cx="62636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徐嘉盛  </a:t>
            </a:r>
            <a:r>
              <a:rPr lang="en-US" sz="1400" b="1" dirty="0">
                <a:solidFill>
                  <a:srgbClr val="2459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技术总监</a:t>
            </a:r>
            <a:endParaRPr lang="en-US" sz="19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3694176"/>
            <a:ext cx="6263640" cy="3108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sz="1400" b="1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本项目交付  </a:t>
            </a:r>
            <a:r>
              <a:rPr sz="1400" b="0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模型、游戏与系统验收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48640" y="4700016"/>
            <a:ext cx="6720840" cy="13533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2459D6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777240" y="4809744"/>
            <a:ext cx="62636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姬祥  </a:t>
            </a:r>
            <a:r>
              <a:rPr lang="en-US" sz="1400" b="1" dirty="0">
                <a:solidFill>
                  <a:srgbClr val="2459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运营总监</a:t>
            </a:r>
            <a:endParaRPr lang="en-US" sz="1900" dirty="0"/>
          </a:p>
        </p:txBody>
      </p:sp>
      <p:sp>
        <p:nvSpPr>
          <p:cNvPr id="13" name="Text 10"/>
          <p:cNvSpPr txBox="1"/>
          <p:nvPr/>
        </p:nvSpPr>
        <p:spPr>
          <a:xfrm>
            <a:off x="777240" y="5175504"/>
            <a:ext cx="6263640" cy="3108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sz="1400" b="1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本项目交付  </a:t>
            </a:r>
            <a:r>
              <a:rPr sz="1400" b="0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节目排期与团队协作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7589519" y="3154680"/>
            <a:ext cx="4050792" cy="4754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 txBox="1"/>
          <p:nvPr/>
        </p:nvSpPr>
        <p:spPr>
          <a:xfrm>
            <a:off x="7754111" y="3182112"/>
            <a:ext cx="3776472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1400" b="1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李岱松  </a:t>
            </a:r>
            <a:r>
              <a:rPr sz="1150" b="1">
                <a:solidFill>
                  <a:srgbClr val="2459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系统工程师</a:t>
            </a:r>
            <a:endParaRPr lang="en-US" sz="1900" dirty="0"/>
          </a:p>
        </p:txBody>
      </p:sp>
      <p:sp>
        <p:nvSpPr>
          <p:cNvPr id="20" name="Text 17"/>
          <p:cNvSpPr txBox="1"/>
          <p:nvPr/>
        </p:nvSpPr>
        <p:spPr>
          <a:xfrm>
            <a:off x="7754111" y="3401568"/>
            <a:ext cx="3776472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sz="1150" b="0">
                <a:solidFill>
                  <a:srgbClr val="5B62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部署与工作台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7589519" y="3685032"/>
            <a:ext cx="4050792" cy="4754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</p:spPr>
        <p:txBody>
          <a:bodyPr/>
          <a:p/>
        </p:txBody>
      </p:sp>
      <p:sp>
        <p:nvSpPr>
          <p:cNvPr id="22" name="Text 19"/>
          <p:cNvSpPr txBox="1"/>
          <p:nvPr/>
        </p:nvSpPr>
        <p:spPr>
          <a:xfrm>
            <a:off x="7754111" y="3712464"/>
            <a:ext cx="3776472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1400" b="1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肖鹏希  </a:t>
            </a:r>
            <a:r>
              <a:rPr sz="1150" b="1">
                <a:solidFill>
                  <a:srgbClr val="2459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音频工程师</a:t>
            </a:r>
            <a:endParaRPr lang="en-US" sz="1900" dirty="0"/>
          </a:p>
        </p:txBody>
      </p:sp>
      <p:sp>
        <p:nvSpPr>
          <p:cNvPr id="23" name="Text 20"/>
          <p:cNvSpPr txBox="1"/>
          <p:nvPr/>
        </p:nvSpPr>
        <p:spPr>
          <a:xfrm>
            <a:off x="7754111" y="3931920"/>
            <a:ext cx="3776472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sz="1150" b="0">
                <a:solidFill>
                  <a:srgbClr val="5B62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语音与声音效果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7589519" y="4215384"/>
            <a:ext cx="4050792" cy="4754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</p:spPr>
        <p:txBody>
          <a:bodyPr/>
          <a:p/>
        </p:txBody>
      </p:sp>
      <p:sp>
        <p:nvSpPr>
          <p:cNvPr id="26" name="Text 23"/>
          <p:cNvSpPr txBox="1"/>
          <p:nvPr/>
        </p:nvSpPr>
        <p:spPr>
          <a:xfrm>
            <a:off x="7754111" y="4242816"/>
            <a:ext cx="3776472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1400" b="1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刘瑞麒  </a:t>
            </a:r>
            <a:r>
              <a:rPr sz="1150" b="1">
                <a:solidFill>
                  <a:srgbClr val="2459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AI 人格与内容负责人</a:t>
            </a:r>
            <a:endParaRPr lang="en-US" sz="1900" dirty="0"/>
          </a:p>
        </p:txBody>
      </p:sp>
      <p:sp>
        <p:nvSpPr>
          <p:cNvPr id="27" name="Text 24"/>
          <p:cNvSpPr txBox="1"/>
          <p:nvPr/>
        </p:nvSpPr>
        <p:spPr>
          <a:xfrm>
            <a:off x="7754111" y="4462272"/>
            <a:ext cx="3776472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sz="1150" b="0">
                <a:solidFill>
                  <a:srgbClr val="5B62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角色表达与接梗企划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7589519" y="4745736"/>
            <a:ext cx="4050792" cy="4754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</p:spPr>
        <p:txBody>
          <a:bodyPr/>
          <a:p/>
        </p:txBody>
      </p:sp>
      <p:sp>
        <p:nvSpPr>
          <p:cNvPr id="29" name="Text 26"/>
          <p:cNvSpPr txBox="1"/>
          <p:nvPr/>
        </p:nvSpPr>
        <p:spPr>
          <a:xfrm>
            <a:off x="7754111" y="4773168"/>
            <a:ext cx="3776472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1400" b="1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张涵  </a:t>
            </a:r>
            <a:r>
              <a:rPr sz="1150" b="1">
                <a:solidFill>
                  <a:srgbClr val="2459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市场与商务负责人</a:t>
            </a:r>
            <a:endParaRPr lang="en-US" sz="1900" dirty="0"/>
          </a:p>
        </p:txBody>
      </p:sp>
      <p:sp>
        <p:nvSpPr>
          <p:cNvPr id="30" name="Text 27"/>
          <p:cNvSpPr txBox="1"/>
          <p:nvPr/>
        </p:nvSpPr>
        <p:spPr>
          <a:xfrm>
            <a:off x="7754111" y="4992623"/>
            <a:ext cx="3776472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sz="1150" b="0">
                <a:solidFill>
                  <a:srgbClr val="5B62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增长与品牌合作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7589519" y="5276088"/>
            <a:ext cx="4050792" cy="4754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</p:spPr>
        <p:txBody>
          <a:bodyPr/>
          <a:p/>
        </p:txBody>
      </p:sp>
      <p:sp>
        <p:nvSpPr>
          <p:cNvPr id="32" name="Text 29"/>
          <p:cNvSpPr txBox="1"/>
          <p:nvPr/>
        </p:nvSpPr>
        <p:spPr>
          <a:xfrm>
            <a:off x="7754111" y="5303520"/>
            <a:ext cx="3776472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1400" b="1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吴越  </a:t>
            </a:r>
            <a:r>
              <a:rPr sz="1150" b="1">
                <a:solidFill>
                  <a:srgbClr val="2459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视觉美术负责人</a:t>
            </a:r>
            <a:endParaRPr lang="en-US" sz="1900" dirty="0"/>
          </a:p>
        </p:txBody>
      </p:sp>
      <p:sp>
        <p:nvSpPr>
          <p:cNvPr id="33" name="Text 30"/>
          <p:cNvSpPr txBox="1"/>
          <p:nvPr/>
        </p:nvSpPr>
        <p:spPr>
          <a:xfrm>
            <a:off x="7754111" y="5522975"/>
            <a:ext cx="3776472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sz="1150" b="0">
                <a:solidFill>
                  <a:srgbClr val="5B62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原画与 Live2D 协作</a:t>
            </a: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>
            <a:off x="7589519" y="5806440"/>
            <a:ext cx="4050792" cy="4754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</p:spPr>
        <p:txBody>
          <a:bodyPr/>
          <a:p/>
        </p:txBody>
      </p:sp>
      <p:sp>
        <p:nvSpPr>
          <p:cNvPr id="35" name="Text 32"/>
          <p:cNvSpPr txBox="1"/>
          <p:nvPr/>
        </p:nvSpPr>
        <p:spPr>
          <a:xfrm>
            <a:off x="7754111" y="5833872"/>
            <a:ext cx="3776472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1400" b="1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张乐溪  </a:t>
            </a:r>
            <a:r>
              <a:rPr sz="1150" b="1">
                <a:solidFill>
                  <a:srgbClr val="2459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视频制作负责人</a:t>
            </a:r>
            <a:endParaRPr lang="en-US" sz="1900" dirty="0"/>
          </a:p>
        </p:txBody>
      </p:sp>
      <p:sp>
        <p:nvSpPr>
          <p:cNvPr id="36" name="Text 33"/>
          <p:cNvSpPr txBox="1"/>
          <p:nvPr/>
        </p:nvSpPr>
        <p:spPr>
          <a:xfrm>
            <a:off x="7754111" y="6053327"/>
            <a:ext cx="3776472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sz="1150" b="0">
                <a:solidFill>
                  <a:srgbClr val="5B62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高光切片与系列包装</a:t>
            </a:r>
            <a:endParaRPr lang="en-US" sz="1600" dirty="0"/>
          </a:p>
        </p:txBody>
      </p:sp>
      <p:sp>
        <p:nvSpPr>
          <p:cNvPr id="38" name="Shape 35"/>
          <p:cNvSpPr/>
          <p:nvPr/>
        </p:nvSpPr>
        <p:spPr>
          <a:xfrm>
            <a:off x="548640" y="6382512"/>
            <a:ext cx="11094415" cy="0"/>
          </a:xfrm>
          <a:prstGeom prst="line">
            <a:avLst/>
          </a:prstGeom>
          <a:noFill/>
          <a:ln w="9525">
            <a:solidFill>
              <a:srgbClr val="D5D9E0"/>
            </a:solidFill>
            <a:prstDash val="solid"/>
          </a:ln>
        </p:spPr>
        <p:txBody>
          <a:bodyPr/>
          <a:p/>
        </p:txBody>
      </p:sp>
      <p:sp>
        <p:nvSpPr>
          <p:cNvPr id="40" name="Text 37"/>
          <p:cNvSpPr txBox="1"/>
          <p:nvPr/>
        </p:nvSpPr>
        <p:spPr>
          <a:xfrm>
            <a:off x="10543032" y="6437376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1200" b="1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12</a:t>
            </a:r>
            <a:r>
              <a:rPr sz="1200" b="0">
                <a:solidFill>
                  <a:srgbClr val="8A909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 / 16</a:t>
            </a:r>
            <a:endParaRPr lang="en-US" sz="1200" dirty="0"/>
          </a:p>
        </p:txBody>
      </p:sp>
      <p:sp>
        <p:nvSpPr>
          <p:cNvPr id="41" name="TextBox 40"/>
          <p:cNvSpPr txBox="1"/>
          <p:nvPr/>
        </p:nvSpPr>
        <p:spPr>
          <a:xfrm>
            <a:off x="548640" y="1243584"/>
            <a:ext cx="11091672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5B62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当前 46,200 元预算不含团队工资：成员暂不领薪，工时单独记录；履历、作品与投入时间由团队补充</a:t>
            </a:r>
            <a:endParaRPr sz="1500" b="0">
              <a:solidFill>
                <a:srgbClr val="5B62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777240" y="2578608"/>
            <a:ext cx="2014727" cy="402336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B9CCF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868553" y="2683891"/>
            <a:ext cx="1831847" cy="1917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相关经历  </a:t>
            </a:r>
            <a:endParaRPr sz="1250" b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2901696" y="2578608"/>
            <a:ext cx="2014727" cy="402336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B9CCF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3011424" y="2578608"/>
            <a:ext cx="1831847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实际作品  </a:t>
            </a:r>
            <a:r>
              <a:rPr sz="1250" b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待补</a:t>
            </a:r>
            <a:endParaRPr sz="1250" b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5026151" y="2578608"/>
            <a:ext cx="2014727" cy="402336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B9CCF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5135880" y="2578608"/>
            <a:ext cx="1831847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身份 / 每周投入  </a:t>
            </a:r>
            <a:r>
              <a:rPr sz="1250" b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待补</a:t>
            </a:r>
            <a:endParaRPr sz="1250" b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48" name="Rounded Rectangle 47"/>
          <p:cNvSpPr/>
          <p:nvPr/>
        </p:nvSpPr>
        <p:spPr>
          <a:xfrm>
            <a:off x="777240" y="4059936"/>
            <a:ext cx="2014727" cy="402336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8A909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886968" y="4059936"/>
            <a:ext cx="1831847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>
                <a:solidFill>
                  <a:srgbClr val="8A909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相关经历  </a:t>
            </a:r>
            <a:r>
              <a:rPr sz="1250" b="0">
                <a:solidFill>
                  <a:srgbClr val="8A909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待补</a:t>
            </a:r>
            <a:endParaRPr sz="1250" b="0">
              <a:solidFill>
                <a:srgbClr val="8A909C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50" name="Rounded Rectangle 49"/>
          <p:cNvSpPr/>
          <p:nvPr/>
        </p:nvSpPr>
        <p:spPr>
          <a:xfrm>
            <a:off x="2901696" y="4059936"/>
            <a:ext cx="2014727" cy="402336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8A909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3011424" y="4059936"/>
            <a:ext cx="1831847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>
                <a:solidFill>
                  <a:srgbClr val="8A909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实际作品  </a:t>
            </a:r>
            <a:r>
              <a:rPr sz="1250" b="0">
                <a:solidFill>
                  <a:srgbClr val="8A909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待补</a:t>
            </a:r>
            <a:endParaRPr sz="1250" b="0">
              <a:solidFill>
                <a:srgbClr val="8A909C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52" name="Rounded Rectangle 51"/>
          <p:cNvSpPr/>
          <p:nvPr/>
        </p:nvSpPr>
        <p:spPr>
          <a:xfrm>
            <a:off x="5026151" y="4059936"/>
            <a:ext cx="2014727" cy="402336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8A909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5135880" y="4059936"/>
            <a:ext cx="1831847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>
                <a:solidFill>
                  <a:srgbClr val="8A909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身份 / 每周投入  </a:t>
            </a:r>
            <a:r>
              <a:rPr sz="1250" b="0">
                <a:solidFill>
                  <a:srgbClr val="8A909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待补</a:t>
            </a:r>
            <a:endParaRPr sz="1250" b="0">
              <a:solidFill>
                <a:srgbClr val="8A909C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54" name="Rounded Rectangle 53"/>
          <p:cNvSpPr/>
          <p:nvPr/>
        </p:nvSpPr>
        <p:spPr>
          <a:xfrm>
            <a:off x="777240" y="5541264"/>
            <a:ext cx="2014727" cy="402336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8A909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TextBox 54"/>
          <p:cNvSpPr txBox="1"/>
          <p:nvPr/>
        </p:nvSpPr>
        <p:spPr>
          <a:xfrm>
            <a:off x="886968" y="5541264"/>
            <a:ext cx="1831847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>
                <a:solidFill>
                  <a:srgbClr val="8A909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相关经历  </a:t>
            </a:r>
            <a:r>
              <a:rPr sz="1250" b="0">
                <a:solidFill>
                  <a:srgbClr val="8A909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待补</a:t>
            </a:r>
            <a:endParaRPr sz="1250" b="0">
              <a:solidFill>
                <a:srgbClr val="8A909C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56" name="Rounded Rectangle 55"/>
          <p:cNvSpPr/>
          <p:nvPr/>
        </p:nvSpPr>
        <p:spPr>
          <a:xfrm>
            <a:off x="2901696" y="5541264"/>
            <a:ext cx="2014727" cy="402336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8A909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TextBox 56"/>
          <p:cNvSpPr txBox="1"/>
          <p:nvPr/>
        </p:nvSpPr>
        <p:spPr>
          <a:xfrm>
            <a:off x="3011424" y="5541264"/>
            <a:ext cx="1831847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>
                <a:solidFill>
                  <a:srgbClr val="8A909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实际作品  </a:t>
            </a:r>
            <a:r>
              <a:rPr sz="1250" b="0">
                <a:solidFill>
                  <a:srgbClr val="8A909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待补</a:t>
            </a:r>
            <a:endParaRPr sz="1250" b="0">
              <a:solidFill>
                <a:srgbClr val="8A909C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58" name="Rounded Rectangle 57"/>
          <p:cNvSpPr/>
          <p:nvPr/>
        </p:nvSpPr>
        <p:spPr>
          <a:xfrm>
            <a:off x="5026151" y="5541264"/>
            <a:ext cx="2014727" cy="402336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8A909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TextBox 58"/>
          <p:cNvSpPr txBox="1"/>
          <p:nvPr/>
        </p:nvSpPr>
        <p:spPr>
          <a:xfrm>
            <a:off x="5135880" y="5541264"/>
            <a:ext cx="1831847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>
                <a:solidFill>
                  <a:srgbClr val="8A909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身份 / 每周投入  </a:t>
            </a:r>
            <a:r>
              <a:rPr sz="1250" b="0">
                <a:solidFill>
                  <a:srgbClr val="8A909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待补</a:t>
            </a:r>
            <a:endParaRPr sz="1250" b="0">
              <a:solidFill>
                <a:srgbClr val="8A909C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60" name="Rounded Rectangle 59"/>
          <p:cNvSpPr/>
          <p:nvPr/>
        </p:nvSpPr>
        <p:spPr>
          <a:xfrm>
            <a:off x="7589519" y="1737360"/>
            <a:ext cx="4050792" cy="1298448"/>
          </a:xfrm>
          <a:prstGeom prst="roundRect">
            <a:avLst>
              <a:gd name="adj" fmla="val 6000"/>
            </a:avLst>
          </a:prstGeom>
          <a:solidFill>
            <a:srgbClr val="EAF0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TextBox 60"/>
          <p:cNvSpPr txBox="1"/>
          <p:nvPr/>
        </p:nvSpPr>
        <p:spPr>
          <a:xfrm>
            <a:off x="7790688" y="1810512"/>
            <a:ext cx="368503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2459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关键岗位</a:t>
            </a:r>
            <a:endParaRPr sz="1400" b="1">
              <a:solidFill>
                <a:srgbClr val="2459D6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7790688" y="2121408"/>
            <a:ext cx="3685032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主持  </a:t>
            </a:r>
            <a:r>
              <a:rPr sz="1250" b="0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按场次轮值，人选与连续搭档安排待补</a:t>
            </a:r>
            <a:endParaRPr sz="1250" b="0">
              <a:solidFill>
                <a:srgbClr val="1F2329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  <a:p>
            <a:pPr algn="l">
              <a:spcAft>
                <a:spcPts val="200"/>
              </a:spcAft>
            </a:pPr>
            <a:r>
              <a:rPr sz="1250" b="1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技术值守与人工接管  </a:t>
            </a:r>
            <a:r>
              <a:rPr sz="1250" b="0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徐嘉盛（计划书）</a:t>
            </a:r>
            <a:endParaRPr sz="1250" b="0">
              <a:solidFill>
                <a:srgbClr val="1F2329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  <a:p>
            <a:pPr algn="l">
              <a:spcAft>
                <a:spcPts val="200"/>
              </a:spcAft>
            </a:pPr>
            <a:r>
              <a:rPr sz="1250" b="1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节目决策  </a:t>
            </a:r>
            <a:r>
              <a:rPr sz="1250" b="0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姬祥排期 · 杨若朝投入决策</a:t>
            </a:r>
            <a:endParaRPr sz="1250" b="0">
              <a:solidFill>
                <a:srgbClr val="1F2329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sz="1300" b="1">
                <a:solidFill>
                  <a:srgbClr val="2459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05 商业模式与获客 · 1/2</a:t>
            </a:r>
            <a:endParaRPr lang="en-US" sz="1300" dirty="0"/>
          </a:p>
        </p:txBody>
      </p:sp>
      <p:sp>
        <p:nvSpPr>
          <p:cNvPr id="35" name="Shape 31"/>
          <p:cNvSpPr/>
          <p:nvPr/>
        </p:nvSpPr>
        <p:spPr>
          <a:xfrm>
            <a:off x="548640" y="6382512"/>
            <a:ext cx="11094415" cy="0"/>
          </a:xfrm>
          <a:prstGeom prst="line">
            <a:avLst/>
          </a:prstGeom>
          <a:noFill/>
          <a:ln w="9525">
            <a:solidFill>
              <a:srgbClr val="D5D9E0"/>
            </a:solidFill>
            <a:prstDash val="solid"/>
          </a:ln>
        </p:spPr>
        <p:txBody>
          <a:bodyPr/>
          <a:p/>
        </p:txBody>
      </p:sp>
      <p:sp>
        <p:nvSpPr>
          <p:cNvPr id="37" name="Text 33"/>
          <p:cNvSpPr txBox="1"/>
          <p:nvPr/>
        </p:nvSpPr>
        <p:spPr>
          <a:xfrm>
            <a:off x="10543032" y="6437376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1200" b="1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13</a:t>
            </a:r>
            <a:r>
              <a:rPr sz="1200" b="0">
                <a:solidFill>
                  <a:srgbClr val="8A909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 / 16</a:t>
            </a:r>
            <a:endParaRPr lang="en-US" sz="1200" dirty="0"/>
          </a:p>
        </p:txBody>
      </p:sp>
      <p:sp>
        <p:nvSpPr>
          <p:cNvPr id="101" name="title"/>
          <p:cNvSpPr>
            <a:spLocks noGrp="1"/>
          </p:cNvSpPr>
          <p:nvPr/>
        </p:nvSpPr>
        <p:spPr>
          <a:xfrm>
            <a:off x="552450" y="742950"/>
            <a:ext cx="11096625" cy="600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/>
          <a:lstStyle>
            <a:defPPr>
              <a:defRPr sz="2850" b="1">
                <a:solidFill>
                  <a:srgbClr val="20252B"/>
                </a:solidFill>
              </a:defRPr>
            </a:defPPr>
            <a:lvl1pPr>
              <a:defRPr sz="2850" b="1">
                <a:solidFill>
                  <a:srgbClr val="20252B"/>
                </a:solidFill>
              </a:defRPr>
            </a:lvl1pPr>
            <a:lvl2pPr>
              <a:defRPr sz="2850" b="1">
                <a:solidFill>
                  <a:srgbClr val="20252B"/>
                </a:solidFill>
              </a:defRPr>
            </a:lvl2pPr>
            <a:lvl3pPr>
              <a:defRPr sz="2850" b="1">
                <a:solidFill>
                  <a:srgbClr val="20252B"/>
                </a:solidFill>
              </a:defRPr>
            </a:lvl3pPr>
            <a:lvl4pPr>
              <a:defRPr sz="2850" b="1">
                <a:solidFill>
                  <a:srgbClr val="20252B"/>
                </a:solidFill>
              </a:defRPr>
            </a:lvl4pPr>
            <a:lvl5pPr>
              <a:defRPr sz="2850" b="1">
                <a:solidFill>
                  <a:srgbClr val="20252B"/>
                </a:solidFill>
              </a:defRPr>
            </a:lvl5pPr>
            <a:lvl6pPr>
              <a:defRPr sz="2850" b="1">
                <a:solidFill>
                  <a:srgbClr val="20252B"/>
                </a:solidFill>
              </a:defRPr>
            </a:lvl6pPr>
            <a:lvl7pPr>
              <a:defRPr sz="2850" b="1">
                <a:solidFill>
                  <a:srgbClr val="20252B"/>
                </a:solidFill>
              </a:defRPr>
            </a:lvl7pPr>
            <a:lvl8pPr>
              <a:defRPr sz="2850" b="1">
                <a:solidFill>
                  <a:srgbClr val="20252B"/>
                </a:solidFill>
              </a:defRPr>
            </a:lvl8pPr>
            <a:lvl9pPr>
              <a:defRPr sz="2850" b="1">
                <a:solidFill>
                  <a:srgbClr val="20252B"/>
                </a:solidFill>
              </a:defRPr>
            </a:lvl9pPr>
          </a:lstStyle>
          <a:p>
            <a:pPr algn="l">
              <a:defRPr sz="2850" b="1">
                <a:solidFill>
                  <a:srgbClr val="20252B"/>
                </a:solidFill>
              </a:defRPr>
            </a:pPr>
            <a:r>
              <a:rPr sz="2850" b="1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先验证打赏与会员，再拓展周边和商务</a:t>
            </a:r>
            <a:endParaRPr sz="2850" b="1">
              <a:solidFill>
                <a:srgbClr val="1F2329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03" name="group-live"/>
          <p:cNvSpPr>
            <a:spLocks noGrp="1"/>
          </p:cNvSpPr>
          <p:nvPr/>
        </p:nvSpPr>
        <p:spPr>
          <a:xfrm>
            <a:off x="552450" y="1572768"/>
            <a:ext cx="52387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/>
          <a:lstStyle>
            <a:defPPr>
              <a:defRPr sz="1725" b="1">
                <a:solidFill>
                  <a:srgbClr val="2455D6"/>
                </a:solidFill>
              </a:defRPr>
            </a:defPPr>
            <a:lvl1pPr>
              <a:defRPr sz="1725" b="1">
                <a:solidFill>
                  <a:srgbClr val="2455D6"/>
                </a:solidFill>
              </a:defRPr>
            </a:lvl1pPr>
            <a:lvl2pPr>
              <a:defRPr sz="1725" b="1">
                <a:solidFill>
                  <a:srgbClr val="2455D6"/>
                </a:solidFill>
              </a:defRPr>
            </a:lvl2pPr>
            <a:lvl3pPr>
              <a:defRPr sz="1725" b="1">
                <a:solidFill>
                  <a:srgbClr val="2455D6"/>
                </a:solidFill>
              </a:defRPr>
            </a:lvl3pPr>
            <a:lvl4pPr>
              <a:defRPr sz="1725" b="1">
                <a:solidFill>
                  <a:srgbClr val="2455D6"/>
                </a:solidFill>
              </a:defRPr>
            </a:lvl4pPr>
            <a:lvl5pPr>
              <a:defRPr sz="1725" b="1">
                <a:solidFill>
                  <a:srgbClr val="2455D6"/>
                </a:solidFill>
              </a:defRPr>
            </a:lvl5pPr>
            <a:lvl6pPr>
              <a:defRPr sz="1725" b="1">
                <a:solidFill>
                  <a:srgbClr val="2455D6"/>
                </a:solidFill>
              </a:defRPr>
            </a:lvl6pPr>
            <a:lvl7pPr>
              <a:defRPr sz="1725" b="1">
                <a:solidFill>
                  <a:srgbClr val="2455D6"/>
                </a:solidFill>
              </a:defRPr>
            </a:lvl7pPr>
            <a:lvl8pPr>
              <a:defRPr sz="1725" b="1">
                <a:solidFill>
                  <a:srgbClr val="2455D6"/>
                </a:solidFill>
              </a:defRPr>
            </a:lvl8pPr>
            <a:lvl9pPr>
              <a:defRPr sz="1725" b="1">
                <a:solidFill>
                  <a:srgbClr val="2455D6"/>
                </a:solidFill>
              </a:defRPr>
            </a:lvl9pPr>
          </a:lstStyle>
          <a:p>
            <a:pPr algn="l">
              <a:defRPr sz="1725" b="1">
                <a:solidFill>
                  <a:srgbClr val="2455D6"/>
                </a:solidFill>
              </a:defRPr>
            </a:pPr>
            <a:r>
              <a:rPr sz="1700" b="1">
                <a:solidFill>
                  <a:srgbClr val="2459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近期验证 · 首阶段</a:t>
            </a:r>
            <a:endParaRPr sz="1700" b="1">
              <a:solidFill>
                <a:srgbClr val="2459D6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04" name="group-expand"/>
          <p:cNvSpPr>
            <a:spLocks noGrp="1"/>
          </p:cNvSpPr>
          <p:nvPr/>
        </p:nvSpPr>
        <p:spPr>
          <a:xfrm>
            <a:off x="6267450" y="1572768"/>
            <a:ext cx="52387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/>
          <a:lstStyle>
            <a:defPPr>
              <a:defRPr sz="1725" b="1">
                <a:solidFill>
                  <a:srgbClr val="637087"/>
                </a:solidFill>
              </a:defRPr>
            </a:defPPr>
            <a:lvl1pPr>
              <a:defRPr sz="1725" b="1">
                <a:solidFill>
                  <a:srgbClr val="637087"/>
                </a:solidFill>
              </a:defRPr>
            </a:lvl1pPr>
            <a:lvl2pPr>
              <a:defRPr sz="1725" b="1">
                <a:solidFill>
                  <a:srgbClr val="637087"/>
                </a:solidFill>
              </a:defRPr>
            </a:lvl2pPr>
            <a:lvl3pPr>
              <a:defRPr sz="1725" b="1">
                <a:solidFill>
                  <a:srgbClr val="637087"/>
                </a:solidFill>
              </a:defRPr>
            </a:lvl3pPr>
            <a:lvl4pPr>
              <a:defRPr sz="1725" b="1">
                <a:solidFill>
                  <a:srgbClr val="637087"/>
                </a:solidFill>
              </a:defRPr>
            </a:lvl4pPr>
            <a:lvl5pPr>
              <a:defRPr sz="1725" b="1">
                <a:solidFill>
                  <a:srgbClr val="637087"/>
                </a:solidFill>
              </a:defRPr>
            </a:lvl5pPr>
            <a:lvl6pPr>
              <a:defRPr sz="1725" b="1">
                <a:solidFill>
                  <a:srgbClr val="637087"/>
                </a:solidFill>
              </a:defRPr>
            </a:lvl6pPr>
            <a:lvl7pPr>
              <a:defRPr sz="1725" b="1">
                <a:solidFill>
                  <a:srgbClr val="637087"/>
                </a:solidFill>
              </a:defRPr>
            </a:lvl7pPr>
            <a:lvl8pPr>
              <a:defRPr sz="1725" b="1">
                <a:solidFill>
                  <a:srgbClr val="637087"/>
                </a:solidFill>
              </a:defRPr>
            </a:lvl8pPr>
            <a:lvl9pPr>
              <a:defRPr sz="1725" b="1">
                <a:solidFill>
                  <a:srgbClr val="637087"/>
                </a:solidFill>
              </a:defRPr>
            </a:lvl9pPr>
          </a:lstStyle>
          <a:p>
            <a:pPr algn="l">
              <a:defRPr sz="1725" b="1">
                <a:solidFill>
                  <a:srgbClr val="637087"/>
                </a:solidFill>
              </a:defRPr>
            </a:pPr>
            <a:r>
              <a:rPr sz="1700" b="1">
                <a:solidFill>
                  <a:srgbClr val="5B62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条件满足后拓展</a:t>
            </a:r>
            <a:endParaRPr sz="1700" b="1">
              <a:solidFill>
                <a:srgbClr val="5B62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05" name="live-line"/>
          <p:cNvSpPr>
            <a:spLocks noGrp="1"/>
          </p:cNvSpPr>
          <p:nvPr/>
        </p:nvSpPr>
        <p:spPr>
          <a:xfrm>
            <a:off x="552450" y="1975104"/>
            <a:ext cx="5219700" cy="0"/>
          </a:xfrm>
          <a:prstGeom prst="line">
            <a:avLst/>
          </a:prstGeom>
          <a:noFill/>
          <a:ln w="9525">
            <a:solidFill>
              <a:srgbClr val="2455D6"/>
            </a:solidFill>
          </a:ln>
        </p:spPr>
      </p:sp>
      <p:sp>
        <p:nvSpPr>
          <p:cNvPr id="106" name="expand-line"/>
          <p:cNvSpPr>
            <a:spLocks noGrp="1"/>
          </p:cNvSpPr>
          <p:nvPr/>
        </p:nvSpPr>
        <p:spPr>
          <a:xfrm>
            <a:off x="6267450" y="1975104"/>
            <a:ext cx="5219700" cy="0"/>
          </a:xfrm>
          <a:prstGeom prst="line">
            <a:avLst/>
          </a:prstGeom>
          <a:noFill/>
          <a:ln w="9525">
            <a:solidFill>
              <a:srgbClr val="DCE2EC"/>
            </a:solidFill>
          </a:ln>
        </p:spPr>
      </p:sp>
      <p:sp>
        <p:nvSpPr>
          <p:cNvPr id="107" name="number-0"/>
          <p:cNvSpPr>
            <a:spLocks noGrp="1"/>
          </p:cNvSpPr>
          <p:nvPr/>
        </p:nvSpPr>
        <p:spPr>
          <a:xfrm>
            <a:off x="552450" y="2103120"/>
            <a:ext cx="245745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1">
                <a:solidFill>
                  <a:srgbClr val="2455D6"/>
                </a:solidFill>
              </a:defRPr>
            </a:defPPr>
            <a:lvl1pPr>
              <a:defRPr sz="1875" b="1">
                <a:solidFill>
                  <a:srgbClr val="2455D6"/>
                </a:solidFill>
              </a:defRPr>
            </a:lvl1pPr>
            <a:lvl2pPr>
              <a:defRPr sz="1875" b="1">
                <a:solidFill>
                  <a:srgbClr val="2455D6"/>
                </a:solidFill>
              </a:defRPr>
            </a:lvl2pPr>
            <a:lvl3pPr>
              <a:defRPr sz="1875" b="1">
                <a:solidFill>
                  <a:srgbClr val="2455D6"/>
                </a:solidFill>
              </a:defRPr>
            </a:lvl3pPr>
            <a:lvl4pPr>
              <a:defRPr sz="1875" b="1">
                <a:solidFill>
                  <a:srgbClr val="2455D6"/>
                </a:solidFill>
              </a:defRPr>
            </a:lvl4pPr>
            <a:lvl5pPr>
              <a:defRPr sz="1875" b="1">
                <a:solidFill>
                  <a:srgbClr val="2455D6"/>
                </a:solidFill>
              </a:defRPr>
            </a:lvl5pPr>
            <a:lvl6pPr>
              <a:defRPr sz="1875" b="1">
                <a:solidFill>
                  <a:srgbClr val="2455D6"/>
                </a:solidFill>
              </a:defRPr>
            </a:lvl6pPr>
            <a:lvl7pPr>
              <a:defRPr sz="1875" b="1">
                <a:solidFill>
                  <a:srgbClr val="2455D6"/>
                </a:solidFill>
              </a:defRPr>
            </a:lvl7pPr>
            <a:lvl8pPr>
              <a:defRPr sz="1875" b="1">
                <a:solidFill>
                  <a:srgbClr val="2455D6"/>
                </a:solidFill>
              </a:defRPr>
            </a:lvl8pPr>
            <a:lvl9pPr>
              <a:defRPr sz="1875" b="1">
                <a:solidFill>
                  <a:srgbClr val="2455D6"/>
                </a:solidFill>
              </a:defRPr>
            </a:lvl9pPr>
          </a:lstStyle>
          <a:p>
            <a:pPr>
              <a:defRPr sz="1875" b="1">
                <a:solidFill>
                  <a:srgbClr val="2455D6"/>
                </a:solidFill>
              </a:defRPr>
            </a:pPr>
            <a:r>
              <a:rPr sz="1875" b="1">
                <a:solidFill>
                  <a:srgbClr val="2455D6"/>
                </a:solidFill>
              </a:rPr>
              <a:t>01</a:t>
            </a:r>
            <a:endParaRPr sz="1875" b="1">
              <a:solidFill>
                <a:srgbClr val="2455D6"/>
              </a:solidFill>
            </a:endParaRPr>
          </a:p>
        </p:txBody>
      </p:sp>
      <p:sp>
        <p:nvSpPr>
          <p:cNvPr id="108" name="income-0"/>
          <p:cNvSpPr>
            <a:spLocks noGrp="1"/>
          </p:cNvSpPr>
          <p:nvPr/>
        </p:nvSpPr>
        <p:spPr>
          <a:xfrm>
            <a:off x="552450" y="2450592"/>
            <a:ext cx="245745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325" b="1">
                <a:solidFill>
                  <a:srgbClr val="20252B"/>
                </a:solidFill>
              </a:defRPr>
            </a:defPPr>
            <a:lvl1pPr>
              <a:defRPr sz="2325" b="1">
                <a:solidFill>
                  <a:srgbClr val="20252B"/>
                </a:solidFill>
              </a:defRPr>
            </a:lvl1pPr>
            <a:lvl2pPr>
              <a:defRPr sz="2325" b="1">
                <a:solidFill>
                  <a:srgbClr val="20252B"/>
                </a:solidFill>
              </a:defRPr>
            </a:lvl2pPr>
            <a:lvl3pPr>
              <a:defRPr sz="2325" b="1">
                <a:solidFill>
                  <a:srgbClr val="20252B"/>
                </a:solidFill>
              </a:defRPr>
            </a:lvl3pPr>
            <a:lvl4pPr>
              <a:defRPr sz="2325" b="1">
                <a:solidFill>
                  <a:srgbClr val="20252B"/>
                </a:solidFill>
              </a:defRPr>
            </a:lvl4pPr>
            <a:lvl5pPr>
              <a:defRPr sz="2325" b="1">
                <a:solidFill>
                  <a:srgbClr val="20252B"/>
                </a:solidFill>
              </a:defRPr>
            </a:lvl5pPr>
            <a:lvl6pPr>
              <a:defRPr sz="2325" b="1">
                <a:solidFill>
                  <a:srgbClr val="20252B"/>
                </a:solidFill>
              </a:defRPr>
            </a:lvl6pPr>
            <a:lvl7pPr>
              <a:defRPr sz="2325" b="1">
                <a:solidFill>
                  <a:srgbClr val="20252B"/>
                </a:solidFill>
              </a:defRPr>
            </a:lvl7pPr>
            <a:lvl8pPr>
              <a:defRPr sz="2325" b="1">
                <a:solidFill>
                  <a:srgbClr val="20252B"/>
                </a:solidFill>
              </a:defRPr>
            </a:lvl8pPr>
            <a:lvl9pPr>
              <a:defRPr sz="2325" b="1">
                <a:solidFill>
                  <a:srgbClr val="20252B"/>
                </a:solidFill>
              </a:defRPr>
            </a:lvl9pPr>
          </a:lstStyle>
          <a:p>
            <a:pPr>
              <a:defRPr sz="2325" b="1">
                <a:solidFill>
                  <a:srgbClr val="20252B"/>
                </a:solidFill>
              </a:defRPr>
            </a:pPr>
            <a:r>
              <a:rPr sz="2325" b="1">
                <a:solidFill>
                  <a:srgbClr val="20252B"/>
                </a:solidFill>
              </a:rPr>
              <a:t>直播打赏</a:t>
            </a:r>
            <a:endParaRPr sz="2325" b="1">
              <a:solidFill>
                <a:srgbClr val="20252B"/>
              </a:solidFill>
            </a:endParaRPr>
          </a:p>
        </p:txBody>
      </p:sp>
      <p:sp>
        <p:nvSpPr>
          <p:cNvPr id="110" name="method-0"/>
          <p:cNvSpPr>
            <a:spLocks noGrp="1"/>
          </p:cNvSpPr>
          <p:nvPr/>
        </p:nvSpPr>
        <p:spPr>
          <a:xfrm>
            <a:off x="552450" y="2926080"/>
            <a:ext cx="24574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50" b="1">
                <a:solidFill>
                  <a:srgbClr val="2455D6"/>
                </a:solidFill>
              </a:defRPr>
            </a:defPPr>
            <a:lvl1pPr>
              <a:defRPr sz="1650" b="1">
                <a:solidFill>
                  <a:srgbClr val="2455D6"/>
                </a:solidFill>
              </a:defRPr>
            </a:lvl1pPr>
            <a:lvl2pPr>
              <a:defRPr sz="1650" b="1">
                <a:solidFill>
                  <a:srgbClr val="2455D6"/>
                </a:solidFill>
              </a:defRPr>
            </a:lvl2pPr>
            <a:lvl3pPr>
              <a:defRPr sz="1650" b="1">
                <a:solidFill>
                  <a:srgbClr val="2455D6"/>
                </a:solidFill>
              </a:defRPr>
            </a:lvl3pPr>
            <a:lvl4pPr>
              <a:defRPr sz="1650" b="1">
                <a:solidFill>
                  <a:srgbClr val="2455D6"/>
                </a:solidFill>
              </a:defRPr>
            </a:lvl4pPr>
            <a:lvl5pPr>
              <a:defRPr sz="1650" b="1">
                <a:solidFill>
                  <a:srgbClr val="2455D6"/>
                </a:solidFill>
              </a:defRPr>
            </a:lvl5pPr>
            <a:lvl6pPr>
              <a:defRPr sz="1650" b="1">
                <a:solidFill>
                  <a:srgbClr val="2455D6"/>
                </a:solidFill>
              </a:defRPr>
            </a:lvl6pPr>
            <a:lvl7pPr>
              <a:defRPr sz="1650" b="1">
                <a:solidFill>
                  <a:srgbClr val="2455D6"/>
                </a:solidFill>
              </a:defRPr>
            </a:lvl7pPr>
            <a:lvl8pPr>
              <a:defRPr sz="1650" b="1">
                <a:solidFill>
                  <a:srgbClr val="2455D6"/>
                </a:solidFill>
              </a:defRPr>
            </a:lvl8pPr>
            <a:lvl9pPr>
              <a:defRPr sz="1650" b="1">
                <a:solidFill>
                  <a:srgbClr val="2455D6"/>
                </a:solidFill>
              </a:defRPr>
            </a:lvl9pPr>
          </a:lstStyle>
          <a:p>
            <a:pPr>
              <a:defRPr sz="1650" b="1">
                <a:solidFill>
                  <a:srgbClr val="2455D6"/>
                </a:solidFill>
              </a:defRPr>
            </a:pPr>
            <a:r>
              <a:rPr sz="1650" b="1" dirty="0" err="1">
                <a:solidFill>
                  <a:srgbClr val="2455D6"/>
                </a:solidFill>
              </a:rPr>
              <a:t>礼物、付费留言</a:t>
            </a:r>
            <a:endParaRPr sz="1650" b="1" dirty="0">
              <a:solidFill>
                <a:srgbClr val="2455D6"/>
              </a:solidFill>
            </a:endParaRPr>
          </a:p>
        </p:txBody>
      </p:sp>
      <p:sp>
        <p:nvSpPr>
          <p:cNvPr id="111" name="value-0"/>
          <p:cNvSpPr>
            <a:spLocks noGrp="1"/>
          </p:cNvSpPr>
          <p:nvPr/>
        </p:nvSpPr>
        <p:spPr>
          <a:xfrm>
            <a:off x="552450" y="3310128"/>
            <a:ext cx="2457450" cy="640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50" b="0">
                <a:solidFill>
                  <a:srgbClr val="20252B"/>
                </a:solidFill>
              </a:defRPr>
            </a:defPPr>
            <a:lvl1pPr>
              <a:defRPr sz="1650" b="0">
                <a:solidFill>
                  <a:srgbClr val="20252B"/>
                </a:solidFill>
              </a:defRPr>
            </a:lvl1pPr>
            <a:lvl2pPr>
              <a:defRPr sz="1650" b="0">
                <a:solidFill>
                  <a:srgbClr val="20252B"/>
                </a:solidFill>
              </a:defRPr>
            </a:lvl2pPr>
            <a:lvl3pPr>
              <a:defRPr sz="1650" b="0">
                <a:solidFill>
                  <a:srgbClr val="20252B"/>
                </a:solidFill>
              </a:defRPr>
            </a:lvl3pPr>
            <a:lvl4pPr>
              <a:defRPr sz="1650" b="0">
                <a:solidFill>
                  <a:srgbClr val="20252B"/>
                </a:solidFill>
              </a:defRPr>
            </a:lvl4pPr>
            <a:lvl5pPr>
              <a:defRPr sz="1650" b="0">
                <a:solidFill>
                  <a:srgbClr val="20252B"/>
                </a:solidFill>
              </a:defRPr>
            </a:lvl5pPr>
            <a:lvl6pPr>
              <a:defRPr sz="1650" b="0">
                <a:solidFill>
                  <a:srgbClr val="20252B"/>
                </a:solidFill>
              </a:defRPr>
            </a:lvl6pPr>
            <a:lvl7pPr>
              <a:defRPr sz="1650" b="0">
                <a:solidFill>
                  <a:srgbClr val="20252B"/>
                </a:solidFill>
              </a:defRPr>
            </a:lvl7pPr>
            <a:lvl8pPr>
              <a:defRPr sz="1650" b="0">
                <a:solidFill>
                  <a:srgbClr val="20252B"/>
                </a:solidFill>
              </a:defRPr>
            </a:lvl8pPr>
            <a:lvl9pPr>
              <a:defRPr sz="1650" b="0">
                <a:solidFill>
                  <a:srgbClr val="20252B"/>
                </a:solidFill>
              </a:defRPr>
            </a:lvl9pPr>
          </a:lstStyle>
          <a:p>
            <a:pPr>
              <a:defRPr sz="1650" b="0">
                <a:solidFill>
                  <a:srgbClr val="20252B"/>
                </a:solidFill>
              </a:defRPr>
            </a:pPr>
            <a:r>
              <a:rPr sz="1650" b="0">
                <a:solidFill>
                  <a:srgbClr val="20252B"/>
                </a:solidFill>
              </a:rPr>
              <a:t>支持当场互动</a:t>
            </a:r>
            <a:endParaRPr sz="1650" b="0">
              <a:solidFill>
                <a:srgbClr val="20252B"/>
              </a:solidFill>
            </a:endParaRPr>
          </a:p>
          <a:p>
            <a:pPr>
              <a:defRPr sz="1650" b="0">
                <a:solidFill>
                  <a:srgbClr val="20252B"/>
                </a:solidFill>
              </a:defRPr>
            </a:pPr>
            <a:r>
              <a:rPr sz="1650" b="0">
                <a:solidFill>
                  <a:srgbClr val="20252B"/>
                </a:solidFill>
              </a:rPr>
              <a:t>与角色表现</a:t>
            </a:r>
            <a:endParaRPr sz="1650" b="0">
              <a:solidFill>
                <a:srgbClr val="20252B"/>
              </a:solidFill>
            </a:endParaRPr>
          </a:p>
        </p:txBody>
      </p:sp>
      <p:sp>
        <p:nvSpPr>
          <p:cNvPr id="112" name="number-1"/>
          <p:cNvSpPr>
            <a:spLocks noGrp="1"/>
          </p:cNvSpPr>
          <p:nvPr/>
        </p:nvSpPr>
        <p:spPr>
          <a:xfrm>
            <a:off x="3409950" y="2103120"/>
            <a:ext cx="245745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1">
                <a:solidFill>
                  <a:srgbClr val="2455D6"/>
                </a:solidFill>
              </a:defRPr>
            </a:defPPr>
            <a:lvl1pPr>
              <a:defRPr sz="1875" b="1">
                <a:solidFill>
                  <a:srgbClr val="2455D6"/>
                </a:solidFill>
              </a:defRPr>
            </a:lvl1pPr>
            <a:lvl2pPr>
              <a:defRPr sz="1875" b="1">
                <a:solidFill>
                  <a:srgbClr val="2455D6"/>
                </a:solidFill>
              </a:defRPr>
            </a:lvl2pPr>
            <a:lvl3pPr>
              <a:defRPr sz="1875" b="1">
                <a:solidFill>
                  <a:srgbClr val="2455D6"/>
                </a:solidFill>
              </a:defRPr>
            </a:lvl3pPr>
            <a:lvl4pPr>
              <a:defRPr sz="1875" b="1">
                <a:solidFill>
                  <a:srgbClr val="2455D6"/>
                </a:solidFill>
              </a:defRPr>
            </a:lvl4pPr>
            <a:lvl5pPr>
              <a:defRPr sz="1875" b="1">
                <a:solidFill>
                  <a:srgbClr val="2455D6"/>
                </a:solidFill>
              </a:defRPr>
            </a:lvl5pPr>
            <a:lvl6pPr>
              <a:defRPr sz="1875" b="1">
                <a:solidFill>
                  <a:srgbClr val="2455D6"/>
                </a:solidFill>
              </a:defRPr>
            </a:lvl6pPr>
            <a:lvl7pPr>
              <a:defRPr sz="1875" b="1">
                <a:solidFill>
                  <a:srgbClr val="2455D6"/>
                </a:solidFill>
              </a:defRPr>
            </a:lvl7pPr>
            <a:lvl8pPr>
              <a:defRPr sz="1875" b="1">
                <a:solidFill>
                  <a:srgbClr val="2455D6"/>
                </a:solidFill>
              </a:defRPr>
            </a:lvl8pPr>
            <a:lvl9pPr>
              <a:defRPr sz="1875" b="1">
                <a:solidFill>
                  <a:srgbClr val="2455D6"/>
                </a:solidFill>
              </a:defRPr>
            </a:lvl9pPr>
          </a:lstStyle>
          <a:p>
            <a:pPr>
              <a:defRPr sz="1875" b="1">
                <a:solidFill>
                  <a:srgbClr val="2455D6"/>
                </a:solidFill>
              </a:defRPr>
            </a:pPr>
            <a:r>
              <a:rPr sz="1875" b="1">
                <a:solidFill>
                  <a:srgbClr val="2455D6"/>
                </a:solidFill>
              </a:rPr>
              <a:t>02</a:t>
            </a:r>
            <a:endParaRPr sz="1875" b="1">
              <a:solidFill>
                <a:srgbClr val="2455D6"/>
              </a:solidFill>
            </a:endParaRPr>
          </a:p>
        </p:txBody>
      </p:sp>
      <p:sp>
        <p:nvSpPr>
          <p:cNvPr id="113" name="income-1"/>
          <p:cNvSpPr>
            <a:spLocks noGrp="1"/>
          </p:cNvSpPr>
          <p:nvPr/>
        </p:nvSpPr>
        <p:spPr>
          <a:xfrm>
            <a:off x="3409950" y="2450592"/>
            <a:ext cx="245745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325" b="1">
                <a:solidFill>
                  <a:srgbClr val="20252B"/>
                </a:solidFill>
              </a:defRPr>
            </a:defPPr>
            <a:lvl1pPr>
              <a:defRPr sz="2325" b="1">
                <a:solidFill>
                  <a:srgbClr val="20252B"/>
                </a:solidFill>
              </a:defRPr>
            </a:lvl1pPr>
            <a:lvl2pPr>
              <a:defRPr sz="2325" b="1">
                <a:solidFill>
                  <a:srgbClr val="20252B"/>
                </a:solidFill>
              </a:defRPr>
            </a:lvl2pPr>
            <a:lvl3pPr>
              <a:defRPr sz="2325" b="1">
                <a:solidFill>
                  <a:srgbClr val="20252B"/>
                </a:solidFill>
              </a:defRPr>
            </a:lvl3pPr>
            <a:lvl4pPr>
              <a:defRPr sz="2325" b="1">
                <a:solidFill>
                  <a:srgbClr val="20252B"/>
                </a:solidFill>
              </a:defRPr>
            </a:lvl4pPr>
            <a:lvl5pPr>
              <a:defRPr sz="2325" b="1">
                <a:solidFill>
                  <a:srgbClr val="20252B"/>
                </a:solidFill>
              </a:defRPr>
            </a:lvl5pPr>
            <a:lvl6pPr>
              <a:defRPr sz="2325" b="1">
                <a:solidFill>
                  <a:srgbClr val="20252B"/>
                </a:solidFill>
              </a:defRPr>
            </a:lvl6pPr>
            <a:lvl7pPr>
              <a:defRPr sz="2325" b="1">
                <a:solidFill>
                  <a:srgbClr val="20252B"/>
                </a:solidFill>
              </a:defRPr>
            </a:lvl7pPr>
            <a:lvl8pPr>
              <a:defRPr sz="2325" b="1">
                <a:solidFill>
                  <a:srgbClr val="20252B"/>
                </a:solidFill>
              </a:defRPr>
            </a:lvl8pPr>
            <a:lvl9pPr>
              <a:defRPr sz="2325" b="1">
                <a:solidFill>
                  <a:srgbClr val="20252B"/>
                </a:solidFill>
              </a:defRPr>
            </a:lvl9pPr>
          </a:lstStyle>
          <a:p>
            <a:pPr>
              <a:defRPr sz="2325" b="1">
                <a:solidFill>
                  <a:srgbClr val="20252B"/>
                </a:solidFill>
              </a:defRPr>
            </a:pPr>
            <a:r>
              <a:rPr sz="2325" b="1">
                <a:solidFill>
                  <a:srgbClr val="20252B"/>
                </a:solidFill>
              </a:rPr>
              <a:t>直播会员</a:t>
            </a:r>
            <a:endParaRPr sz="2325" b="1">
              <a:solidFill>
                <a:srgbClr val="20252B"/>
              </a:solidFill>
            </a:endParaRPr>
          </a:p>
        </p:txBody>
      </p:sp>
      <p:sp>
        <p:nvSpPr>
          <p:cNvPr id="115" name="method-1"/>
          <p:cNvSpPr>
            <a:spLocks noGrp="1"/>
          </p:cNvSpPr>
          <p:nvPr/>
        </p:nvSpPr>
        <p:spPr>
          <a:xfrm>
            <a:off x="3409950" y="2926080"/>
            <a:ext cx="24574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50" b="1">
                <a:solidFill>
                  <a:srgbClr val="2455D6"/>
                </a:solidFill>
              </a:defRPr>
            </a:defPPr>
            <a:lvl1pPr>
              <a:defRPr sz="1650" b="1">
                <a:solidFill>
                  <a:srgbClr val="2455D6"/>
                </a:solidFill>
              </a:defRPr>
            </a:lvl1pPr>
            <a:lvl2pPr>
              <a:defRPr sz="1650" b="1">
                <a:solidFill>
                  <a:srgbClr val="2455D6"/>
                </a:solidFill>
              </a:defRPr>
            </a:lvl2pPr>
            <a:lvl3pPr>
              <a:defRPr sz="1650" b="1">
                <a:solidFill>
                  <a:srgbClr val="2455D6"/>
                </a:solidFill>
              </a:defRPr>
            </a:lvl3pPr>
            <a:lvl4pPr>
              <a:defRPr sz="1650" b="1">
                <a:solidFill>
                  <a:srgbClr val="2455D6"/>
                </a:solidFill>
              </a:defRPr>
            </a:lvl4pPr>
            <a:lvl5pPr>
              <a:defRPr sz="1650" b="1">
                <a:solidFill>
                  <a:srgbClr val="2455D6"/>
                </a:solidFill>
              </a:defRPr>
            </a:lvl5pPr>
            <a:lvl6pPr>
              <a:defRPr sz="1650" b="1">
                <a:solidFill>
                  <a:srgbClr val="2455D6"/>
                </a:solidFill>
              </a:defRPr>
            </a:lvl6pPr>
            <a:lvl7pPr>
              <a:defRPr sz="1650" b="1">
                <a:solidFill>
                  <a:srgbClr val="2455D6"/>
                </a:solidFill>
              </a:defRPr>
            </a:lvl7pPr>
            <a:lvl8pPr>
              <a:defRPr sz="1650" b="1">
                <a:solidFill>
                  <a:srgbClr val="2455D6"/>
                </a:solidFill>
              </a:defRPr>
            </a:lvl8pPr>
            <a:lvl9pPr>
              <a:defRPr sz="1650" b="1">
                <a:solidFill>
                  <a:srgbClr val="2455D6"/>
                </a:solidFill>
              </a:defRPr>
            </a:lvl9pPr>
          </a:lstStyle>
          <a:p>
            <a:pPr>
              <a:defRPr sz="1650" b="1">
                <a:solidFill>
                  <a:srgbClr val="2455D6"/>
                </a:solidFill>
              </a:defRPr>
            </a:pPr>
            <a:r>
              <a:rPr sz="1650" b="1" dirty="0" err="1">
                <a:solidFill>
                  <a:srgbClr val="2455D6"/>
                </a:solidFill>
              </a:rPr>
              <a:t>持续订阅、明确权益</a:t>
            </a:r>
            <a:endParaRPr sz="1650" b="1" dirty="0">
              <a:solidFill>
                <a:srgbClr val="2455D6"/>
              </a:solidFill>
            </a:endParaRPr>
          </a:p>
        </p:txBody>
      </p:sp>
      <p:sp>
        <p:nvSpPr>
          <p:cNvPr id="116" name="value-1"/>
          <p:cNvSpPr>
            <a:spLocks noGrp="1"/>
          </p:cNvSpPr>
          <p:nvPr/>
        </p:nvSpPr>
        <p:spPr>
          <a:xfrm>
            <a:off x="3409950" y="3310128"/>
            <a:ext cx="2457450" cy="640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50" b="0">
                <a:solidFill>
                  <a:srgbClr val="20252B"/>
                </a:solidFill>
              </a:defRPr>
            </a:defPPr>
            <a:lvl1pPr>
              <a:defRPr sz="1650" b="0">
                <a:solidFill>
                  <a:srgbClr val="20252B"/>
                </a:solidFill>
              </a:defRPr>
            </a:lvl1pPr>
            <a:lvl2pPr>
              <a:defRPr sz="1650" b="0">
                <a:solidFill>
                  <a:srgbClr val="20252B"/>
                </a:solidFill>
              </a:defRPr>
            </a:lvl2pPr>
            <a:lvl3pPr>
              <a:defRPr sz="1650" b="0">
                <a:solidFill>
                  <a:srgbClr val="20252B"/>
                </a:solidFill>
              </a:defRPr>
            </a:lvl3pPr>
            <a:lvl4pPr>
              <a:defRPr sz="1650" b="0">
                <a:solidFill>
                  <a:srgbClr val="20252B"/>
                </a:solidFill>
              </a:defRPr>
            </a:lvl4pPr>
            <a:lvl5pPr>
              <a:defRPr sz="1650" b="0">
                <a:solidFill>
                  <a:srgbClr val="20252B"/>
                </a:solidFill>
              </a:defRPr>
            </a:lvl5pPr>
            <a:lvl6pPr>
              <a:defRPr sz="1650" b="0">
                <a:solidFill>
                  <a:srgbClr val="20252B"/>
                </a:solidFill>
              </a:defRPr>
            </a:lvl6pPr>
            <a:lvl7pPr>
              <a:defRPr sz="1650" b="0">
                <a:solidFill>
                  <a:srgbClr val="20252B"/>
                </a:solidFill>
              </a:defRPr>
            </a:lvl7pPr>
            <a:lvl8pPr>
              <a:defRPr sz="1650" b="0">
                <a:solidFill>
                  <a:srgbClr val="20252B"/>
                </a:solidFill>
              </a:defRPr>
            </a:lvl8pPr>
            <a:lvl9pPr>
              <a:defRPr sz="1650" b="0">
                <a:solidFill>
                  <a:srgbClr val="20252B"/>
                </a:solidFill>
              </a:defRPr>
            </a:lvl9pPr>
          </a:lstStyle>
          <a:p>
            <a:pPr>
              <a:defRPr sz="1650" b="0">
                <a:solidFill>
                  <a:srgbClr val="20252B"/>
                </a:solidFill>
              </a:defRPr>
            </a:pPr>
            <a:r>
              <a:rPr sz="1650" b="0" dirty="0" err="1">
                <a:solidFill>
                  <a:srgbClr val="20252B"/>
                </a:solidFill>
              </a:rPr>
              <a:t>身份标识、专属内容</a:t>
            </a:r>
            <a:endParaRPr sz="1650" b="0" dirty="0">
              <a:solidFill>
                <a:srgbClr val="20252B"/>
              </a:solidFill>
            </a:endParaRPr>
          </a:p>
          <a:p>
            <a:pPr>
              <a:defRPr sz="1650" b="0">
                <a:solidFill>
                  <a:srgbClr val="20252B"/>
                </a:solidFill>
              </a:defRPr>
            </a:pPr>
            <a:r>
              <a:rPr sz="1650" b="0" dirty="0" err="1">
                <a:solidFill>
                  <a:srgbClr val="20252B"/>
                </a:solidFill>
              </a:rPr>
              <a:t>与会员活动</a:t>
            </a:r>
            <a:endParaRPr sz="1650" b="0" dirty="0">
              <a:solidFill>
                <a:srgbClr val="20252B"/>
              </a:solidFill>
            </a:endParaRPr>
          </a:p>
        </p:txBody>
      </p:sp>
      <p:sp>
        <p:nvSpPr>
          <p:cNvPr id="117" name="number-2"/>
          <p:cNvSpPr>
            <a:spLocks noGrp="1"/>
          </p:cNvSpPr>
          <p:nvPr/>
        </p:nvSpPr>
        <p:spPr>
          <a:xfrm>
            <a:off x="6267450" y="2103120"/>
            <a:ext cx="245745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1">
                <a:solidFill>
                  <a:srgbClr val="2455D6"/>
                </a:solidFill>
              </a:defRPr>
            </a:defPPr>
            <a:lvl1pPr>
              <a:defRPr sz="1875" b="1">
                <a:solidFill>
                  <a:srgbClr val="2455D6"/>
                </a:solidFill>
              </a:defRPr>
            </a:lvl1pPr>
            <a:lvl2pPr>
              <a:defRPr sz="1875" b="1">
                <a:solidFill>
                  <a:srgbClr val="2455D6"/>
                </a:solidFill>
              </a:defRPr>
            </a:lvl2pPr>
            <a:lvl3pPr>
              <a:defRPr sz="1875" b="1">
                <a:solidFill>
                  <a:srgbClr val="2455D6"/>
                </a:solidFill>
              </a:defRPr>
            </a:lvl3pPr>
            <a:lvl4pPr>
              <a:defRPr sz="1875" b="1">
                <a:solidFill>
                  <a:srgbClr val="2455D6"/>
                </a:solidFill>
              </a:defRPr>
            </a:lvl4pPr>
            <a:lvl5pPr>
              <a:defRPr sz="1875" b="1">
                <a:solidFill>
                  <a:srgbClr val="2455D6"/>
                </a:solidFill>
              </a:defRPr>
            </a:lvl5pPr>
            <a:lvl6pPr>
              <a:defRPr sz="1875" b="1">
                <a:solidFill>
                  <a:srgbClr val="2455D6"/>
                </a:solidFill>
              </a:defRPr>
            </a:lvl6pPr>
            <a:lvl7pPr>
              <a:defRPr sz="1875" b="1">
                <a:solidFill>
                  <a:srgbClr val="2455D6"/>
                </a:solidFill>
              </a:defRPr>
            </a:lvl7pPr>
            <a:lvl8pPr>
              <a:defRPr sz="1875" b="1">
                <a:solidFill>
                  <a:srgbClr val="2455D6"/>
                </a:solidFill>
              </a:defRPr>
            </a:lvl8pPr>
            <a:lvl9pPr>
              <a:defRPr sz="1875" b="1">
                <a:solidFill>
                  <a:srgbClr val="2455D6"/>
                </a:solidFill>
              </a:defRPr>
            </a:lvl9pPr>
          </a:lstStyle>
          <a:p>
            <a:pPr>
              <a:defRPr sz="1875" b="1">
                <a:solidFill>
                  <a:srgbClr val="2455D6"/>
                </a:solidFill>
              </a:defRPr>
            </a:pPr>
            <a:r>
              <a:rPr sz="1875" b="1">
                <a:solidFill>
                  <a:srgbClr val="2455D6"/>
                </a:solidFill>
              </a:rPr>
              <a:t>03</a:t>
            </a:r>
            <a:endParaRPr sz="1875" b="1">
              <a:solidFill>
                <a:srgbClr val="2455D6"/>
              </a:solidFill>
            </a:endParaRPr>
          </a:p>
        </p:txBody>
      </p:sp>
      <p:sp>
        <p:nvSpPr>
          <p:cNvPr id="118" name="income-2"/>
          <p:cNvSpPr>
            <a:spLocks noGrp="1"/>
          </p:cNvSpPr>
          <p:nvPr/>
        </p:nvSpPr>
        <p:spPr>
          <a:xfrm>
            <a:off x="6267450" y="2450592"/>
            <a:ext cx="245745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325" b="1">
                <a:solidFill>
                  <a:srgbClr val="20252B"/>
                </a:solidFill>
              </a:defRPr>
            </a:defPPr>
            <a:lvl1pPr>
              <a:defRPr sz="2325" b="1">
                <a:solidFill>
                  <a:srgbClr val="20252B"/>
                </a:solidFill>
              </a:defRPr>
            </a:lvl1pPr>
            <a:lvl2pPr>
              <a:defRPr sz="2325" b="1">
                <a:solidFill>
                  <a:srgbClr val="20252B"/>
                </a:solidFill>
              </a:defRPr>
            </a:lvl2pPr>
            <a:lvl3pPr>
              <a:defRPr sz="2325" b="1">
                <a:solidFill>
                  <a:srgbClr val="20252B"/>
                </a:solidFill>
              </a:defRPr>
            </a:lvl3pPr>
            <a:lvl4pPr>
              <a:defRPr sz="2325" b="1">
                <a:solidFill>
                  <a:srgbClr val="20252B"/>
                </a:solidFill>
              </a:defRPr>
            </a:lvl4pPr>
            <a:lvl5pPr>
              <a:defRPr sz="2325" b="1">
                <a:solidFill>
                  <a:srgbClr val="20252B"/>
                </a:solidFill>
              </a:defRPr>
            </a:lvl5pPr>
            <a:lvl6pPr>
              <a:defRPr sz="2325" b="1">
                <a:solidFill>
                  <a:srgbClr val="20252B"/>
                </a:solidFill>
              </a:defRPr>
            </a:lvl6pPr>
            <a:lvl7pPr>
              <a:defRPr sz="2325" b="1">
                <a:solidFill>
                  <a:srgbClr val="20252B"/>
                </a:solidFill>
              </a:defRPr>
            </a:lvl7pPr>
            <a:lvl8pPr>
              <a:defRPr sz="2325" b="1">
                <a:solidFill>
                  <a:srgbClr val="20252B"/>
                </a:solidFill>
              </a:defRPr>
            </a:lvl8pPr>
            <a:lvl9pPr>
              <a:defRPr sz="2325" b="1">
                <a:solidFill>
                  <a:srgbClr val="20252B"/>
                </a:solidFill>
              </a:defRPr>
            </a:lvl9pPr>
          </a:lstStyle>
          <a:p>
            <a:pPr>
              <a:defRPr sz="2325" b="1">
                <a:solidFill>
                  <a:srgbClr val="20252B"/>
                </a:solidFill>
              </a:defRPr>
            </a:pPr>
            <a:r>
              <a:rPr sz="2325" b="1">
                <a:solidFill>
                  <a:srgbClr val="20252B"/>
                </a:solidFill>
              </a:rPr>
              <a:t>节目周边</a:t>
            </a:r>
            <a:endParaRPr sz="2325" b="1">
              <a:solidFill>
                <a:srgbClr val="20252B"/>
              </a:solidFill>
            </a:endParaRPr>
          </a:p>
        </p:txBody>
      </p:sp>
      <p:sp>
        <p:nvSpPr>
          <p:cNvPr id="120" name="method-2"/>
          <p:cNvSpPr>
            <a:spLocks noGrp="1"/>
          </p:cNvSpPr>
          <p:nvPr/>
        </p:nvSpPr>
        <p:spPr>
          <a:xfrm>
            <a:off x="6267450" y="2926080"/>
            <a:ext cx="24574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50" b="1">
                <a:solidFill>
                  <a:srgbClr val="2455D6"/>
                </a:solidFill>
              </a:defRPr>
            </a:defPPr>
            <a:lvl1pPr>
              <a:defRPr sz="1650" b="1">
                <a:solidFill>
                  <a:srgbClr val="2455D6"/>
                </a:solidFill>
              </a:defRPr>
            </a:lvl1pPr>
            <a:lvl2pPr>
              <a:defRPr sz="1650" b="1">
                <a:solidFill>
                  <a:srgbClr val="2455D6"/>
                </a:solidFill>
              </a:defRPr>
            </a:lvl2pPr>
            <a:lvl3pPr>
              <a:defRPr sz="1650" b="1">
                <a:solidFill>
                  <a:srgbClr val="2455D6"/>
                </a:solidFill>
              </a:defRPr>
            </a:lvl3pPr>
            <a:lvl4pPr>
              <a:defRPr sz="1650" b="1">
                <a:solidFill>
                  <a:srgbClr val="2455D6"/>
                </a:solidFill>
              </a:defRPr>
            </a:lvl4pPr>
            <a:lvl5pPr>
              <a:defRPr sz="1650" b="1">
                <a:solidFill>
                  <a:srgbClr val="2455D6"/>
                </a:solidFill>
              </a:defRPr>
            </a:lvl5pPr>
            <a:lvl6pPr>
              <a:defRPr sz="1650" b="1">
                <a:solidFill>
                  <a:srgbClr val="2455D6"/>
                </a:solidFill>
              </a:defRPr>
            </a:lvl6pPr>
            <a:lvl7pPr>
              <a:defRPr sz="1650" b="1">
                <a:solidFill>
                  <a:srgbClr val="2455D6"/>
                </a:solidFill>
              </a:defRPr>
            </a:lvl7pPr>
            <a:lvl8pPr>
              <a:defRPr sz="1650" b="1">
                <a:solidFill>
                  <a:srgbClr val="2455D6"/>
                </a:solidFill>
              </a:defRPr>
            </a:lvl8pPr>
            <a:lvl9pPr>
              <a:defRPr sz="1650" b="1">
                <a:solidFill>
                  <a:srgbClr val="2455D6"/>
                </a:solidFill>
              </a:defRPr>
            </a:lvl9pPr>
          </a:lstStyle>
          <a:p>
            <a:pPr>
              <a:defRPr sz="1650" b="1">
                <a:solidFill>
                  <a:srgbClr val="2455D6"/>
                </a:solidFill>
              </a:defRPr>
            </a:pPr>
            <a:r>
              <a:rPr sz="1650" b="1">
                <a:solidFill>
                  <a:srgbClr val="2455D6"/>
                </a:solidFill>
              </a:rPr>
              <a:t>小批量预售</a:t>
            </a:r>
            <a:endParaRPr sz="1650" b="1">
              <a:solidFill>
                <a:srgbClr val="2455D6"/>
              </a:solidFill>
            </a:endParaRPr>
          </a:p>
        </p:txBody>
      </p:sp>
      <p:sp>
        <p:nvSpPr>
          <p:cNvPr id="121" name="value-2"/>
          <p:cNvSpPr>
            <a:spLocks noGrp="1"/>
          </p:cNvSpPr>
          <p:nvPr/>
        </p:nvSpPr>
        <p:spPr>
          <a:xfrm>
            <a:off x="6267450" y="3310128"/>
            <a:ext cx="2457450" cy="640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50" b="0">
                <a:solidFill>
                  <a:srgbClr val="20252B"/>
                </a:solidFill>
              </a:defRPr>
            </a:defPPr>
            <a:lvl1pPr>
              <a:defRPr sz="1650" b="0">
                <a:solidFill>
                  <a:srgbClr val="20252B"/>
                </a:solidFill>
              </a:defRPr>
            </a:lvl1pPr>
            <a:lvl2pPr>
              <a:defRPr sz="1650" b="0">
                <a:solidFill>
                  <a:srgbClr val="20252B"/>
                </a:solidFill>
              </a:defRPr>
            </a:lvl2pPr>
            <a:lvl3pPr>
              <a:defRPr sz="1650" b="0">
                <a:solidFill>
                  <a:srgbClr val="20252B"/>
                </a:solidFill>
              </a:defRPr>
            </a:lvl3pPr>
            <a:lvl4pPr>
              <a:defRPr sz="1650" b="0">
                <a:solidFill>
                  <a:srgbClr val="20252B"/>
                </a:solidFill>
              </a:defRPr>
            </a:lvl4pPr>
            <a:lvl5pPr>
              <a:defRPr sz="1650" b="0">
                <a:solidFill>
                  <a:srgbClr val="20252B"/>
                </a:solidFill>
              </a:defRPr>
            </a:lvl5pPr>
            <a:lvl6pPr>
              <a:defRPr sz="1650" b="0">
                <a:solidFill>
                  <a:srgbClr val="20252B"/>
                </a:solidFill>
              </a:defRPr>
            </a:lvl6pPr>
            <a:lvl7pPr>
              <a:defRPr sz="1650" b="0">
                <a:solidFill>
                  <a:srgbClr val="20252B"/>
                </a:solidFill>
              </a:defRPr>
            </a:lvl7pPr>
            <a:lvl8pPr>
              <a:defRPr sz="1650" b="0">
                <a:solidFill>
                  <a:srgbClr val="20252B"/>
                </a:solidFill>
              </a:defRPr>
            </a:lvl8pPr>
            <a:lvl9pPr>
              <a:defRPr sz="1650" b="0">
                <a:solidFill>
                  <a:srgbClr val="20252B"/>
                </a:solidFill>
              </a:defRPr>
            </a:lvl9pPr>
          </a:lstStyle>
          <a:p>
            <a:pPr>
              <a:defRPr sz="1650" b="0">
                <a:solidFill>
                  <a:srgbClr val="20252B"/>
                </a:solidFill>
              </a:defRPr>
            </a:pPr>
            <a:r>
              <a:rPr sz="1650" b="0">
                <a:solidFill>
                  <a:srgbClr val="20252B"/>
                </a:solidFill>
              </a:rPr>
              <a:t>立牌、徽章与</a:t>
            </a:r>
            <a:endParaRPr sz="1650" b="0">
              <a:solidFill>
                <a:srgbClr val="20252B"/>
              </a:solidFill>
            </a:endParaRPr>
          </a:p>
          <a:p>
            <a:pPr>
              <a:defRPr sz="1650" b="0">
                <a:solidFill>
                  <a:srgbClr val="20252B"/>
                </a:solidFill>
              </a:defRPr>
            </a:pPr>
            <a:r>
              <a:rPr sz="1650" b="0">
                <a:solidFill>
                  <a:srgbClr val="20252B"/>
                </a:solidFill>
              </a:rPr>
              <a:t>名场面纪念商品</a:t>
            </a:r>
            <a:endParaRPr sz="1650" b="0">
              <a:solidFill>
                <a:srgbClr val="20252B"/>
              </a:solidFill>
            </a:endParaRPr>
          </a:p>
        </p:txBody>
      </p:sp>
      <p:sp>
        <p:nvSpPr>
          <p:cNvPr id="122" name="number-3"/>
          <p:cNvSpPr>
            <a:spLocks noGrp="1"/>
          </p:cNvSpPr>
          <p:nvPr/>
        </p:nvSpPr>
        <p:spPr>
          <a:xfrm>
            <a:off x="9124950" y="2103120"/>
            <a:ext cx="245745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1">
                <a:solidFill>
                  <a:srgbClr val="2455D6"/>
                </a:solidFill>
              </a:defRPr>
            </a:defPPr>
            <a:lvl1pPr>
              <a:defRPr sz="1875" b="1">
                <a:solidFill>
                  <a:srgbClr val="2455D6"/>
                </a:solidFill>
              </a:defRPr>
            </a:lvl1pPr>
            <a:lvl2pPr>
              <a:defRPr sz="1875" b="1">
                <a:solidFill>
                  <a:srgbClr val="2455D6"/>
                </a:solidFill>
              </a:defRPr>
            </a:lvl2pPr>
            <a:lvl3pPr>
              <a:defRPr sz="1875" b="1">
                <a:solidFill>
                  <a:srgbClr val="2455D6"/>
                </a:solidFill>
              </a:defRPr>
            </a:lvl3pPr>
            <a:lvl4pPr>
              <a:defRPr sz="1875" b="1">
                <a:solidFill>
                  <a:srgbClr val="2455D6"/>
                </a:solidFill>
              </a:defRPr>
            </a:lvl4pPr>
            <a:lvl5pPr>
              <a:defRPr sz="1875" b="1">
                <a:solidFill>
                  <a:srgbClr val="2455D6"/>
                </a:solidFill>
              </a:defRPr>
            </a:lvl5pPr>
            <a:lvl6pPr>
              <a:defRPr sz="1875" b="1">
                <a:solidFill>
                  <a:srgbClr val="2455D6"/>
                </a:solidFill>
              </a:defRPr>
            </a:lvl6pPr>
            <a:lvl7pPr>
              <a:defRPr sz="1875" b="1">
                <a:solidFill>
                  <a:srgbClr val="2455D6"/>
                </a:solidFill>
              </a:defRPr>
            </a:lvl7pPr>
            <a:lvl8pPr>
              <a:defRPr sz="1875" b="1">
                <a:solidFill>
                  <a:srgbClr val="2455D6"/>
                </a:solidFill>
              </a:defRPr>
            </a:lvl8pPr>
            <a:lvl9pPr>
              <a:defRPr sz="1875" b="1">
                <a:solidFill>
                  <a:srgbClr val="2455D6"/>
                </a:solidFill>
              </a:defRPr>
            </a:lvl9pPr>
          </a:lstStyle>
          <a:p>
            <a:pPr>
              <a:defRPr sz="1875" b="1">
                <a:solidFill>
                  <a:srgbClr val="2455D6"/>
                </a:solidFill>
              </a:defRPr>
            </a:pPr>
            <a:r>
              <a:rPr sz="1875" b="1">
                <a:solidFill>
                  <a:srgbClr val="2455D6"/>
                </a:solidFill>
              </a:rPr>
              <a:t>04</a:t>
            </a:r>
            <a:endParaRPr sz="1875" b="1">
              <a:solidFill>
                <a:srgbClr val="2455D6"/>
              </a:solidFill>
            </a:endParaRPr>
          </a:p>
        </p:txBody>
      </p:sp>
      <p:sp>
        <p:nvSpPr>
          <p:cNvPr id="123" name="income-3"/>
          <p:cNvSpPr>
            <a:spLocks noGrp="1"/>
          </p:cNvSpPr>
          <p:nvPr/>
        </p:nvSpPr>
        <p:spPr>
          <a:xfrm>
            <a:off x="9124950" y="2450592"/>
            <a:ext cx="245745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325" b="1">
                <a:solidFill>
                  <a:srgbClr val="20252B"/>
                </a:solidFill>
              </a:defRPr>
            </a:defPPr>
            <a:lvl1pPr>
              <a:defRPr sz="2325" b="1">
                <a:solidFill>
                  <a:srgbClr val="20252B"/>
                </a:solidFill>
              </a:defRPr>
            </a:lvl1pPr>
            <a:lvl2pPr>
              <a:defRPr sz="2325" b="1">
                <a:solidFill>
                  <a:srgbClr val="20252B"/>
                </a:solidFill>
              </a:defRPr>
            </a:lvl2pPr>
            <a:lvl3pPr>
              <a:defRPr sz="2325" b="1">
                <a:solidFill>
                  <a:srgbClr val="20252B"/>
                </a:solidFill>
              </a:defRPr>
            </a:lvl3pPr>
            <a:lvl4pPr>
              <a:defRPr sz="2325" b="1">
                <a:solidFill>
                  <a:srgbClr val="20252B"/>
                </a:solidFill>
              </a:defRPr>
            </a:lvl4pPr>
            <a:lvl5pPr>
              <a:defRPr sz="2325" b="1">
                <a:solidFill>
                  <a:srgbClr val="20252B"/>
                </a:solidFill>
              </a:defRPr>
            </a:lvl5pPr>
            <a:lvl6pPr>
              <a:defRPr sz="2325" b="1">
                <a:solidFill>
                  <a:srgbClr val="20252B"/>
                </a:solidFill>
              </a:defRPr>
            </a:lvl6pPr>
            <a:lvl7pPr>
              <a:defRPr sz="2325" b="1">
                <a:solidFill>
                  <a:srgbClr val="20252B"/>
                </a:solidFill>
              </a:defRPr>
            </a:lvl7pPr>
            <a:lvl8pPr>
              <a:defRPr sz="2325" b="1">
                <a:solidFill>
                  <a:srgbClr val="20252B"/>
                </a:solidFill>
              </a:defRPr>
            </a:lvl8pPr>
            <a:lvl9pPr>
              <a:defRPr sz="2325" b="1">
                <a:solidFill>
                  <a:srgbClr val="20252B"/>
                </a:solidFill>
              </a:defRPr>
            </a:lvl9pPr>
          </a:lstStyle>
          <a:p>
            <a:pPr>
              <a:defRPr sz="2325" b="1">
                <a:solidFill>
                  <a:srgbClr val="20252B"/>
                </a:solidFill>
              </a:defRPr>
            </a:pPr>
            <a:r>
              <a:rPr sz="2325" b="1">
                <a:solidFill>
                  <a:srgbClr val="20252B"/>
                </a:solidFill>
              </a:rPr>
              <a:t>商务合作</a:t>
            </a:r>
            <a:endParaRPr sz="2325" b="1">
              <a:solidFill>
                <a:srgbClr val="20252B"/>
              </a:solidFill>
            </a:endParaRPr>
          </a:p>
        </p:txBody>
      </p:sp>
      <p:sp>
        <p:nvSpPr>
          <p:cNvPr id="125" name="method-3"/>
          <p:cNvSpPr>
            <a:spLocks noGrp="1"/>
          </p:cNvSpPr>
          <p:nvPr/>
        </p:nvSpPr>
        <p:spPr>
          <a:xfrm>
            <a:off x="9124950" y="2926080"/>
            <a:ext cx="24574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50" b="1">
                <a:solidFill>
                  <a:srgbClr val="2455D6"/>
                </a:solidFill>
              </a:defRPr>
            </a:defPPr>
            <a:lvl1pPr>
              <a:defRPr sz="1650" b="1">
                <a:solidFill>
                  <a:srgbClr val="2455D6"/>
                </a:solidFill>
              </a:defRPr>
            </a:lvl1pPr>
            <a:lvl2pPr>
              <a:defRPr sz="1650" b="1">
                <a:solidFill>
                  <a:srgbClr val="2455D6"/>
                </a:solidFill>
              </a:defRPr>
            </a:lvl2pPr>
            <a:lvl3pPr>
              <a:defRPr sz="1650" b="1">
                <a:solidFill>
                  <a:srgbClr val="2455D6"/>
                </a:solidFill>
              </a:defRPr>
            </a:lvl3pPr>
            <a:lvl4pPr>
              <a:defRPr sz="1650" b="1">
                <a:solidFill>
                  <a:srgbClr val="2455D6"/>
                </a:solidFill>
              </a:defRPr>
            </a:lvl4pPr>
            <a:lvl5pPr>
              <a:defRPr sz="1650" b="1">
                <a:solidFill>
                  <a:srgbClr val="2455D6"/>
                </a:solidFill>
              </a:defRPr>
            </a:lvl5pPr>
            <a:lvl6pPr>
              <a:defRPr sz="1650" b="1">
                <a:solidFill>
                  <a:srgbClr val="2455D6"/>
                </a:solidFill>
              </a:defRPr>
            </a:lvl6pPr>
            <a:lvl7pPr>
              <a:defRPr sz="1650" b="1">
                <a:solidFill>
                  <a:srgbClr val="2455D6"/>
                </a:solidFill>
              </a:defRPr>
            </a:lvl7pPr>
            <a:lvl8pPr>
              <a:defRPr sz="1650" b="1">
                <a:solidFill>
                  <a:srgbClr val="2455D6"/>
                </a:solidFill>
              </a:defRPr>
            </a:lvl8pPr>
            <a:lvl9pPr>
              <a:defRPr sz="1650" b="1">
                <a:solidFill>
                  <a:srgbClr val="2455D6"/>
                </a:solidFill>
              </a:defRPr>
            </a:lvl9pPr>
          </a:lstStyle>
          <a:p>
            <a:pPr>
              <a:defRPr sz="1650" b="1">
                <a:solidFill>
                  <a:srgbClr val="2455D6"/>
                </a:solidFill>
              </a:defRPr>
            </a:pPr>
            <a:r>
              <a:rPr sz="1650" b="1">
                <a:solidFill>
                  <a:srgbClr val="2455D6"/>
                </a:solidFill>
              </a:rPr>
              <a:t>按项目合作</a:t>
            </a:r>
            <a:endParaRPr sz="1650" b="1">
              <a:solidFill>
                <a:srgbClr val="2455D6"/>
              </a:solidFill>
            </a:endParaRPr>
          </a:p>
        </p:txBody>
      </p:sp>
      <p:sp>
        <p:nvSpPr>
          <p:cNvPr id="126" name="value-3"/>
          <p:cNvSpPr>
            <a:spLocks noGrp="1"/>
          </p:cNvSpPr>
          <p:nvPr/>
        </p:nvSpPr>
        <p:spPr>
          <a:xfrm>
            <a:off x="9124950" y="3310128"/>
            <a:ext cx="2457450" cy="640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50" b="0">
                <a:solidFill>
                  <a:srgbClr val="20252B"/>
                </a:solidFill>
              </a:defRPr>
            </a:defPPr>
            <a:lvl1pPr>
              <a:defRPr sz="1650" b="0">
                <a:solidFill>
                  <a:srgbClr val="20252B"/>
                </a:solidFill>
              </a:defRPr>
            </a:lvl1pPr>
            <a:lvl2pPr>
              <a:defRPr sz="1650" b="0">
                <a:solidFill>
                  <a:srgbClr val="20252B"/>
                </a:solidFill>
              </a:defRPr>
            </a:lvl2pPr>
            <a:lvl3pPr>
              <a:defRPr sz="1650" b="0">
                <a:solidFill>
                  <a:srgbClr val="20252B"/>
                </a:solidFill>
              </a:defRPr>
            </a:lvl3pPr>
            <a:lvl4pPr>
              <a:defRPr sz="1650" b="0">
                <a:solidFill>
                  <a:srgbClr val="20252B"/>
                </a:solidFill>
              </a:defRPr>
            </a:lvl4pPr>
            <a:lvl5pPr>
              <a:defRPr sz="1650" b="0">
                <a:solidFill>
                  <a:srgbClr val="20252B"/>
                </a:solidFill>
              </a:defRPr>
            </a:lvl5pPr>
            <a:lvl6pPr>
              <a:defRPr sz="1650" b="0">
                <a:solidFill>
                  <a:srgbClr val="20252B"/>
                </a:solidFill>
              </a:defRPr>
            </a:lvl6pPr>
            <a:lvl7pPr>
              <a:defRPr sz="1650" b="0">
                <a:solidFill>
                  <a:srgbClr val="20252B"/>
                </a:solidFill>
              </a:defRPr>
            </a:lvl7pPr>
            <a:lvl8pPr>
              <a:defRPr sz="1650" b="0">
                <a:solidFill>
                  <a:srgbClr val="20252B"/>
                </a:solidFill>
              </a:defRPr>
            </a:lvl8pPr>
            <a:lvl9pPr>
              <a:defRPr sz="1650" b="0">
                <a:solidFill>
                  <a:srgbClr val="20252B"/>
                </a:solidFill>
              </a:defRPr>
            </a:lvl9pPr>
          </a:lstStyle>
          <a:p>
            <a:pPr>
              <a:defRPr sz="1650" b="0">
                <a:solidFill>
                  <a:srgbClr val="20252B"/>
                </a:solidFill>
              </a:defRPr>
            </a:pPr>
            <a:r>
              <a:rPr sz="1650" b="0">
                <a:solidFill>
                  <a:srgbClr val="20252B"/>
                </a:solidFill>
              </a:rPr>
              <a:t>游戏试玩、主题专场</a:t>
            </a:r>
            <a:endParaRPr sz="1650" b="0">
              <a:solidFill>
                <a:srgbClr val="20252B"/>
              </a:solidFill>
            </a:endParaRPr>
          </a:p>
          <a:p>
            <a:pPr>
              <a:defRPr sz="1650" b="0">
                <a:solidFill>
                  <a:srgbClr val="20252B"/>
                </a:solidFill>
              </a:defRPr>
            </a:pPr>
            <a:r>
              <a:rPr sz="1650" b="0">
                <a:solidFill>
                  <a:srgbClr val="20252B"/>
                </a:solidFill>
              </a:rPr>
              <a:t>与品牌赞助</a:t>
            </a:r>
            <a:endParaRPr sz="1650" b="0">
              <a:solidFill>
                <a:srgbClr val="20252B"/>
              </a:solidFill>
            </a:endParaRPr>
          </a:p>
        </p:txBody>
      </p:sp>
      <p:sp>
        <p:nvSpPr>
          <p:cNvPr id="127" name="priority-line"/>
          <p:cNvSpPr>
            <a:spLocks noGrp="1"/>
          </p:cNvSpPr>
          <p:nvPr/>
        </p:nvSpPr>
        <p:spPr>
          <a:xfrm>
            <a:off x="552450" y="5029200"/>
            <a:ext cx="10934700" cy="0"/>
          </a:xfrm>
          <a:prstGeom prst="line">
            <a:avLst/>
          </a:prstGeom>
          <a:noFill/>
          <a:ln w="9525">
            <a:solidFill>
              <a:srgbClr val="DCE2EC"/>
            </a:solidFill>
          </a:ln>
        </p:spPr>
      </p:sp>
      <p:sp>
        <p:nvSpPr>
          <p:cNvPr id="132" name="footer"/>
          <p:cNvSpPr>
            <a:spLocks noGrp="1"/>
          </p:cNvSpPr>
          <p:nvPr/>
        </p:nvSpPr>
        <p:spPr>
          <a:xfrm>
            <a:off x="552450" y="6448425"/>
            <a:ext cx="9906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/>
          <a:lstStyle>
            <a:defPPr>
              <a:defRPr sz="900" b="0">
                <a:solidFill>
                  <a:srgbClr val="7F8899"/>
                </a:solidFill>
              </a:defRPr>
            </a:defPPr>
            <a:lvl1pPr>
              <a:defRPr sz="900" b="0">
                <a:solidFill>
                  <a:srgbClr val="7F8899"/>
                </a:solidFill>
              </a:defRPr>
            </a:lvl1pPr>
            <a:lvl2pPr>
              <a:defRPr sz="900" b="0">
                <a:solidFill>
                  <a:srgbClr val="7F8899"/>
                </a:solidFill>
              </a:defRPr>
            </a:lvl2pPr>
            <a:lvl3pPr>
              <a:defRPr sz="900" b="0">
                <a:solidFill>
                  <a:srgbClr val="7F8899"/>
                </a:solidFill>
              </a:defRPr>
            </a:lvl3pPr>
            <a:lvl4pPr>
              <a:defRPr sz="900" b="0">
                <a:solidFill>
                  <a:srgbClr val="7F8899"/>
                </a:solidFill>
              </a:defRPr>
            </a:lvl4pPr>
            <a:lvl5pPr>
              <a:defRPr sz="900" b="0">
                <a:solidFill>
                  <a:srgbClr val="7F8899"/>
                </a:solidFill>
              </a:defRPr>
            </a:lvl5pPr>
            <a:lvl6pPr>
              <a:defRPr sz="900" b="0">
                <a:solidFill>
                  <a:srgbClr val="7F8899"/>
                </a:solidFill>
              </a:defRPr>
            </a:lvl6pPr>
            <a:lvl7pPr>
              <a:defRPr sz="900" b="0">
                <a:solidFill>
                  <a:srgbClr val="7F8899"/>
                </a:solidFill>
              </a:defRPr>
            </a:lvl7pPr>
            <a:lvl8pPr>
              <a:defRPr sz="900" b="0">
                <a:solidFill>
                  <a:srgbClr val="7F8899"/>
                </a:solidFill>
              </a:defRPr>
            </a:lvl8pPr>
            <a:lvl9pPr>
              <a:defRPr sz="900" b="0">
                <a:solidFill>
                  <a:srgbClr val="7F8899"/>
                </a:solidFill>
              </a:defRPr>
            </a:lvl9pPr>
          </a:lstStyle>
          <a:p>
            <a:pPr algn="l">
              <a:defRPr sz="900" b="0">
                <a:solidFill>
                  <a:srgbClr val="7F8899"/>
                </a:solidFill>
              </a:defRPr>
            </a:pPr>
            <a:r>
              <a:rPr sz="1050" b="0">
                <a:solidFill>
                  <a:srgbClr val="8A909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四类收入为规划，尚未形成经营实绩或商业闭环；历史财务测算（预算v2，2026-10-24）仅留备注备答</a:t>
            </a:r>
            <a:endParaRPr sz="1050" b="0">
              <a:solidFill>
                <a:srgbClr val="8A909C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33" name="TextBox 132"/>
          <p:cNvSpPr txBox="1"/>
          <p:nvPr/>
        </p:nvSpPr>
        <p:spPr>
          <a:xfrm>
            <a:off x="552450" y="4041648"/>
            <a:ext cx="245973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5B62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付费对象  </a:t>
            </a:r>
            <a:r>
              <a:rPr sz="1350" b="0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直播观众</a:t>
            </a:r>
            <a:endParaRPr sz="1350" b="0">
              <a:solidFill>
                <a:srgbClr val="1F2329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34" name="TextBox 133"/>
          <p:cNvSpPr txBox="1"/>
          <p:nvPr/>
        </p:nvSpPr>
        <p:spPr>
          <a:xfrm>
            <a:off x="552450" y="4370832"/>
            <a:ext cx="2459736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5B62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启动条件  </a:t>
            </a:r>
            <a:r>
              <a:rPr sz="1350" b="0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主阵地公开试运营起</a:t>
            </a:r>
            <a:endParaRPr sz="1350" b="0">
              <a:solidFill>
                <a:srgbClr val="1F2329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35" name="TextBox 134"/>
          <p:cNvSpPr txBox="1"/>
          <p:nvPr/>
        </p:nvSpPr>
        <p:spPr>
          <a:xfrm>
            <a:off x="3409950" y="4041648"/>
            <a:ext cx="245973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5B62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付费对象  </a:t>
            </a:r>
            <a:r>
              <a:rPr sz="1350" b="0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核心粉丝</a:t>
            </a:r>
            <a:endParaRPr sz="1350" b="0">
              <a:solidFill>
                <a:srgbClr val="1F2329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36" name="TextBox 135"/>
          <p:cNvSpPr txBox="1"/>
          <p:nvPr/>
        </p:nvSpPr>
        <p:spPr>
          <a:xfrm>
            <a:off x="3409950" y="4370832"/>
            <a:ext cx="2459736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5B62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启动条件  </a:t>
            </a:r>
            <a:r>
              <a:rPr sz="1350" b="0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出现稳定回访观众后开通测试</a:t>
            </a:r>
            <a:endParaRPr sz="1350" b="0">
              <a:solidFill>
                <a:srgbClr val="1F2329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37" name="TextBox 136"/>
          <p:cNvSpPr txBox="1"/>
          <p:nvPr/>
        </p:nvSpPr>
        <p:spPr>
          <a:xfrm>
            <a:off x="6267450" y="4041648"/>
            <a:ext cx="245973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5B62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付费对象  </a:t>
            </a:r>
            <a:r>
              <a:rPr sz="1350" b="0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喜欢角色的观众</a:t>
            </a:r>
            <a:endParaRPr sz="1350" b="0">
              <a:solidFill>
                <a:srgbClr val="1F2329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38" name="TextBox 137"/>
          <p:cNvSpPr txBox="1"/>
          <p:nvPr/>
        </p:nvSpPr>
        <p:spPr>
          <a:xfrm>
            <a:off x="6267450" y="4370832"/>
            <a:ext cx="2459736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5B62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启动条件  </a:t>
            </a:r>
            <a:r>
              <a:rPr sz="1350" b="0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有明确需求、可交付后小批量预售</a:t>
            </a:r>
            <a:endParaRPr sz="1350" b="0">
              <a:solidFill>
                <a:srgbClr val="1F2329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39" name="TextBox 138"/>
          <p:cNvSpPr txBox="1"/>
          <p:nvPr/>
        </p:nvSpPr>
        <p:spPr>
          <a:xfrm>
            <a:off x="9124950" y="4041648"/>
            <a:ext cx="245973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5B62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付费对象  </a:t>
            </a:r>
            <a:r>
              <a:rPr sz="1350" b="0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品牌与游戏厂商</a:t>
            </a:r>
            <a:endParaRPr sz="1350" b="0">
              <a:solidFill>
                <a:srgbClr val="1F2329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40" name="TextBox 139"/>
          <p:cNvSpPr txBox="1"/>
          <p:nvPr/>
        </p:nvSpPr>
        <p:spPr>
          <a:xfrm>
            <a:off x="9124950" y="4370832"/>
            <a:ext cx="2459736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5B62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启动条件  </a:t>
            </a:r>
            <a:r>
              <a:rPr sz="1350" b="0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有受众画像与节目样例后测试</a:t>
            </a:r>
            <a:endParaRPr sz="1350" b="0">
              <a:solidFill>
                <a:srgbClr val="1F2329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41" name="TextBox 140"/>
          <p:cNvSpPr txBox="1"/>
          <p:nvPr/>
        </p:nvSpPr>
        <p:spPr>
          <a:xfrm>
            <a:off x="548640" y="5138928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2459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单场经营模型（每场节目，待实测）</a:t>
            </a:r>
            <a:endParaRPr sz="1500" b="1">
              <a:solidFill>
                <a:srgbClr val="2459D6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42" name="Rounded Rectangle 141"/>
          <p:cNvSpPr/>
          <p:nvPr/>
        </p:nvSpPr>
        <p:spPr>
          <a:xfrm>
            <a:off x="548640" y="5504688"/>
            <a:ext cx="2108606" cy="8046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8A909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3" name="TextBox 142"/>
          <p:cNvSpPr txBox="1"/>
          <p:nvPr/>
        </p:nvSpPr>
        <p:spPr>
          <a:xfrm>
            <a:off x="685800" y="5559552"/>
            <a:ext cx="1834286" cy="2076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净到账收入  </a:t>
            </a:r>
            <a:endParaRPr sz="1350" b="0">
              <a:solidFill>
                <a:srgbClr val="8A909C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44" name="TextBox 143"/>
          <p:cNvSpPr txBox="1"/>
          <p:nvPr/>
        </p:nvSpPr>
        <p:spPr>
          <a:xfrm>
            <a:off x="685800" y="5870448"/>
            <a:ext cx="1834286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5B62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打赏 + 会员，扣平台分成</a:t>
            </a:r>
            <a:endParaRPr sz="1150" b="0">
              <a:solidFill>
                <a:srgbClr val="5B62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45" name="Rounded Rectangle 144"/>
          <p:cNvSpPr/>
          <p:nvPr/>
        </p:nvSpPr>
        <p:spPr>
          <a:xfrm>
            <a:off x="2794406" y="5504688"/>
            <a:ext cx="2108606" cy="8046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8A909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6" name="TextBox 145"/>
          <p:cNvSpPr txBox="1"/>
          <p:nvPr/>
        </p:nvSpPr>
        <p:spPr>
          <a:xfrm>
            <a:off x="2931566" y="5559552"/>
            <a:ext cx="1834286" cy="2076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模型语音成本  </a:t>
            </a:r>
            <a:endParaRPr sz="1350" b="0">
              <a:solidFill>
                <a:srgbClr val="8A909C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47" name="TextBox 146"/>
          <p:cNvSpPr txBox="1"/>
          <p:nvPr/>
        </p:nvSpPr>
        <p:spPr>
          <a:xfrm>
            <a:off x="2931566" y="5870448"/>
            <a:ext cx="1834286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5B62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LLM / TTS / ASR 调用</a:t>
            </a:r>
            <a:endParaRPr sz="1150" b="0">
              <a:solidFill>
                <a:srgbClr val="5B62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48" name="Rounded Rectangle 147"/>
          <p:cNvSpPr/>
          <p:nvPr/>
        </p:nvSpPr>
        <p:spPr>
          <a:xfrm>
            <a:off x="5040172" y="5504688"/>
            <a:ext cx="2108606" cy="8046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8A909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9" name="TextBox 148"/>
          <p:cNvSpPr txBox="1"/>
          <p:nvPr/>
        </p:nvSpPr>
        <p:spPr>
          <a:xfrm>
            <a:off x="5177332" y="5559552"/>
            <a:ext cx="1834286" cy="2076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主持与剪辑工时  </a:t>
            </a:r>
            <a:endParaRPr sz="1350" b="0">
              <a:solidFill>
                <a:srgbClr val="8A909C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50" name="TextBox 149"/>
          <p:cNvSpPr txBox="1"/>
          <p:nvPr/>
        </p:nvSpPr>
        <p:spPr>
          <a:xfrm>
            <a:off x="5177332" y="5870448"/>
            <a:ext cx="1834286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5B62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按小时登记，不计现金</a:t>
            </a:r>
            <a:endParaRPr sz="1150" b="0">
              <a:solidFill>
                <a:srgbClr val="5B62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51" name="Rounded Rectangle 150"/>
          <p:cNvSpPr/>
          <p:nvPr/>
        </p:nvSpPr>
        <p:spPr>
          <a:xfrm>
            <a:off x="7285939" y="5504688"/>
            <a:ext cx="2108606" cy="8046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8A909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2" name="TextBox 151"/>
          <p:cNvSpPr txBox="1"/>
          <p:nvPr/>
        </p:nvSpPr>
        <p:spPr>
          <a:xfrm>
            <a:off x="7423099" y="5559552"/>
            <a:ext cx="1834286" cy="2076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其他直接成本  </a:t>
            </a:r>
            <a:endParaRPr sz="1350" b="0">
              <a:solidFill>
                <a:srgbClr val="8A909C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53" name="TextBox 152"/>
          <p:cNvSpPr txBox="1"/>
          <p:nvPr/>
        </p:nvSpPr>
        <p:spPr>
          <a:xfrm>
            <a:off x="7423099" y="5870448"/>
            <a:ext cx="1834286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5B62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推广、素材、杂费</a:t>
            </a:r>
            <a:endParaRPr sz="1150" b="0">
              <a:solidFill>
                <a:srgbClr val="5B62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54" name="Rounded Rectangle 153"/>
          <p:cNvSpPr/>
          <p:nvPr/>
        </p:nvSpPr>
        <p:spPr>
          <a:xfrm>
            <a:off x="9531705" y="5504688"/>
            <a:ext cx="2108606" cy="804672"/>
          </a:xfrm>
          <a:prstGeom prst="roundRect">
            <a:avLst>
              <a:gd name="adj" fmla="val 6000"/>
            </a:avLst>
          </a:prstGeom>
          <a:solidFill>
            <a:srgbClr val="EAF0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5" name="TextBox 154"/>
          <p:cNvSpPr txBox="1"/>
          <p:nvPr/>
        </p:nvSpPr>
        <p:spPr>
          <a:xfrm>
            <a:off x="9668865" y="5559552"/>
            <a:ext cx="183428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单场贡献  </a:t>
            </a:r>
            <a:endParaRPr sz="1350" b="0">
              <a:solidFill>
                <a:srgbClr val="8A909C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56" name="TextBox 155"/>
          <p:cNvSpPr txBox="1"/>
          <p:nvPr/>
        </p:nvSpPr>
        <p:spPr>
          <a:xfrm>
            <a:off x="9668865" y="5870448"/>
            <a:ext cx="1834286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5B62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收入 − 直接现金成本</a:t>
            </a:r>
            <a:endParaRPr sz="1150" b="0">
              <a:solidFill>
                <a:srgbClr val="5B62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2459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05 商业模式与获客 · 2/2</a:t>
            </a:r>
            <a:endParaRPr sz="1300" b="1">
              <a:solidFill>
                <a:srgbClr val="2459D6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1672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获客与回访：B站为主阵地，抖音做轻量测试</a:t>
            </a:r>
            <a:endParaRPr sz="3000" b="1">
              <a:solidFill>
                <a:srgbClr val="1F2329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5760720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77240" y="1572768"/>
            <a:ext cx="1097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B站</a:t>
            </a:r>
            <a:endParaRPr sz="1900" b="1">
              <a:solidFill>
                <a:srgbClr val="1F2329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77240" y="1965960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45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7240" y="1965960"/>
            <a:ext cx="109728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主阵地</a:t>
            </a:r>
            <a:endParaRPr sz="110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697480" y="1463040"/>
            <a:ext cx="342900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直播 + 连载，承接追更、弹幕与社群</a:t>
            </a:r>
            <a:endParaRPr sz="1500" b="0">
              <a:solidFill>
                <a:srgbClr val="1F2329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48640" y="2423160"/>
            <a:ext cx="5760720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77240" y="2532888"/>
            <a:ext cx="1097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抖音</a:t>
            </a:r>
            <a:endParaRPr sz="1900" b="1">
              <a:solidFill>
                <a:srgbClr val="1F2329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77240" y="2926080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245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77240" y="2926080"/>
            <a:ext cx="109728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2459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试验渠道</a:t>
            </a:r>
            <a:endParaRPr sz="1100" b="1">
              <a:solidFill>
                <a:srgbClr val="2459D6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697480" y="2423160"/>
            <a:ext cx="342900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切片分发 + 低频直播测试，按效果决定投入</a:t>
            </a:r>
            <a:endParaRPr sz="1500" b="0">
              <a:solidFill>
                <a:srgbClr val="1F2329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548640" y="3383280"/>
            <a:ext cx="5760720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77240" y="3493008"/>
            <a:ext cx="1097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切片</a:t>
            </a:r>
            <a:endParaRPr sz="1900" b="1">
              <a:solidFill>
                <a:srgbClr val="1F2329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77240" y="3886200"/>
            <a:ext cx="1600200" cy="256032"/>
          </a:xfrm>
          <a:prstGeom prst="roundRect">
            <a:avLst>
              <a:gd name="adj" fmla="val 50000"/>
            </a:avLst>
          </a:prstGeom>
          <a:solidFill>
            <a:srgbClr val="EAF0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77240" y="3886200"/>
            <a:ext cx="16002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2459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计划每周 4–5 条</a:t>
            </a:r>
            <a:endParaRPr sz="1100" b="1">
              <a:solidFill>
                <a:srgbClr val="2459D6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697480" y="3383280"/>
            <a:ext cx="342900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保留抛梗、回应与结局，导流到直播</a:t>
            </a:r>
            <a:endParaRPr sz="1500" b="0">
              <a:solidFill>
                <a:srgbClr val="1F2329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548640" y="4343400"/>
            <a:ext cx="5760720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77240" y="4453128"/>
            <a:ext cx="1097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社群</a:t>
            </a:r>
            <a:endParaRPr sz="1900" b="1">
              <a:solidFill>
                <a:srgbClr val="1F2329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777240" y="4846320"/>
            <a:ext cx="1600200" cy="256032"/>
          </a:xfrm>
          <a:prstGeom prst="roundRect">
            <a:avLst>
              <a:gd name="adj" fmla="val 50000"/>
            </a:avLst>
          </a:prstGeom>
          <a:solidFill>
            <a:srgbClr val="EAF0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77240" y="4846320"/>
            <a:ext cx="16002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2459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粉丝群 / 动态</a:t>
            </a:r>
            <a:endParaRPr sz="1100" b="1">
              <a:solidFill>
                <a:srgbClr val="2459D6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697480" y="4343400"/>
            <a:ext cx="342900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预告下一场，提醒回收约定</a:t>
            </a:r>
            <a:endParaRPr sz="1500" b="0">
              <a:solidFill>
                <a:srgbClr val="1F2329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720840" y="1463040"/>
            <a:ext cx="491947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2459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切片到回访的漏斗（计划指标，均待实测）</a:t>
            </a:r>
            <a:endParaRPr sz="1500" b="1">
              <a:solidFill>
                <a:srgbClr val="2459D6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6720840" y="1874519"/>
            <a:ext cx="4919472" cy="512064"/>
          </a:xfrm>
          <a:prstGeom prst="roundRect">
            <a:avLst>
              <a:gd name="adj" fmla="val 10000"/>
            </a:avLst>
          </a:prstGeom>
          <a:solidFill>
            <a:srgbClr val="EAF0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720840" y="1874519"/>
            <a:ext cx="4919472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切片曝光  </a:t>
            </a:r>
            <a:r>
              <a:rPr sz="1200" b="0">
                <a:solidFill>
                  <a:srgbClr val="8A909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待实测</a:t>
            </a:r>
            <a:endParaRPr sz="1200" b="0">
              <a:solidFill>
                <a:srgbClr val="8A909C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6972300" y="2478024"/>
            <a:ext cx="4416552" cy="512064"/>
          </a:xfrm>
          <a:prstGeom prst="roundRect">
            <a:avLst>
              <a:gd name="adj" fmla="val 10000"/>
            </a:avLst>
          </a:prstGeom>
          <a:solidFill>
            <a:srgbClr val="DCE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972300" y="2478024"/>
            <a:ext cx="4416552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有效观看  </a:t>
            </a:r>
            <a:r>
              <a:rPr sz="1200" b="0">
                <a:solidFill>
                  <a:srgbClr val="8A909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待实测</a:t>
            </a:r>
            <a:endParaRPr sz="1200" b="0">
              <a:solidFill>
                <a:srgbClr val="8A909C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7223759" y="3081528"/>
            <a:ext cx="3913632" cy="512064"/>
          </a:xfrm>
          <a:prstGeom prst="roundRect">
            <a:avLst>
              <a:gd name="adj" fmla="val 10000"/>
            </a:avLst>
          </a:prstGeom>
          <a:solidFill>
            <a:srgbClr val="EAF0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7223759" y="3081528"/>
            <a:ext cx="3913632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关注  </a:t>
            </a:r>
            <a:r>
              <a:rPr sz="1200" b="0">
                <a:solidFill>
                  <a:srgbClr val="8A909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待实测</a:t>
            </a:r>
            <a:endParaRPr sz="1200" b="0">
              <a:solidFill>
                <a:srgbClr val="8A909C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7475220" y="3685031"/>
            <a:ext cx="3410712" cy="512064"/>
          </a:xfrm>
          <a:prstGeom prst="roundRect">
            <a:avLst>
              <a:gd name="adj" fmla="val 10000"/>
            </a:avLst>
          </a:prstGeom>
          <a:solidFill>
            <a:srgbClr val="DCE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7475220" y="3685031"/>
            <a:ext cx="3410712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直播到访  </a:t>
            </a:r>
            <a:r>
              <a:rPr sz="1200" b="0">
                <a:solidFill>
                  <a:srgbClr val="8A909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待实测</a:t>
            </a:r>
            <a:endParaRPr sz="1200" b="0">
              <a:solidFill>
                <a:srgbClr val="8A909C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7726679" y="4288536"/>
            <a:ext cx="2907792" cy="512064"/>
          </a:xfrm>
          <a:prstGeom prst="roundRect">
            <a:avLst>
              <a:gd name="adj" fmla="val 10000"/>
            </a:avLst>
          </a:prstGeom>
          <a:solidFill>
            <a:srgbClr val="245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7726679" y="4288536"/>
            <a:ext cx="2907792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下一场回访  </a:t>
            </a:r>
            <a:r>
              <a:rPr sz="1200" b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待实测</a:t>
            </a:r>
            <a:endParaRPr sz="1200" b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548640" y="5440680"/>
            <a:ext cx="11091672" cy="73152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777240" y="544068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2459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已有结果  </a:t>
            </a:r>
            <a:r>
              <a:rPr sz="1400" b="0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尚无公开运营数据。</a:t>
            </a:r>
            <a:r>
              <a:rPr sz="1400" b="0">
                <a:solidFill>
                  <a:srgbClr val="5B62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以上渠道分工与每周 4–5 条切片为计划；指标定义：同期同口径统计单条曝光、有效播放、关注与可追踪的直播到访，不用总播放替代回访。</a:t>
            </a:r>
            <a:endParaRPr sz="1400" b="0">
              <a:solidFill>
                <a:srgbClr val="5B62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cxnSp>
        <p:nvCxnSpPr>
          <p:cNvPr id="37" name="Connector 36"/>
          <p:cNvCxnSpPr/>
          <p:nvPr/>
        </p:nvCxnSpPr>
        <p:spPr>
          <a:xfrm>
            <a:off x="548640" y="6382512"/>
            <a:ext cx="11091672" cy="0"/>
          </a:xfrm>
          <a:prstGeom prst="line">
            <a:avLst/>
          </a:prstGeom>
          <a:ln w="9525">
            <a:solidFill>
              <a:srgbClr val="D5D9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548640" y="6437376"/>
            <a:ext cx="98755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8A909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依据：商业计划书第 17–18 页（双平台直播方案）；1025 稿第 10 页渠道图；评审方案（2026-10-24）</a:t>
            </a:r>
            <a:endParaRPr sz="1100" b="0">
              <a:solidFill>
                <a:srgbClr val="8A909C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39" name="page-number"/>
          <p:cNvSpPr txBox="1"/>
          <p:nvPr/>
        </p:nvSpPr>
        <p:spPr>
          <a:xfrm>
            <a:off x="10543032" y="6437376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200" b="1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14</a:t>
            </a:r>
            <a:r>
              <a:rPr sz="1200" b="0">
                <a:solidFill>
                  <a:srgbClr val="8A909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 / 16</a:t>
            </a:r>
            <a:endParaRPr sz="1200" b="0">
              <a:solidFill>
                <a:srgbClr val="8A909C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sz="1300" b="1">
                <a:solidFill>
                  <a:srgbClr val="2459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06 市场战略与资金 · 1/2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3200" b="1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46,200 元支持六个月原型与试播验证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2595637"/>
            <a:ext cx="1234440" cy="777240"/>
          </a:xfrm>
          <a:prstGeom prst="roundRect">
            <a:avLst>
              <a:gd name="adj" fmla="val 9412"/>
            </a:avLst>
          </a:prstGeom>
          <a:solidFill>
            <a:srgbClr val="2459D6"/>
          </a:solidFill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548640" y="2595637"/>
            <a:ext cx="12344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人机节目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2148840" y="2092717"/>
            <a:ext cx="146304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22225">
            <a:solidFill>
              <a:srgbClr val="2459D6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2148840" y="2165869"/>
            <a:ext cx="1463040" cy="3474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459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B站直播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2148840" y="2531629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sz="1200" b="0">
                <a:solidFill>
                  <a:srgbClr val="5B62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主阵地 · 连载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 flipV="1">
            <a:off x="1801368" y="2495053"/>
            <a:ext cx="320040" cy="484632"/>
          </a:xfrm>
          <a:prstGeom prst="line">
            <a:avLst/>
          </a:prstGeom>
          <a:noFill/>
          <a:ln w="19050">
            <a:solidFill>
              <a:srgbClr val="2459D6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3639312" y="2495053"/>
            <a:ext cx="310896" cy="484632"/>
          </a:xfrm>
          <a:prstGeom prst="line">
            <a:avLst/>
          </a:prstGeom>
          <a:noFill/>
          <a:ln w="19050">
            <a:solidFill>
              <a:srgbClr val="8A909C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2148840" y="3007117"/>
            <a:ext cx="146304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22225">
            <a:solidFill>
              <a:srgbClr val="2459D6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 txBox="1"/>
          <p:nvPr/>
        </p:nvSpPr>
        <p:spPr>
          <a:xfrm>
            <a:off x="2148840" y="3080269"/>
            <a:ext cx="1463040" cy="3474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459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抖音直播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2148840" y="3446029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sz="1200" b="0">
                <a:solidFill>
                  <a:srgbClr val="5B62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试验 · 切片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1801368" y="2979685"/>
            <a:ext cx="320040" cy="429768"/>
          </a:xfrm>
          <a:prstGeom prst="line">
            <a:avLst/>
          </a:prstGeom>
          <a:noFill/>
          <a:ln w="19050">
            <a:solidFill>
              <a:srgbClr val="2459D6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6" name="Shape 13"/>
          <p:cNvSpPr/>
          <p:nvPr/>
        </p:nvSpPr>
        <p:spPr>
          <a:xfrm flipV="1">
            <a:off x="3639312" y="2979685"/>
            <a:ext cx="310896" cy="429768"/>
          </a:xfrm>
          <a:prstGeom prst="line">
            <a:avLst/>
          </a:prstGeom>
          <a:noFill/>
          <a:ln w="19050">
            <a:solidFill>
              <a:srgbClr val="8A909C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7" name="Shape 14"/>
          <p:cNvSpPr/>
          <p:nvPr/>
        </p:nvSpPr>
        <p:spPr>
          <a:xfrm>
            <a:off x="3977640" y="2458477"/>
            <a:ext cx="1143000" cy="1051560"/>
          </a:xfrm>
          <a:prstGeom prst="roundRect">
            <a:avLst>
              <a:gd name="adj" fmla="val 6957"/>
            </a:avLst>
          </a:prstGeom>
          <a:solidFill>
            <a:srgbClr val="F4F6F9"/>
          </a:solidFill>
        </p:spPr>
        <p:txBody>
          <a:bodyPr/>
          <a:p/>
        </p:txBody>
      </p:sp>
      <p:sp>
        <p:nvSpPr>
          <p:cNvPr id="18" name="Text 15"/>
          <p:cNvSpPr txBox="1"/>
          <p:nvPr/>
        </p:nvSpPr>
        <p:spPr>
          <a:xfrm>
            <a:off x="4069080" y="2458477"/>
            <a:ext cx="960120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切片与社群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5B62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每周 4–5 </a:t>
            </a:r>
            <a:r>
              <a:rPr lang="en-US" sz="1300" dirty="0" err="1">
                <a:solidFill>
                  <a:srgbClr val="5B62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条回流直播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 flipV="1">
            <a:off x="4549140" y="2138437"/>
            <a:ext cx="0" cy="320040"/>
          </a:xfrm>
          <a:prstGeom prst="line">
            <a:avLst/>
          </a:prstGeom>
          <a:noFill/>
          <a:ln w="19050">
            <a:solidFill>
              <a:srgbClr val="2459D6"/>
            </a:solidFill>
            <a:prstDash val="dash"/>
          </a:ln>
        </p:spPr>
        <p:txBody>
          <a:bodyPr/>
          <a:p/>
        </p:txBody>
      </p:sp>
      <p:sp>
        <p:nvSpPr>
          <p:cNvPr id="20" name="Shape 17"/>
          <p:cNvSpPr/>
          <p:nvPr/>
        </p:nvSpPr>
        <p:spPr>
          <a:xfrm flipH="1">
            <a:off x="3657600" y="2138437"/>
            <a:ext cx="891540" cy="137160"/>
          </a:xfrm>
          <a:prstGeom prst="line">
            <a:avLst/>
          </a:prstGeom>
          <a:noFill/>
          <a:ln w="19050">
            <a:solidFill>
              <a:srgbClr val="2459D6"/>
            </a:solidFill>
            <a:prstDash val="dash"/>
            <a:tailEnd type="triangle"/>
          </a:ln>
        </p:spPr>
        <p:txBody>
          <a:bodyPr/>
          <a:p/>
        </p:txBody>
      </p:sp>
      <p:sp>
        <p:nvSpPr>
          <p:cNvPr id="21" name="Shape 18"/>
          <p:cNvSpPr/>
          <p:nvPr/>
        </p:nvSpPr>
        <p:spPr>
          <a:xfrm>
            <a:off x="5532120" y="1654681"/>
            <a:ext cx="2918308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22225">
            <a:solidFill>
              <a:srgbClr val="2459D6"/>
            </a:solidFill>
            <a:prstDash val="solid"/>
          </a:ln>
        </p:spPr>
        <p:txBody>
          <a:bodyPr/>
          <a:p/>
        </p:txBody>
      </p:sp>
      <p:sp>
        <p:nvSpPr>
          <p:cNvPr id="22" name="Text 19"/>
          <p:cNvSpPr txBox="1"/>
          <p:nvPr/>
        </p:nvSpPr>
        <p:spPr>
          <a:xfrm>
            <a:off x="5733288" y="1791841"/>
            <a:ext cx="2552548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sz="1550" b="1">
                <a:solidFill>
                  <a:srgbClr val="2459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首阶段 · 到账后第 1–6 月</a:t>
            </a:r>
            <a:endParaRPr lang="en-US" sz="1700" dirty="0"/>
          </a:p>
        </p:txBody>
      </p:sp>
      <p:sp>
        <p:nvSpPr>
          <p:cNvPr id="23" name="Shape 20"/>
          <p:cNvSpPr/>
          <p:nvPr/>
        </p:nvSpPr>
        <p:spPr>
          <a:xfrm>
            <a:off x="5733288" y="2203321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2459D6"/>
          </a:solidFill>
        </p:spPr>
        <p:txBody>
          <a:bodyPr/>
          <a:p/>
        </p:txBody>
      </p:sp>
      <p:sp>
        <p:nvSpPr>
          <p:cNvPr id="24" name="Text 21"/>
          <p:cNvSpPr txBox="1"/>
          <p:nvPr/>
        </p:nvSpPr>
        <p:spPr>
          <a:xfrm>
            <a:off x="5733288" y="2203321"/>
            <a:ext cx="1371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本次申请覆盖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5733288" y="2587369"/>
            <a:ext cx="2552548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sz="1300" b="0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形象交付 → 内部试播与接梗测试 → 观众验证 → B站开播、抖音轻量测试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8724748" y="1654681"/>
            <a:ext cx="2918308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5875">
            <a:solidFill>
              <a:srgbClr val="8A909C"/>
            </a:solidFill>
            <a:prstDash val="dash"/>
          </a:ln>
        </p:spPr>
        <p:txBody>
          <a:bodyPr/>
          <a:p/>
        </p:txBody>
      </p:sp>
      <p:sp>
        <p:nvSpPr>
          <p:cNvPr id="27" name="Text 24"/>
          <p:cNvSpPr txBox="1"/>
          <p:nvPr/>
        </p:nvSpPr>
        <p:spPr>
          <a:xfrm>
            <a:off x="8925916" y="1791841"/>
            <a:ext cx="2552548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sz="1550" b="1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第 7–12 月</a:t>
            </a:r>
            <a:endParaRPr lang="en-US" sz="1700" dirty="0"/>
          </a:p>
        </p:txBody>
      </p:sp>
      <p:sp>
        <p:nvSpPr>
          <p:cNvPr id="28" name="Shape 25"/>
          <p:cNvSpPr/>
          <p:nvPr/>
        </p:nvSpPr>
        <p:spPr>
          <a:xfrm>
            <a:off x="8925916" y="2203321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F4F6F9"/>
          </a:solidFill>
        </p:spPr>
        <p:txBody>
          <a:bodyPr/>
          <a:p/>
        </p:txBody>
      </p:sp>
      <p:sp>
        <p:nvSpPr>
          <p:cNvPr id="29" name="Text 26"/>
          <p:cNvSpPr txBox="1"/>
          <p:nvPr/>
        </p:nvSpPr>
        <p:spPr>
          <a:xfrm>
            <a:off x="8925916" y="2203321"/>
            <a:ext cx="1371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1200" b="1">
                <a:solidFill>
                  <a:srgbClr val="5B62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依靠到账收入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8925916" y="2587369"/>
            <a:ext cx="2552548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sz="1300" b="0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固定栏目 → 会员测试 → 小批量周边 → 品牌样例；收入未到账则延后</a:t>
            </a:r>
            <a:endParaRPr sz="1300" b="0">
              <a:solidFill>
                <a:srgbClr val="1F2329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32" name="Text 29"/>
          <p:cNvSpPr txBox="1"/>
          <p:nvPr/>
        </p:nvSpPr>
        <p:spPr>
          <a:xfrm>
            <a:off x="548640" y="3977639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sz="1500" b="1">
                <a:solidFill>
                  <a:srgbClr val="5B62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首阶段申请支持（支持性质待确认）</a:t>
            </a:r>
            <a:endParaRPr lang="en-US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48640" y="4297680"/>
            <a:ext cx="4754880" cy="73152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sz="4800" b="1">
                <a:solidFill>
                  <a:srgbClr val="2459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46,200</a:t>
            </a:r>
            <a:r>
              <a:rPr sz="2000" b="0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 元</a:t>
            </a:r>
            <a:endParaRPr lang="en-US" sz="5400" dirty="0"/>
          </a:p>
        </p:txBody>
      </p:sp>
      <p:sp>
        <p:nvSpPr>
          <p:cNvPr id="35" name="Text 32"/>
          <p:cNvSpPr txBox="1"/>
          <p:nvPr/>
        </p:nvSpPr>
        <p:spPr>
          <a:xfrm>
            <a:off x="5532120" y="3630498"/>
            <a:ext cx="6110935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sz="1600" b="1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资金用途（元）</a:t>
            </a:r>
            <a:r>
              <a:rPr sz="1150" b="0">
                <a:solidFill>
                  <a:srgbClr val="5B62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  不含团队工资 · 税费未单列 · 设备采购未列（待确认）</a:t>
            </a:r>
            <a:endParaRPr lang="en-US" sz="1600" dirty="0"/>
          </a:p>
        </p:txBody>
      </p:sp>
      <p:graphicFrame>
        <p:nvGraphicFramePr>
          <p:cNvPr id="36" name="首阶段资金用途条形图"/>
          <p:cNvGraphicFramePr/>
          <p:nvPr/>
        </p:nvGraphicFramePr>
        <p:xfrm>
          <a:off x="5532120" y="3904818"/>
          <a:ext cx="6110935" cy="2331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37" name="Shape 33"/>
          <p:cNvSpPr/>
          <p:nvPr/>
        </p:nvSpPr>
        <p:spPr>
          <a:xfrm>
            <a:off x="548640" y="6382512"/>
            <a:ext cx="11094415" cy="0"/>
          </a:xfrm>
          <a:prstGeom prst="line">
            <a:avLst/>
          </a:prstGeom>
          <a:noFill/>
          <a:ln w="9525">
            <a:solidFill>
              <a:srgbClr val="D5D9E0"/>
            </a:solidFill>
            <a:prstDash val="solid"/>
          </a:ln>
        </p:spPr>
        <p:txBody>
          <a:bodyPr/>
          <a:p/>
        </p:txBody>
      </p:sp>
      <p:sp>
        <p:nvSpPr>
          <p:cNvPr id="38" name="Text 34"/>
          <p:cNvSpPr txBox="1"/>
          <p:nvPr/>
        </p:nvSpPr>
        <p:spPr>
          <a:xfrm>
            <a:off x="548640" y="6437376"/>
            <a:ext cx="9905695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1050" b="0">
                <a:solidFill>
                  <a:srgbClr val="8A909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预算来源：团队测算及报价依据（原画、Live2D 报价单待附）；明细见《预算测算明细-改稿v2.xlsx》第 5 表    渠道接入参考 </a:t>
            </a:r>
            <a:r>
              <a:rPr sz="1050" b="0">
                <a:solidFill>
                  <a:srgbClr val="2459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  <a:hlinkClick r:id="rId2"/>
              </a:rPr>
              <a:t>[S8] 抖音开放平台直播 SDK</a:t>
            </a:r>
            <a:endParaRPr lang="en-US" sz="1100" dirty="0"/>
          </a:p>
        </p:txBody>
      </p:sp>
      <p:sp>
        <p:nvSpPr>
          <p:cNvPr id="39" name="Text 35"/>
          <p:cNvSpPr txBox="1"/>
          <p:nvPr/>
        </p:nvSpPr>
        <p:spPr>
          <a:xfrm>
            <a:off x="10543032" y="6437376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1200" b="1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15</a:t>
            </a:r>
            <a:r>
              <a:rPr sz="1200" b="0">
                <a:solidFill>
                  <a:srgbClr val="8A909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 / 16</a:t>
            </a:r>
            <a:endParaRPr lang="en-US" sz="1200" dirty="0"/>
          </a:p>
        </p:txBody>
      </p:sp>
      <p:sp>
        <p:nvSpPr>
          <p:cNvPr id="40" name="TextBox 39"/>
          <p:cNvSpPr txBox="1"/>
          <p:nvPr/>
        </p:nvSpPr>
        <p:spPr>
          <a:xfrm>
            <a:off x="548640" y="5120640"/>
            <a:ext cx="489204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启动 25,000  </a:t>
            </a:r>
            <a:r>
              <a:rPr sz="1200" b="0">
                <a:solidFill>
                  <a:srgbClr val="5B62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原画 8,000 · Live2D 14,000 · 工具 3,000</a:t>
            </a:r>
            <a:endParaRPr sz="1200" b="0">
              <a:solidFill>
                <a:srgbClr val="5B62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548640" y="5486400"/>
            <a:ext cx="489204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运营 17,000  </a:t>
            </a:r>
            <a:r>
              <a:rPr sz="1200" b="0">
                <a:solidFill>
                  <a:srgbClr val="5B62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语音云 9,000 · 剪辑 3,000 · 推广 3,000 · 杂费 2,000</a:t>
            </a:r>
            <a:endParaRPr sz="1200" b="0">
              <a:solidFill>
                <a:srgbClr val="5B62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548640" y="5852159"/>
            <a:ext cx="489204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预备金 4,200  </a:t>
            </a:r>
            <a:r>
              <a:rPr sz="1200" b="0">
                <a:solidFill>
                  <a:srgbClr val="5B62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支出小计的 10%</a:t>
            </a:r>
            <a:endParaRPr sz="1200" b="0">
              <a:solidFill>
                <a:srgbClr val="5B62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2459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06 市场战略与资金 · 2/2</a:t>
            </a:r>
            <a:endParaRPr sz="1300" b="1">
              <a:solidFill>
                <a:srgbClr val="2459D6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1672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验收里程碑：用运行与回访证据决定是否继续投入</a:t>
            </a:r>
            <a:endParaRPr sz="3000" b="1">
              <a:solidFill>
                <a:srgbClr val="1F2329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740664" y="1655064"/>
            <a:ext cx="8490204" cy="0"/>
          </a:xfrm>
          <a:prstGeom prst="line">
            <a:avLst/>
          </a:prstGeom>
          <a:ln w="25400">
            <a:solidFill>
              <a:srgbClr val="B9CC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548640" y="1463040"/>
            <a:ext cx="384048" cy="384048"/>
          </a:xfrm>
          <a:prstGeom prst="ellipse">
            <a:avLst/>
          </a:prstGeom>
          <a:solidFill>
            <a:srgbClr val="245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1</a:t>
            </a:r>
            <a:endParaRPr sz="140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51560" y="1499616"/>
            <a:ext cx="209854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2459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到账后第 1 月</a:t>
            </a:r>
            <a:endParaRPr sz="1400" b="1">
              <a:solidFill>
                <a:srgbClr val="2459D6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48640" y="2011680"/>
            <a:ext cx="2601468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49808" y="2148840"/>
            <a:ext cx="223570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形象交付</a:t>
            </a:r>
            <a:endParaRPr sz="1900" b="1">
              <a:solidFill>
                <a:srgbClr val="1F2329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49808" y="2560320"/>
            <a:ext cx="2235708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5B62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验收物  </a:t>
            </a:r>
            <a:r>
              <a:rPr sz="1350" b="0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原画与 Live2D 文件、表情与口型测试录屏</a:t>
            </a:r>
            <a:endParaRPr sz="1350" b="0">
              <a:solidFill>
                <a:srgbClr val="1F2329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3378708" y="1463040"/>
            <a:ext cx="384048" cy="384048"/>
          </a:xfrm>
          <a:prstGeom prst="ellipse">
            <a:avLst/>
          </a:prstGeom>
          <a:solidFill>
            <a:srgbClr val="245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78708" y="146304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2</a:t>
            </a:r>
            <a:endParaRPr sz="140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881628" y="1499616"/>
            <a:ext cx="209854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2459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第 2 月</a:t>
            </a:r>
            <a:endParaRPr sz="1400" b="1">
              <a:solidFill>
                <a:srgbClr val="2459D6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378708" y="2011680"/>
            <a:ext cx="2601468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579876" y="2148840"/>
            <a:ext cx="223570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内部试播</a:t>
            </a:r>
            <a:endParaRPr sz="1900" b="1">
              <a:solidFill>
                <a:srgbClr val="1F2329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579876" y="2560320"/>
            <a:ext cx="2235708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5B62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验收物  </a:t>
            </a:r>
            <a:r>
              <a:rPr sz="1350" b="0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3 场试播录像；运行日志（时长、接管、成本）；≥10 个切片候选</a:t>
            </a:r>
            <a:endParaRPr sz="1350" b="0">
              <a:solidFill>
                <a:srgbClr val="1F2329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6208776" y="1463040"/>
            <a:ext cx="384048" cy="384048"/>
          </a:xfrm>
          <a:prstGeom prst="ellipse">
            <a:avLst/>
          </a:prstGeom>
          <a:solidFill>
            <a:srgbClr val="245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08776" y="146304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3</a:t>
            </a:r>
            <a:endParaRPr sz="140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711696" y="1499616"/>
            <a:ext cx="209854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2459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第 3 月</a:t>
            </a:r>
            <a:endParaRPr sz="1400" b="1">
              <a:solidFill>
                <a:srgbClr val="2459D6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208776" y="2011680"/>
            <a:ext cx="2601468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409944" y="2148840"/>
            <a:ext cx="223570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观众验证</a:t>
            </a:r>
            <a:endParaRPr sz="1900" b="1">
              <a:solidFill>
                <a:srgbClr val="1F2329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409944" y="2560320"/>
            <a:ext cx="2235708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5B62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验收物  </a:t>
            </a:r>
            <a:r>
              <a:rPr sz="1350" b="0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30 人测试记录：观看时长、角色与事件记忆、7 天回访</a:t>
            </a:r>
            <a:endParaRPr sz="1350" b="0">
              <a:solidFill>
                <a:srgbClr val="1F2329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23" name="Oval 22"/>
          <p:cNvSpPr/>
          <p:nvPr/>
        </p:nvSpPr>
        <p:spPr>
          <a:xfrm>
            <a:off x="9038844" y="1463040"/>
            <a:ext cx="384048" cy="384048"/>
          </a:xfrm>
          <a:prstGeom prst="ellipse">
            <a:avLst/>
          </a:prstGeom>
          <a:solidFill>
            <a:srgbClr val="245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38844" y="146304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4</a:t>
            </a:r>
            <a:endParaRPr sz="140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9541764" y="1499616"/>
            <a:ext cx="209854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2459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第 4–6 月</a:t>
            </a:r>
            <a:endParaRPr sz="1400" b="1">
              <a:solidFill>
                <a:srgbClr val="2459D6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9038844" y="2011680"/>
            <a:ext cx="2601468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240012" y="2148840"/>
            <a:ext cx="223570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主阵地试运营</a:t>
            </a:r>
            <a:endParaRPr sz="1900" b="1">
              <a:solidFill>
                <a:srgbClr val="1F2329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9240012" y="2560320"/>
            <a:ext cx="2235708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5B62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验收物  </a:t>
            </a:r>
            <a:r>
              <a:rPr sz="1350" b="0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B站开播记录、回访与净到账收入台账；抖音轻量测试数据</a:t>
            </a:r>
            <a:endParaRPr sz="1350" b="0">
              <a:solidFill>
                <a:srgbClr val="1F2329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48640" y="3703320"/>
            <a:ext cx="110916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8A909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原计划 2026 年 11 月底交付形象，进度取决于画师排期；以上统一按资金到账后月份计</a:t>
            </a:r>
            <a:endParaRPr sz="1200" b="0">
              <a:solidFill>
                <a:srgbClr val="8A909C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548640" y="4160520"/>
            <a:ext cx="5408676" cy="1417320"/>
          </a:xfrm>
          <a:prstGeom prst="roundRect">
            <a:avLst>
              <a:gd name="adj" fmla="val 6000"/>
            </a:avLst>
          </a:prstGeom>
          <a:solidFill>
            <a:srgbClr val="EAF0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777240" y="4297680"/>
            <a:ext cx="495147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2459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继续投入的证据</a:t>
            </a:r>
            <a:endParaRPr sz="1600" b="1">
              <a:solidFill>
                <a:srgbClr val="2459D6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777240" y="4663440"/>
            <a:ext cx="4951476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节目能稳定播完，人工接管可控</a:t>
            </a:r>
            <a:endParaRPr sz="1400" b="0">
              <a:solidFill>
                <a:srgbClr val="1F2329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观众记住角色与事件，并有自愿回访</a:t>
            </a:r>
            <a:endParaRPr sz="1400" b="0">
              <a:solidFill>
                <a:srgbClr val="1F2329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净到账收入能覆盖单场直接现金成本（不含工资）</a:t>
            </a:r>
            <a:endParaRPr sz="1400" b="0">
              <a:solidFill>
                <a:srgbClr val="1F2329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6231636" y="4160520"/>
            <a:ext cx="5408676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8A909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6460236" y="4297680"/>
            <a:ext cx="495147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需要调整时</a:t>
            </a:r>
            <a:endParaRPr sz="1600" b="1">
              <a:solidFill>
                <a:srgbClr val="1F2329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460236" y="4663440"/>
            <a:ext cx="4951476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回访不足  </a:t>
            </a:r>
            <a:r>
              <a:rPr sz="1400" b="0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先改节目，暂停追加推广</a:t>
            </a:r>
            <a:endParaRPr sz="1400" b="0">
              <a:solidFill>
                <a:srgbClr val="1F2329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  <a:p>
            <a:pPr algn="l">
              <a:spcAft>
                <a:spcPts val="300"/>
              </a:spcAft>
            </a:pPr>
            <a:r>
              <a:rPr sz="1400" b="1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收入未到账  </a:t>
            </a:r>
            <a:r>
              <a:rPr sz="1400" b="0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延后周边、新游戏接入与抖音直播加量</a:t>
            </a:r>
            <a:endParaRPr sz="1400" b="0">
              <a:solidFill>
                <a:srgbClr val="1F2329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  <a:p>
            <a:pPr algn="l">
              <a:spcAft>
                <a:spcPts val="300"/>
              </a:spcAft>
            </a:pPr>
            <a:r>
              <a:rPr sz="1400" b="1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始终保留  </a:t>
            </a:r>
            <a:r>
              <a:rPr sz="1400" b="0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模型语音服务、主阵地开播、核心测试</a:t>
            </a:r>
            <a:endParaRPr sz="1400" b="0">
              <a:solidFill>
                <a:srgbClr val="1F2329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548640" y="5715000"/>
            <a:ext cx="11091672" cy="548640"/>
          </a:xfrm>
          <a:prstGeom prst="roundRect">
            <a:avLst>
              <a:gd name="adj" fmla="val 6000"/>
            </a:avLst>
          </a:prstGeom>
          <a:solidFill>
            <a:srgbClr val="245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777240" y="57150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本次申请 46,200 元  </a:t>
            </a:r>
            <a:r>
              <a:rPr sz="1450" b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完成形象交付、内部试播、30 人观众验证与 B站主阵地试运营（支持性质待确认）</a:t>
            </a:r>
            <a:endParaRPr sz="1450" b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cxnSp>
        <p:nvCxnSpPr>
          <p:cNvPr id="38" name="Connector 37"/>
          <p:cNvCxnSpPr/>
          <p:nvPr/>
        </p:nvCxnSpPr>
        <p:spPr>
          <a:xfrm>
            <a:off x="548640" y="6382512"/>
            <a:ext cx="11091672" cy="0"/>
          </a:xfrm>
          <a:prstGeom prst="line">
            <a:avLst/>
          </a:prstGeom>
          <a:ln w="9525">
            <a:solidFill>
              <a:srgbClr val="D5D9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548640" y="6437376"/>
            <a:ext cx="98755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8A909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依据：预算测算明细-改稿v2.xlsx 第 5 表；商业计划书第 18–19 页（阶段目标与验收）；评审方案（2026-10-24）</a:t>
            </a:r>
            <a:endParaRPr sz="1100" b="0">
              <a:solidFill>
                <a:srgbClr val="8A909C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40" name="page-number"/>
          <p:cNvSpPr txBox="1"/>
          <p:nvPr/>
        </p:nvSpPr>
        <p:spPr>
          <a:xfrm>
            <a:off x="10543032" y="6437376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200" b="1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16</a:t>
            </a:r>
            <a:r>
              <a:rPr sz="1200" b="0">
                <a:solidFill>
                  <a:srgbClr val="8A909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 / 16</a:t>
            </a:r>
            <a:endParaRPr sz="1200" b="0">
              <a:solidFill>
                <a:srgbClr val="8A909C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6217</Words>
  <Application>WPS 演示</Application>
  <PresentationFormat>宽屏</PresentationFormat>
  <Paragraphs>838</Paragraphs>
  <Slides>16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4" baseType="lpstr">
      <vt:lpstr>Arial</vt:lpstr>
      <vt:lpstr>SimSun</vt:lpstr>
      <vt:lpstr>Wingdings</vt:lpstr>
      <vt:lpstr>Microsoft YaHei</vt:lpstr>
      <vt:lpstr>Microsoft YaHei</vt:lpstr>
      <vt:lpstr>Arial Unicode MS</vt:lpstr>
      <vt:lpstr>DengXian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潮生智能 · 姬岁歌人机共同直播（改稿v2）</dc:title>
  <dc:creator>PptxGenJS</dc:creator>
  <dc:subject>PptxGenJS Presentation</dc:subject>
  <cp:lastModifiedBy>Antares.Ji</cp:lastModifiedBy>
  <cp:revision>10</cp:revision>
  <dcterms:created xsi:type="dcterms:W3CDTF">2026-10-24T14:05:00Z</dcterms:created>
  <dcterms:modified xsi:type="dcterms:W3CDTF">2026-10-25T07:51:27Z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2052-11.1.0.10009</vt:lpwstr>
  </property>
</Properties>
</file>