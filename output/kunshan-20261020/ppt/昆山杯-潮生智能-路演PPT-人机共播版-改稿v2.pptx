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虚拟主播数量</c:v>
                </c:pt>
              </c:strCache>
            </c:strRef>
          </c:tx>
          <c:spPr>
            <a:solidFill>
              <a:srgbClr val="2459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2021-11-02</c:v>
                  </c:pt>
                  <c:pt idx="1">
                    <c:v>2024-07-22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3606</c:v>
                </c:pt>
                <c:pt idx="1">
                  <c:v>8689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F2329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27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50 万粉以上占比</c:v>
                </c:pt>
              </c:strCache>
            </c:strRef>
          </c:tx>
          <c:spPr>
            <a:solidFill>
              <a:srgbClr val="7FA0E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2021-11-02
39 / 3,606</c:v>
                  </c:pt>
                  <c:pt idx="1">
                    <c:v>2024-07-22
104 / 8,689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1.08</c:v>
                </c:pt>
                <c:pt idx="1">
                  <c:v>1.2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F2329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27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会员</c:v>
                </c:pt>
              </c:strCache>
            </c:strRef>
          </c:tx>
          <c:spPr>
            <a:solidFill>
              <a:srgbClr val="2459D6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运营与履约支出</c:v>
                  </c:pt>
                  <c:pt idx="1">
                    <c:v>年度收入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19250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打赏与付费留言</c:v>
                </c:pt>
              </c:strCache>
            </c:strRef>
          </c:tx>
          <c:spPr>
            <a:solidFill>
              <a:srgbClr val="7FA0E8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运营与履约支出</c:v>
                  </c:pt>
                  <c:pt idx="1">
                    <c:v>年度收入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17400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周边销售</c:v>
                </c:pt>
              </c:strCache>
            </c:strRef>
          </c:tx>
          <c:spPr>
            <a:solidFill>
              <a:srgbClr val="B9CCF4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运营与履约支出</c:v>
                  </c:pt>
                  <c:pt idx="1">
                    <c:v>年度收入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15000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商业合作</c:v>
                </c:pt>
              </c:strCache>
            </c:strRef>
          </c:tx>
          <c:spPr>
            <a:solidFill>
              <a:srgbClr val="DCE5FA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运营与履约支出</c:v>
                  </c:pt>
                  <c:pt idx="1">
                    <c:v>年度收入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10000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日常运营</c:v>
                </c:pt>
              </c:strCache>
            </c:strRef>
          </c:tx>
          <c:spPr>
            <a:solidFill>
              <a:srgbClr val="9AA1AD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运营与履约支出</c:v>
                  </c:pt>
                  <c:pt idx="1">
                    <c:v>年度收入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52000</c:v>
                </c:pt>
                <c:pt idx="1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周边履约</c:v>
                </c:pt>
              </c:strCache>
            </c:strRef>
          </c:tx>
          <c:spPr>
            <a:solidFill>
              <a:srgbClr val="C9CED6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运营与履约支出</c:v>
                  </c:pt>
                  <c:pt idx="1">
                    <c:v>年度收入</c:v>
                  </c:pt>
                </c:lvl>
              </c:multiLvlStrCache>
            </c:multiLvl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10500</c:v>
                </c:pt>
                <c:pt idx="1">
                  <c:v>0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1300" u="none">
                  <a:solidFill>
                    <a:srgbClr val="1F2329"/>
                  </a:solidFill>
                  <a:latin typeface="Microsoft YaHe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F2329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00"/>
          <c:min val="0"/>
        </c:scaling>
        <c:delete val="0"/>
        <c:axPos val="b"/>
        <c:majorGridlines>
          <c:spPr>
            <a:ln w="6350" cap="flat">
              <a:solidFill>
                <a:srgbClr val="ECEE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09C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金额</c:v>
                </c:pt>
              </c:strCache>
            </c:strRef>
          </c:tx>
          <c:spPr>
            <a:solidFill>
              <a:srgbClr val="2459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329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活动杂费</c:v>
                  </c:pt>
                  <c:pt idx="1">
                    <c:v>推广测试</c:v>
                  </c:pt>
                  <c:pt idx="2">
                    <c:v>剪辑补贴</c:v>
                  </c:pt>
                  <c:pt idx="3">
                    <c:v>开发工具</c:v>
                  </c:pt>
                  <c:pt idx="4">
                    <c:v>预备金</c:v>
                  </c:pt>
                  <c:pt idx="5">
                    <c:v>原画</c:v>
                  </c:pt>
                  <c:pt idx="6">
                    <c:v>语音云服务</c:v>
                  </c:pt>
                  <c:pt idx="7">
                    <c:v>Live2D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2000</c:v>
                </c:pt>
                <c:pt idx="1">
                  <c:v>3000</c:v>
                </c:pt>
                <c:pt idx="2">
                  <c:v>3000</c:v>
                </c:pt>
                <c:pt idx="3">
                  <c:v>3000</c:v>
                </c:pt>
                <c:pt idx="4">
                  <c:v>4200</c:v>
                </c:pt>
                <c:pt idx="5">
                  <c:v>8000</c:v>
                </c:pt>
                <c:pt idx="6">
                  <c:v>9000</c:v>
                </c:pt>
                <c:pt idx="7">
                  <c:v>14000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329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329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7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潮生智能团队，项目是原创角色“姬岁歌”的人机共同直播。
· 一句话：主持人主动设局造梗，AI 以岁、歌两种稳定性格接梗，围绕游戏和弹幕形成真实互动，再用直播、切片和连续剧情吸引观众回访。
【假设与能力边界】
· 右侧为角色概念图，版权归团队所有，正在生成定稿；原画与 Live2D 计划 11 月底交付。
【来源】
· 商业计划书封面与项目摘要（2026-10-24 人机共播修订版）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问题：AI 能回答问题之后，难的是持续做出值得看、值得分享、能按期交付的节目。
· 我们的回答是人机共播：主持人设局、追问并给出真实反应；AI 以稳定角色回应，并在游戏里做出不同于搭档预期的选择。
· 四步构成一场节目，结果留到下一场回收，这是观众回访的理由。
· 目标观众：喜欢 VTuber、爱看整活与联动的中文观众；已有 5 名这类路人观众的初步反馈。
【补充说明】
· 首批服务两类观众：愿意持续追看角色与搭档关系的人；先被游戏反转和 AI 意外反应吸引的人。
· 中文接梗需要持续本地化：一个梗同时依赖谐音、弹幕上下文、游戏局势、搭档关系和说话时机；主持人主动造梗为 AI 提供可理解的现场条件。
【假设与能力边界】
· “人化”指可识别的性格、表达和连续经历；AI 情绪属于角色表达，不宣称拥有真实情感。
· 5 名路人观众为小样本定性反馈，与熟人前测类似，不是正式验证；正式验证计划扩大到 30 名成年受试者。
【来源】
· 商业计划书第 3–4 页
· 5 名路人观众初步反馈：团队记录（用户提供，2026-10）
【待确认事项】
· 5 名路人反馈的书面记录（时间、渠道、主要反馈）。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图一：据前瞻产业研究院整理，B站虚拟主播从 2021-11-02 的 3,606 名增至 2024-07-22 的 8,689 名，约增长 141%。
· 图二：同期 50 万粉以上的虚拟主播从 39 名增至 104 名，占比只从 1.1% 变为 1.2%。供给增加很快，头部仍很集中。
· 结论：新账号不能只靠“又一个虚拟主播”，需要可辨识的节目形式；我们的切入点是中文接梗、人机节目和北京时间晚间档，但这些都还需验证。
· Neuro 在人物关系、内容积累和商业化上明显领先，是学习对象。
【补充说明】
· 补充分布：截至 2021-11-02，约 2/3 的 B站虚拟主播粉丝不足 1 万；月营收前 120 名占行业一半以上 [R2]。
· 付费需求背景：B站虚拟主播付费舰长约 15.2 万人、月营收约 350 万美元（VTBS.moe 2024，转引自 [S3]）。
· 平台背景：YouTube 2024 年 300 个虚拟创作者样本合计超过 150 亿次观看 [S1]；Bilibili 2026Q2 月活约 3.71 亿 [S2]。两者口径不同，仅作背景，不放进同一张图，也不是项目可获得用户。
· Neuro 时段：2026-10-24 查询的第三方排期样本中，2 场分别在北京时间次日 02:00 与 03:00 [S5]，以官方 Twitch 公告为准 [S5b]；仅为样本，不是固定规律。
· 国内已有公开项目实现双 AI 语音、记忆与游戏桥接 [S6]，技术本身不构成壁垒。
【假设与能力边界】
· 前瞻产业研究院未公开统计口径（如何界定“虚拟主播”）；两个时间点间隔约 2 年 8 个月，图中只展示两点，不外推趋势。
· 中文与时段优势可被复制，不是壁垒。
【来源】
· [Q1] 前瞻产业研究院（新浪财经 2024-08-27）：https://finance.sina.com.cn/roll/2024-08-27/doc-incmaiqi4039892.shtml
· [R2] 澎湃：3606 名虚拟主播：https://www.thepaper.cn/newsDetail_forward_18022449
· [S3] WWW 2025 VUP 研究：https://arxiv.org/abs/2502.01553
· [S1] YouTube 2025 报告：https://blog.youtube/culture-and-trends/youtube-culture-trends-report-virtual-creators/
· [S2] B站 2026Q2 公告：https://www.sec.gov/Archives/edgar/data/1723690/000119312526371261/d434015dex991.htm
· [S4] Vedal 官网：https://vedal.ai/
· [S5] Sync2Cal 排期样本：https://www.sync2cal.com/gaming/twitch-streamers/neuro-sama
· [S5b] Vedal 官方 Twitch 排期：https://www.twitch.tv/vedal987/schedule
· [S6] Lumi_Nox 仓库：https://github.com/MIO-456/Lumi_Nox
【待确认事项】
· 项目可获得市场规模（喜欢 VTuber、爱看整活联动的中文观众）暂无可引用的同口径数据。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左图是开发版运行截图：AI 在 Minecraft 里没做成工作台，主动说明“背包里只有云杉原木，得先把它变成木板”。观众看到的不是完美操作，而是能理解的真实进展。
· 右侧是节目设计示例：主持人用“谁先做出木剑谁当队长”设局，岁追问规则、歌抢先砍树，游戏给出真实结果，观众预测并在下一场回收约定。
· 岁偏向好奇、观察和理解；歌偏向坚持、选择与守护。主持人呈现真实的惊讶、着急和认错。
【补充说明】
· 计划书示例：主持人提出“先当队长还是先干活”的木剑挑战，AI 回应后在实际游戏中采集和制作；成功后回收开场玩笑，失败则一起核对缺少的材料。
· 工程中已有 Minecraft 规划、动作执行与原木、木剑入库记录 [I1]。
【假设与能力边界】
· 截图来自开发版游戏工作台，Live2D 为临时占位模型，不是姬岁歌最终形象，也不是正式直播画面。
· 右侧台词为节目设计示例，不是实际录屏或测试结果。
【来源】
· 商业计划书第 6、9 页
· 截图：.codex-ppt-build/live-focus.png（开发版游戏工作台）
· 工程索引 [I1] docs/minecraft-deepseek.md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左边是观众看到的节目：游戏或主题画面为主体，配合姬岁歌形象、主持人声音或头像、字幕与当晚任务；弹幕、关注、礼物用平台原生入口。
· 右边是团队用的后台：主持、人格运营、技术和值班运营围绕同一场节目协作，可以审核记忆、查看运行状态、随时人工接管。
· 调试参数、错误日志和模型配置不进入观众画面。
【补充说明】
· 现有页面：首页与 OBS 叠加层承担舞台与字幕；games.html 组织游戏画面、模型方案、聊天与任务停止；studio.html 提供候选记忆审核、大脑诊断、连续经历和直播运行；debug.html 用于开发调试。
· 商业开播需补齐：双平台消息标记来源；礼物事件去重、撤回和退款核对；观众建议确认后再影响任务；播前检查画面只含批准内容；播后按时间戳导出高光。
【假设与能力边界】
· 左侧为界面方案示意，不是已上线产品截图。
· 右侧为现有导演工作台开发版截图（记忆审核页），不是正式观众界面。
· overlay=1 可隐藏控制区用于 OBS 叠加，但隐藏控件不等于已完成后台权限隔离。
【来源】
· 商业计划书第 6–7 页
· 工程索引 [I4] public/index.html、stream.css、games.html、studio.html
【待确认事项】
· 观众端横屏（B站）与竖屏（抖音）画面方案尚未出图；主持人是否露脸按节目安排。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四个环节：听懂输入、决定谁何时回应、用角色声音说出来、在画面上呈现。每个技术都对应观众能感知的效果。
· 游戏行动单独闭环：模型规划任务，程序执行动作并检查结果，再按准备、尝试、完成分别口播，避免把计划说成成果。
· 截图是现有游戏工作台：左侧游戏画面，右侧角色舞台、字幕与语音选择。
【补充说明】
· SenseVoice 语音识别把主持人语音送入上下文；Node.js 服务按人格与现场任务路由到语言模型；GPT-SoVITS 或系统 TTS 朗读；Live2D、字幕经 OBS 进入画面。
· Minecraft 以 DeepSeek、千问等规划方案与 Mineflayer 执行衔接，动作经程序检查并读取结果；STS2 有工具动作与口播回执快照。
· SQLite 保存经人工确认的共同事件，供下一场接续。
【假设与能力边界】
· 模块存在不等于所有组合都已稳定；试播版本的模型、声线授权与首次可听回应延迟尚未测定。
· 截图中的 Live2D 为临时占位模型；完整游戏通关和任意游戏适配不列为已实现成果。
【来源】
· 商业计划书第 8 页
· 截图：.codex-ppt-build/game-focus.png（开发版游戏工作台）
· 工程索引 [I1] [I2] [I6]
【待确认事项】
· 试播版本的具体模型、声线授权与首次可听回应延迟。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左边是已有证据：不同模块和局部任务能运行，另有 5 名路人观众的初步反馈。
· 右边是整场节目上线前的四项验收：连续节目稳定性、中文接梗、双平台真实接入、观众回访。
· 中文接梗的难点在语境、双关、反讽、角色一致、回应时机和旧事回收；测试按“主持人铺垫 → AI 理解 → 角色回应 → 观众反馈”记录。
【补充说明】
· 场景设计：谐音、认真误解、反向挑战、角色分歧和旧事回收，同时放入普通对话作对照；每种人格分别生成并由内容人员复核，保留未见过的场景检验迁移。
· 正式观众验收：30 名成年观众按观看习惯分层，随机平衡两段各 6 分钟样片顺序；一次只比较一项变化。团队预设门槛：自由观看中位数 3 分钟；至少 15 人记住角色或事件；至少 6 人七天内主动回看满 60 秒。
· 失败预案：接梗生硬回到具体场景；语音延迟时缩短回复并由主持人续场；游戏卡住时停止任务、切备用栏目。
【假设与能力边界】
· 尚无测评数据，页面不展示成功率。
· 5 名路人观众为小样本定性反馈，不是正式验证。
· 已有证据不证明能任意游戏长期自主直播。
【来源】
· 商业计划书第 9、19 页
· [I1] docs/minecraft-deepseek.md、logs/minecraft-deepseek-live-run.json
· [I2] output/sts2/streamer-acceptance.json（2026-10-20）
· [I3] docs/demo-summary-20261018.md
· [I4]–[I6] 界面源文件、B站事件归一化、记忆候选机制
【待确认事项】
· 中文接梗场景清单：后续安排。
· 30 名成年受试者验证：后续安排。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九人按一场节目的生产流程组织：CEO 统筹，技术总监负责系统实现与验收，运营总监负责节目排期与跨工作线交付。
· 播前运营总监组织任务、主持与抛梗审阅，技术总监确认依赖服务和接管流程；播后视频负责人筛选高光，市场商务负责人汇总数据，CEO 决定下一轮投入。
【补充说明】
· 主持人按场次轮值安排；团队成员目前不领薪，工时单独记录。
【假设与能力边界】
· 以上为计划中的岗位安排，公司设立后的正式任职另行确认；页面不包含履历与过往成绩。
【来源】
· 商业计划书第 10 页“团队介绍”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商业逻辑：人机节目经 B站与抖音直播和切片传播，形成观看、回访与社群关系，再转为礼物、会员、周边、品牌及游戏合作，收入再投入内容与制作。
· 首个完整运营年度收入情景 61,650 元：会员 19,250、打赏与付费留言 17,400、周边 15,000、商业合作 10,000。
· 运营与履约支出 62,500 元：日常运营 52,000 加周边制作履约 10,500。收入覆盖其中 98.6%，运营现金差额为负 850 元，尚未盈利。
· 加上 25,000 元启动投入，年末现金缺口 25,850 元；按季度推算，第 9 个月累计垫付最高，约 47,750 元。年末缺口不等于中途需要的最高垫付。
【补充说明】
· 收入依据：会员 = 385 个会员月 × 每会员月净到账 50 元（情景假设，Q3 105、Q4 280）；合作 = 2 次 × 5,000 元（Q4，以签约结算为准）；周边 = 目标销售额 15,000 元，款式与销量未定；打赏 = 计划书季度目标 1,200 / 3,000 / 5,300 / 7,900 元，计划书给出方法“有效观众 × 实际付费比例 × 人均净收入”但未给参数。
· 口径：打赏与会员为扣除平台分成后的净到账；税费未单列；周边履约按销售额 70%；团队成员不领薪，工时另记。
· 季度现金：Q1 收入 1,200、支出 13,000，净 −11,800；Q2 净 −10,000；Q3 收入 15,550、支出 16,500，净 −950；Q4 收入 41,900、支出 20,000，净 +21,900。
· 日常运营明细：模型语音云服务 18,000、剪辑社群补贴 12,000、推广 18,000、活动杂费 4,000。
· 保守情景（计划书）：会员与合作延后，打赏 8,000、日常支出 40,000、启动 25,000，缺口约 57,000 元，相应推迟预售与可变推广。
· 打赏进入节目：平台事件核对去重后进入感谢队列，连续小额合并，在任务间隙致谢；免费观众同样参与公开任务；不把打赏绑定角色的爱意、痛苦或输赢 [S9]。
· 游戏选择看五点：需求潜力、节目效果、AI 可执行程度、观众参与、维护成本。例如 Minecraft 木剑短任务材料与时限明确，失败也能讲清缺什么；游戏热度待公开运营前采样验证。
· 公开数据背景（不证明本项目收入预测成立）：B站虚拟主播付费舰长约 15.2 万人、月营收约 350 万美元 [S3]；浙大 2025 抖音主播调研中超 66% 月收入 2,000–10,000 元 [R1]；虚拟主播收入高度集中，约 2/3 粉丝不足 1 万 [R2]。
【假设与能力边界】
· 以上为预测情景，不是实际经营成绩；项目尚未盈利，也未形成商业闭环。
· 全部公式与季度、月度现金流见《预算测算明细-改稿v2.xlsx》。
【来源】
· 商业计划书第 11–16 页
· 预算测算明细-改稿v2.xlsx
· [S3] WWW 2025 VUP 研究：https://arxiv.org/abs/2502.01553
· [R1] 浙大 2025 抖音主播调研：https://www.sohu.com/a/976695880_121864818
· [R2] 澎湃：3606 名虚拟主播：https://www.thepaper.cn/newsDetail_forward_18022449
· [S7] B站开放平台直播事件文档：https://openhome.bilibili.com/doc/4/c7b549c9-d5d6-0331-b510-465ed4107e01
· [S8] 抖音开放平台直播 SDK：https://open.douyin.com/platform/resource/docs/ability/douyin-live-sdk/introduction
· [S9] 抖音直播行为规范：https://sf3-cdn-tos.douyinstatic.com/obj/ies-hotsoon-draft/webcast_all_anchor/webcast_ban_protocol.html
【待确认事项】
· 平台收入分成：后续确定。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B站与抖音都直播：B站承接完整游戏过程与连载，抖音用快速情境吸引陌生观众；切片每周 4–5 条，回流到两端直播。
· 首阶段 6 个月：原画与 Live2D 11 月底交付，完成内部试播与中文接梗测试、观众验证，并开始双平台直播。下半年进入固定栏目和小规模付费，资金依靠到账收入。
· 每个阶段先看四件事：节目能否稳定完成、观众是否记住角色与事件、是否主动回访、收入是否覆盖直接成本。
· 首阶段申请支持重算为 46,200 元，比原方案 10 万元少 53.8%：必要启动 25,000、6 个月精简运营 17,000、预备金 4,200。
【补充说明】
· 重算方法（自下而上，首阶段 1–6 月）：原画 8,000、Live2D 及表情 14,000、开发工具 3,000（必要）；模型语音云服务 9,000（1,500 元/月 × 6）；剪辑补贴 3,000（半额，成员自剪为主）；推广 3,000（只做小额切片测试）；活动杂费 2,000；支出小计 42,000；预备金按 10% 计 4,200；合计 46,200 元。
· 相比原 10 万方案延后或削减：周边周转 10,500 改为下半年预售回款后生产；推广 15,000 待回访达标后用到账收入追加；剪辑补贴削减 9,000（全年口径，下半年视收入恢复）；预备金由 12,500 降为 4,200；下半年日常运营不由本次申请覆盖。
· 资金来源：首阶段预测收入 4,200 元（Q1+Q2 打赏目标）不计入资金来源，若按期到账作为额外缓冲。基准情景下半年收入 57,450、支出 36,500，净现金约 +20,950 元，可自行覆盖；若首阶段验收未通过，不进入下半年扩张。
· 对照：全年基准情景累计最高垫付约 47,750 元（第 9 月末），本方案不依赖预测收入，首阶段需要 46,200 元。
· 原画与 Live2D 尚未付款（用户确认），全额计入申请额。
· 进取增长目标：前三个月 2.5 万、约六个月 10 万、年末 15 万主阵地关注；参照头部个案（抖音虚拟主播许安一首月直播涨粉 13 万）[R3] 与行业分布（约 2/3 虚拟主播不足 1 万粉）[R2] 设定，不是预测。
· 初期每周二至周六北京时间 20:00–22:00 开播；全年推广预算分批使用，先比较自然流量下的完播、评论与关注。
【假设与能力边界】
· B站与抖音开播权限可落实；双平台正式运营仍以推流、音视频与事件联调和节目验收为前提。
· 申请额为团队测算方案，不代表已获批准或任何融资条款。
【来源】
· 商业计划书第 16–19 页
· 预算测算明细-改稿v2.xlsx（第 5 表）
· [R2] 澎湃：3606 名虚拟主播：https://www.thepaper.cn/newsDetail_forward_18022449
· [R3] 界面：许安一 100 天：https://www.jiemian.com/article/7724509.html
· [S8] 抖音开放平台直播 SDK：https://open.douyin.com/platform/resource/docs/ability/douyin-live-sdk/introduction
【待确认事项】
· 30 名成年受试者验证：后续安排。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inance.sina.com.cn/roll/2024-08-27/doc-incmaiqi4039892.shtml" TargetMode="External"/><Relationship Id="rId4" Type="http://schemas.openxmlformats.org/officeDocument/2006/relationships/hyperlink" Target="https://vedal.ai/" TargetMode="External"/><Relationship Id="rId5" Type="http://schemas.openxmlformats.org/officeDocument/2006/relationships/hyperlink" Target="https://www.sync2cal.com/gaming/twitch-streamers/neuro-sama" TargetMode="External"/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f3-cdn-tos.douyinstatic.com/obj/ies-hotsoon-draft/webcast_all_anchor/webcast_ban_protocol.html" TargetMode="External"/><Relationship Id="rId1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.douyin.com/platform/resource/docs/ability/douyin-live-sdk/introduction" TargetMode="External"/><Relationship Id="rId1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8229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昆山杯清华大学创业大赛 · 种子组 · AI for X 赛道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潮生智能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4884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姬岁歌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人机共同直播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4343400"/>
            <a:ext cx="914400" cy="0"/>
          </a:xfrm>
          <a:prstGeom prst="line">
            <a:avLst/>
          </a:prstGeom>
          <a:noFill/>
          <a:ln w="38100">
            <a:solidFill>
              <a:srgbClr val="2459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526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主持人设局造梗，AI 以角色性格接梗，</a:t>
            </a:r>
            <a:endParaRPr lang="en-US" sz="2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共同经历让观众回来看下一场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项目负责人  杨若朝    ·    潮生智能团队</a:t>
            </a:r>
            <a:endParaRPr lang="en-US" sz="1600" dirty="0"/>
          </a:p>
        </p:txBody>
      </p:sp>
      <p:pic>
        <p:nvPicPr>
          <p:cNvPr id="9" name="Image 0" descr="E:\Github\AI_vtuber\output\kunshan-20261020\ppt\assets\jisui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400" y="502920"/>
            <a:ext cx="5242655" cy="5486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400" y="6035040"/>
            <a:ext cx="5242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角色概念图 · 定稿中，原画与 Live2D 11 月底交付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项目背景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会说话之后，难的是做出值得追看的节目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0" cy="1188720"/>
          </a:xfrm>
          <a:prstGeom prst="line">
            <a:avLst/>
          </a:prstGeom>
          <a:noFill/>
          <a:ln w="38100">
            <a:solidFill>
              <a:srgbClr val="2459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目标观众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116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 VTuber、爱看整活联动的中文观众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3081528"/>
            <a:ext cx="0" cy="1188720"/>
          </a:xfrm>
          <a:prstGeom prst="line">
            <a:avLst/>
          </a:prstGeom>
          <a:noFill/>
          <a:ln w="38100">
            <a:solidFill>
              <a:srgbClr val="D5D9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081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4930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主持人设局与真实反应，AI 稳定角色回应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48640" y="4562856"/>
            <a:ext cx="0" cy="1188720"/>
          </a:xfrm>
          <a:prstGeom prst="line">
            <a:avLst/>
          </a:prstGeom>
          <a:noFill/>
          <a:ln w="38100">
            <a:solidFill>
              <a:srgbClr val="D5D9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562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初步反馈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97433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名路人最想看整活与联动（小样本）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5775808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2459D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58688" y="1856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主持人设局造梗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5958688" y="23134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 · 玩笑 · 追问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021928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04808" y="1856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按角色回应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9204808" y="23134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岁好奇追问，歌坚持立场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021928" y="44348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04808" y="4599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游戏产生真实结果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9204808" y="50566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做成或缺材料都真实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775808" y="44348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58688" y="4599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观众参与并期待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5958688" y="50566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 · 评论 · 回收旧梗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400136" y="2263140"/>
            <a:ext cx="603504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10324948" y="2880360"/>
            <a:ext cx="0" cy="150876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 flipH="1">
            <a:off x="8400136" y="5006340"/>
            <a:ext cx="603504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 flipV="1">
            <a:off x="7078828" y="2880360"/>
            <a:ext cx="0" cy="1508760"/>
          </a:xfrm>
          <a:prstGeom prst="line">
            <a:avLst/>
          </a:prstGeom>
          <a:noFill/>
          <a:ln w="25400">
            <a:solidFill>
              <a:srgbClr val="2459D6"/>
            </a:solidFill>
            <a:prstDash val="dash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7604608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人机共播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7170268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下一场回收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760720" y="576072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“人化”指可识别的性格、表达与连续经历，不宣称 AI 有真实情感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依据：商业计划书第 3–4 页；5 人初步反馈为团队记录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市场规模与竞品分析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B站虚拟主播增至 8,689 名，50 万粉以上仍只占约 1%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B站虚拟主播数量（名）</a:t>
            </a:r>
            <a:endParaRPr lang="en-US" sz="1600" dirty="0"/>
          </a:p>
        </p:txBody>
      </p:sp>
      <p:graphicFrame>
        <p:nvGraphicFramePr>
          <p:cNvPr id="6" name="B站虚拟主播数量柱状图" descr=""/>
          <p:cNvGraphicFramePr/>
          <p:nvPr/>
        </p:nvGraphicFramePr>
        <p:xfrm>
          <a:off x="548640" y="1874520"/>
          <a:ext cx="37490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61772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万粉以上占比（%）</a:t>
            </a:r>
            <a:endParaRPr lang="en-US" sz="1600" dirty="0"/>
          </a:p>
        </p:txBody>
      </p:sp>
      <p:graphicFrame>
        <p:nvGraphicFramePr>
          <p:cNvPr id="8" name="50万粉以上占比柱状图" descr=""/>
          <p:cNvGraphicFramePr/>
          <p:nvPr/>
        </p:nvGraphicFramePr>
        <p:xfrm>
          <a:off x="4617720" y="1874520"/>
          <a:ext cx="32918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4864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统计口径未公开；两点之间不外推趋势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8275320" y="1508760"/>
            <a:ext cx="3367735" cy="1508760"/>
          </a:xfrm>
          <a:prstGeom prst="roundRect">
            <a:avLst>
              <a:gd name="adj" fmla="val 4848"/>
            </a:avLst>
          </a:prstGeom>
          <a:solidFill>
            <a:srgbClr val="2459D6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8503920" y="1673352"/>
            <a:ext cx="2910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供给翻倍，头部仍集中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8503920" y="2103120"/>
            <a:ext cx="2910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E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新账号需要可辨识的节目形式，而不是又一个虚拟形象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275320" y="3246120"/>
            <a:ext cx="3367735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503920" y="3355848"/>
            <a:ext cx="2910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Neuro-sama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8503920" y="3721608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人物关系成熟，内容与商业化领先 [S4]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275320" y="4453128"/>
            <a:ext cx="3367735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503920" y="4562856"/>
            <a:ext cx="2910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姬岁歌（待验证）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4928616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中文接梗 · 人机节目 · 北京时间 20–22 点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</a:t>
            </a:r>
            <a:pPr indent="0" marL="0">
              <a:buNone/>
            </a:pPr>
            <a:r>
              <a:rPr lang="en-US" sz="1100" u="sng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[Q1] 前瞻产业研究院（新浪财经 2024-08-27）</a:t>
            </a:r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[S4] Vedal 官网</a:t>
            </a:r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</a:t>
            </a:r>
            <a:pPr indent="0" marL="0">
              <a:buNone/>
            </a:pPr>
            <a:r>
              <a:rPr lang="en-US" sz="1100" u="sng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[S5] Sync2Cal 排期样本</a:t>
            </a:r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更多背景数据与口径见备注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产品介绍 · 1/4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观众追看的是主持人与 AI 的共同经历</a:t>
            </a:r>
            <a:endParaRPr lang="en-US" sz="3200" dirty="0"/>
          </a:p>
        </p:txBody>
      </p:sp>
      <p:pic>
        <p:nvPicPr>
          <p:cNvPr id="5" name="Image 0" descr="E:\Github\AI_vtuber\output\kunshan-20261020\ppt\assets\live-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675120" cy="287339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508760"/>
            <a:ext cx="6675120" cy="2873396"/>
          </a:xfrm>
          <a:prstGeom prst="rect">
            <a:avLst/>
          </a:prstGeom>
          <a:ln w="9525">
            <a:solidFill>
              <a:srgbClr val="D5D9E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445530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开发版运行截图 · Live2D 为临时占位模型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4839356"/>
            <a:ext cx="6675120" cy="1051560"/>
          </a:xfrm>
          <a:prstGeom prst="roundRect">
            <a:avLst>
              <a:gd name="adj" fmla="val 6957"/>
            </a:avLst>
          </a:prstGeom>
          <a:solidFill>
            <a:srgbClr val="EAF0F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4839356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真实片段  </a:t>
            </a:r>
            <a:pPr indent="0" marL="0">
              <a:buNone/>
            </a:pPr>
            <a:r>
              <a:rPr lang="en-US" sz="17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没做成工作台，主动说明缺什么：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「背包里只有云杉原木，得先把它变成木板。」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635240" y="150876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635240" y="15087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节目设计示例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635240" y="2057400"/>
            <a:ext cx="384048" cy="384048"/>
          </a:xfrm>
          <a:prstGeom prst="ellipse">
            <a:avLst/>
          </a:prstGeom>
          <a:solidFill>
            <a:srgbClr val="2459D6"/>
          </a:solidFill>
          <a:ln w="15875">
            <a:solidFill>
              <a:srgbClr val="2459D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635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827264" y="2468880"/>
            <a:ext cx="0" cy="566928"/>
          </a:xfrm>
          <a:prstGeom prst="line">
            <a:avLst/>
          </a:prstGeom>
          <a:noFill/>
          <a:ln w="19050">
            <a:solidFill>
              <a:srgbClr val="B9CCF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02168" y="2011680"/>
            <a:ext cx="34408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主持人设局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202168" y="2395728"/>
            <a:ext cx="34408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「谁先做出木剑，谁当队长。」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635240" y="3081528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459D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63524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827264" y="3493008"/>
            <a:ext cx="0" cy="566928"/>
          </a:xfrm>
          <a:prstGeom prst="line">
            <a:avLst/>
          </a:prstGeom>
          <a:noFill/>
          <a:ln w="19050">
            <a:solidFill>
              <a:srgbClr val="B9CCF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02168" y="3035808"/>
            <a:ext cx="34408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岁 / 歌回应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8202168" y="3419856"/>
            <a:ext cx="34408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岁追问规则，歌抢先砍树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635240" y="410565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459D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63524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7827264" y="4517136"/>
            <a:ext cx="0" cy="566928"/>
          </a:xfrm>
          <a:prstGeom prst="line">
            <a:avLst/>
          </a:prstGeom>
          <a:noFill/>
          <a:ln w="19050">
            <a:solidFill>
              <a:srgbClr val="B9CCF4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202168" y="4059936"/>
            <a:ext cx="34408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游戏结果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8202168" y="4443984"/>
            <a:ext cx="34408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做成或缺材料，都在画面里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7635240" y="5129784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459D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63524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8202168" y="5084064"/>
            <a:ext cx="34408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观众参与</a:t>
            </a:r>
            <a:endParaRPr lang="en-US" sz="1800" dirty="0"/>
          </a:p>
        </p:txBody>
      </p:sp>
      <p:sp>
        <p:nvSpPr>
          <p:cNvPr id="30" name="Text 26"/>
          <p:cNvSpPr txBox="1"/>
          <p:nvPr/>
        </p:nvSpPr>
        <p:spPr>
          <a:xfrm>
            <a:off x="8202168" y="5468112"/>
            <a:ext cx="34408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预测胜负，下一场回收约定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依据：商业计划书第 6、9 页；工程索引 [I1]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产品介绍 · 2/4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观众端只放节目，后台负责调度与人工接管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观众端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645920" y="153619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645920" y="15361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界面方案 · 非上线截图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5440680" cy="3060383"/>
          </a:xfrm>
          <a:prstGeom prst="roundRect">
            <a:avLst>
              <a:gd name="adj" fmla="val 1195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194560"/>
            <a:ext cx="3590849" cy="2191703"/>
          </a:xfrm>
          <a:prstGeom prst="roundRect">
            <a:avLst>
              <a:gd name="adj" fmla="val 1669"/>
            </a:avLst>
          </a:prstGeom>
          <a:solidFill>
            <a:srgbClr val="F4F6F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2194560"/>
            <a:ext cx="3590849" cy="2191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游戏或主题画面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2960" y="233172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331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当前任务：做出木剑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13809" y="2194560"/>
            <a:ext cx="1438351" cy="1417320"/>
          </a:xfrm>
          <a:prstGeom prst="roundRect">
            <a:avLst>
              <a:gd name="adj" fmla="val 2581"/>
            </a:avLst>
          </a:prstGeom>
          <a:solidFill>
            <a:srgbClr val="EAF0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13809" y="2194560"/>
            <a:ext cx="143835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角色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岁 / 歌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413809" y="3721608"/>
            <a:ext cx="1438351" cy="664655"/>
          </a:xfrm>
          <a:prstGeom prst="roundRect">
            <a:avLst>
              <a:gd name="adj" fmla="val 5503"/>
            </a:avLst>
          </a:prstGeom>
          <a:solidFill>
            <a:srgbClr val="F4F6F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413809" y="3721608"/>
            <a:ext cx="1438351" cy="664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声音或头像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4495991"/>
            <a:ext cx="516636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495991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字幕：岁「队长要负责什么？」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282375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平台原生互动：弹幕 · 关注 · 礼物 · 会员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144768" y="1508760"/>
            <a:ext cx="0" cy="461772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09360" y="1508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086600" y="1536192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086600" y="15361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现有导演工作台 · 开发版截图</a:t>
            </a:r>
            <a:endParaRPr lang="en-US" sz="1200" dirty="0"/>
          </a:p>
        </p:txBody>
      </p:sp>
      <p:pic>
        <p:nvPicPr>
          <p:cNvPr id="24" name="Image 0" descr="E:\Github\AI_vtuber\output\kunshan-20261020\ppt\assets\stu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057400"/>
            <a:ext cx="5333695" cy="300020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309360" y="2057400"/>
            <a:ext cx="5333695" cy="3000204"/>
          </a:xfrm>
          <a:prstGeom prst="rect">
            <a:avLst/>
          </a:prstGeom>
          <a:ln w="9525">
            <a:solidFill>
              <a:srgbClr val="D5D9E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309360" y="5222196"/>
            <a:ext cx="97895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309360" y="5222196"/>
            <a:ext cx="9789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记忆审核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7398045" y="5222196"/>
            <a:ext cx="97895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398045" y="5222196"/>
            <a:ext cx="9789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运行状态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8486729" y="5222196"/>
            <a:ext cx="97895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486729" y="5222196"/>
            <a:ext cx="9789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弹幕筛选</a:t>
            </a:r>
            <a:endParaRPr lang="en-US" sz="1500" dirty="0"/>
          </a:p>
        </p:txBody>
      </p:sp>
      <p:sp>
        <p:nvSpPr>
          <p:cNvPr id="32" name="Shape 28"/>
          <p:cNvSpPr/>
          <p:nvPr/>
        </p:nvSpPr>
        <p:spPr>
          <a:xfrm>
            <a:off x="9575414" y="5222196"/>
            <a:ext cx="97895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575414" y="5222196"/>
            <a:ext cx="9789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游戏任务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10664099" y="5222196"/>
            <a:ext cx="978957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0664099" y="5222196"/>
            <a:ext cx="9789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人工接管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6309360" y="5697684"/>
            <a:ext cx="5333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调试参数与日志不进观众画面；隐藏控制区 ≠ 权限隔离，仍需梳理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依据：商业计划书第 6–7 页；工程索引 [I4]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产品介绍 · 3/4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四个环节把语音、弹幕和游戏变成角色回应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24992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听懂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语音识别 · 弹幕 · 游戏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093644" y="2171700"/>
            <a:ext cx="274320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413684" y="1508760"/>
            <a:ext cx="24992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42284" y="169164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642284" y="22402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人格 + 任务 → 模型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958688" y="2171700"/>
            <a:ext cx="274320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278728" y="1508760"/>
            <a:ext cx="24992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07328" y="169164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说出来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507328" y="22402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岁 / 歌声线 TTS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823731" y="2171700"/>
            <a:ext cx="274320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143771" y="1508760"/>
            <a:ext cx="2499284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72371" y="169164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372371" y="2240280"/>
            <a:ext cx="2042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Live2D · 字幕 · OBS</a:t>
            </a:r>
            <a:endParaRPr lang="en-US" sz="1500" dirty="0"/>
          </a:p>
        </p:txBody>
      </p:sp>
      <p:pic>
        <p:nvPicPr>
          <p:cNvPr id="20" name="Image 0" descr="E:\Github\AI_vtuber\output\kunshan-20261020\ppt\assets\game-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0"/>
            <a:ext cx="6372665" cy="27432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48640" y="3200400"/>
            <a:ext cx="6372665" cy="2743200"/>
          </a:xfrm>
          <a:prstGeom prst="rect">
            <a:avLst/>
          </a:prstGeom>
          <a:ln w="9525">
            <a:solidFill>
              <a:srgbClr val="D5D9E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48640" y="6016752"/>
            <a:ext cx="63726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开发版游戏工作台截图 · Live2D 为临时占位模型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7287065" y="3200400"/>
            <a:ext cx="43559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游戏行动闭环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7287065" y="3703320"/>
            <a:ext cx="4355991" cy="420624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515665" y="3703320"/>
            <a:ext cx="38987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规划任务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7287065" y="4233672"/>
            <a:ext cx="4355991" cy="420624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515665" y="4233672"/>
            <a:ext cx="38987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执行动作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7287065" y="4764024"/>
            <a:ext cx="4355991" cy="420624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515665" y="4764024"/>
            <a:ext cx="38987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检查结果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7287065" y="5294376"/>
            <a:ext cx="4355991" cy="420624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515665" y="5294376"/>
            <a:ext cx="38987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据实口播</a:t>
            </a:r>
            <a:endParaRPr lang="en-US" sz="1700" dirty="0"/>
          </a:p>
        </p:txBody>
      </p:sp>
      <p:sp>
        <p:nvSpPr>
          <p:cNvPr id="32" name="Text 28"/>
          <p:cNvSpPr txBox="1"/>
          <p:nvPr/>
        </p:nvSpPr>
        <p:spPr>
          <a:xfrm>
            <a:off x="7287065" y="5897880"/>
            <a:ext cx="43559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共同事件经人工确认后存入记忆，下一场接续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依据：商业计划书第 8 页；工程索引 [I1][I2][I6]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产品介绍 · 4/4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模块已经跑通，整场节目还要过四项验收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364328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已有证据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41248" y="2340864"/>
            <a:ext cx="146304" cy="146304"/>
          </a:xfrm>
          <a:prstGeom prst="ellipse">
            <a:avLst/>
          </a:prstGeom>
          <a:solidFill>
            <a:srgbClr val="2459D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15568" y="2221992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Minecraft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规划→执行，原木与木剑入库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41248" y="2779776"/>
            <a:ext cx="146304" cy="146304"/>
          </a:xfrm>
          <a:prstGeom prst="ellipse">
            <a:avLst/>
          </a:prstGeom>
          <a:solidFill>
            <a:srgbClr val="2459D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5568" y="2660904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STS2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次成功动作 + 口播回执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41248" y="3218688"/>
            <a:ext cx="146304" cy="146304"/>
          </a:xfrm>
          <a:prstGeom prst="ellipse">
            <a:avLst/>
          </a:prstGeom>
          <a:solidFill>
            <a:srgbClr val="2459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15568" y="3099816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Flappy Bird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约定条件下独立策略验收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41248" y="3657600"/>
            <a:ext cx="146304" cy="146304"/>
          </a:xfrm>
          <a:prstGeom prst="ellipse">
            <a:avLst/>
          </a:prstGeom>
          <a:solidFill>
            <a:srgbClr val="2459D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15568" y="3538728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舞台、导演台与记忆审核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41248" y="4096512"/>
            <a:ext cx="146304" cy="146304"/>
          </a:xfrm>
          <a:prstGeom prst="ellipse">
            <a:avLst/>
          </a:prstGeom>
          <a:solidFill>
            <a:srgbClr val="2459D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5568" y="3977640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名路人初步反馈（小样本）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278728" y="1508760"/>
            <a:ext cx="5364328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6553048" y="1691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上线前验收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571336" y="235915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09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45656" y="2240280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连续节目稳定性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整场播完，卡住能切备用栏目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571336" y="290779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09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45656" y="2788920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中文接梗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按场景测试，岁 / 歌分别复核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571336" y="345643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09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45656" y="3337560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双平台真实接入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B站、抖音真实事件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571336" y="4005072"/>
            <a:ext cx="146304" cy="14630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A909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45656" y="3886200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观众回访  </a:t>
            </a:r>
            <a:pPr indent="0" marL="0">
              <a:buNone/>
            </a:pPr>
            <a:r>
              <a:rPr lang="en-US" sz="17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扩大到 30 人，看七天回访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8463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中文接梗难在  </a:t>
            </a:r>
            <a:pPr indent="0" marL="0">
              <a:buNone/>
            </a:pPr>
            <a:r>
              <a:rPr lang="en-US" sz="18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语境 · 双关 · 反讽 · 角色一致 · 回应时机 · 旧事回收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48640" y="5413248"/>
            <a:ext cx="2464994" cy="64008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48640" y="5413248"/>
            <a:ext cx="24649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主持人铺垫</a:t>
            </a:r>
            <a:endParaRPr lang="en-US" sz="1900" dirty="0"/>
          </a:p>
        </p:txBody>
      </p:sp>
      <p:sp>
        <p:nvSpPr>
          <p:cNvPr id="30" name="Shape 27"/>
          <p:cNvSpPr/>
          <p:nvPr/>
        </p:nvSpPr>
        <p:spPr>
          <a:xfrm>
            <a:off x="3059354" y="5733288"/>
            <a:ext cx="320040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425114" y="5413248"/>
            <a:ext cx="2464994" cy="64008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425114" y="5413248"/>
            <a:ext cx="24649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理解</a:t>
            </a:r>
            <a:endParaRPr lang="en-US" sz="1900" dirty="0"/>
          </a:p>
        </p:txBody>
      </p:sp>
      <p:sp>
        <p:nvSpPr>
          <p:cNvPr id="33" name="Shape 30"/>
          <p:cNvSpPr/>
          <p:nvPr/>
        </p:nvSpPr>
        <p:spPr>
          <a:xfrm>
            <a:off x="5935828" y="5733288"/>
            <a:ext cx="320040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6301588" y="5413248"/>
            <a:ext cx="2464994" cy="64008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301588" y="5413248"/>
            <a:ext cx="24649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角色回应</a:t>
            </a:r>
            <a:endParaRPr lang="en-US" sz="1900" dirty="0"/>
          </a:p>
        </p:txBody>
      </p:sp>
      <p:sp>
        <p:nvSpPr>
          <p:cNvPr id="36" name="Shape 33"/>
          <p:cNvSpPr/>
          <p:nvPr/>
        </p:nvSpPr>
        <p:spPr>
          <a:xfrm>
            <a:off x="8812301" y="5733288"/>
            <a:ext cx="320040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178061" y="5413248"/>
            <a:ext cx="2464994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78061" y="5413248"/>
            <a:ext cx="24649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观众反馈</a:t>
            </a:r>
            <a:endParaRPr lang="en-US" sz="1900" dirty="0"/>
          </a:p>
        </p:txBody>
      </p:sp>
      <p:sp>
        <p:nvSpPr>
          <p:cNvPr id="39" name="Shape 36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依据：商业计划书第 9、19 页；工程索引 [I1]–[I6]    仅为测试设计，尚无测评结果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团队介绍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九人按“一场节目”的生产流程分工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084168" y="14630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2459D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312768" y="15727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杨若朝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首席执行官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4312768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E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项目统筹与资源决策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8529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徐嘉盛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技术总监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模型、游戏与系统验收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24448" y="27432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53048" y="28529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姬祥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运营总监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553048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节目排期与团队协作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95848" y="2377440"/>
            <a:ext cx="0" cy="182880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14600" y="2560320"/>
            <a:ext cx="5775808" cy="0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14600" y="2560320"/>
            <a:ext cx="0" cy="182880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90408" y="2560320"/>
            <a:ext cx="0" cy="182880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40233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1330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李岱松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系统工程师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部署与工作台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51206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5230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肖鹏希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音频工程师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623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语音与声音效果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514600" y="3657600"/>
            <a:ext cx="0" cy="365760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37760" y="4023360"/>
            <a:ext cx="32154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166360" y="4133088"/>
            <a:ext cx="284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刘瑞麒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人格与内容负责人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5166360" y="4526280"/>
            <a:ext cx="284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角色表达与接梗企划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427568" y="4023360"/>
            <a:ext cx="32154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656168" y="4133088"/>
            <a:ext cx="284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张涵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市场与商务负责人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8656168" y="4526280"/>
            <a:ext cx="284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增长与品牌合作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937760" y="5120640"/>
            <a:ext cx="32154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166360" y="5230368"/>
            <a:ext cx="284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吴越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视觉美术负责人</a:t>
            </a:r>
            <a:endParaRPr lang="en-US" sz="1900" dirty="0"/>
          </a:p>
        </p:txBody>
      </p:sp>
      <p:sp>
        <p:nvSpPr>
          <p:cNvPr id="33" name="Text 30"/>
          <p:cNvSpPr txBox="1"/>
          <p:nvPr/>
        </p:nvSpPr>
        <p:spPr>
          <a:xfrm>
            <a:off x="5166360" y="5623560"/>
            <a:ext cx="284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原画与 Live2D 协作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427568" y="5120640"/>
            <a:ext cx="32154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56168" y="5230368"/>
            <a:ext cx="284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张乐溪  </a:t>
            </a:r>
            <a:pPr indent="0" marL="0">
              <a:buNone/>
            </a:pP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视频制作负责人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8656168" y="5623560"/>
            <a:ext cx="284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高光切片与系列包装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290408" y="3657600"/>
            <a:ext cx="0" cy="347472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依据：商业计划书第 10 页（计划岗位，正式任职另行确认）；主持人按场次轮值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商业模式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首年收入情景 6.17 万元，覆盖运营与履约支出的 98.6%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371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人机节目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103120" y="1563624"/>
            <a:ext cx="228600" cy="0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377440" y="1371600"/>
            <a:ext cx="2228850" cy="38404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377440" y="1371600"/>
            <a:ext cx="22288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 + 切片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652010" y="1563624"/>
            <a:ext cx="228600" cy="0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926330" y="1371600"/>
            <a:ext cx="1748790" cy="384048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926330" y="1371600"/>
            <a:ext cx="1748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观看与回访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720840" y="1563624"/>
            <a:ext cx="228600" cy="0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995160" y="137160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995160" y="1371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四类收入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549640" y="1563624"/>
            <a:ext cx="228600" cy="0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823960" y="1371600"/>
            <a:ext cx="1748790" cy="38404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823960" y="1371600"/>
            <a:ext cx="1748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再投入内容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首个完整运营年度 · 测算情景（元）</a:t>
            </a:r>
            <a:endParaRPr lang="en-US" sz="1600" dirty="0"/>
          </a:p>
        </p:txBody>
      </p:sp>
      <p:graphicFrame>
        <p:nvGraphicFramePr>
          <p:cNvPr id="20" name="收入构成与支出对比堆积条形图" descr=""/>
          <p:cNvGraphicFramePr/>
          <p:nvPr/>
        </p:nvGraphicFramePr>
        <p:xfrm>
          <a:off x="548640" y="2377440"/>
          <a:ext cx="73152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 385 会员月 × 50 元 · 合作 2 次 × 5,000 元 · 周边履约按销售额 70%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8229600" y="2057400"/>
            <a:ext cx="3413455" cy="877824"/>
          </a:xfrm>
          <a:prstGeom prst="roundRect">
            <a:avLst>
              <a:gd name="adj" fmla="val 8333"/>
            </a:avLst>
          </a:prstGeom>
          <a:solidFill>
            <a:srgbClr val="2459D6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430768" y="2130552"/>
            <a:ext cx="304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98.6%</a:t>
            </a:r>
            <a:endParaRPr lang="en-US" sz="2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2569464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E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运营履约覆盖率</a:t>
            </a:r>
            <a:pPr indent="0" marL="0">
              <a:buNone/>
            </a:pPr>
            <a:r>
              <a:rPr lang="en-US" sz="1200" dirty="0">
                <a:solidFill>
                  <a:srgbClr val="E8EE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61,650 ÷ 62,500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229600" y="3044952"/>
            <a:ext cx="3413455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430768" y="3118104"/>
            <a:ext cx="304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−850 元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557016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运营现金差额</a:t>
            </a:r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收入 − 运营与履约支出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8229600" y="4032504"/>
            <a:ext cx="3413455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430768" y="4105656"/>
            <a:ext cx="304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−25,850 元</a:t>
            </a:r>
            <a:endParaRPr lang="en-US" sz="2400" dirty="0"/>
          </a:p>
        </p:txBody>
      </p:sp>
      <p:sp>
        <p:nvSpPr>
          <p:cNvPr id="30" name="Text 26"/>
          <p:cNvSpPr txBox="1"/>
          <p:nvPr/>
        </p:nvSpPr>
        <p:spPr>
          <a:xfrm>
            <a:off x="8430768" y="4544568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含启动的年末缺口</a:t>
            </a:r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再减启动投入 25,000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8229600" y="5020056"/>
            <a:ext cx="3413455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430768" y="5093208"/>
            <a:ext cx="304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47,750 元</a:t>
            </a:r>
            <a:endParaRPr lang="en-US" sz="2400" dirty="0"/>
          </a:p>
        </p:txBody>
      </p:sp>
      <p:sp>
        <p:nvSpPr>
          <p:cNvPr id="33" name="Text 29"/>
          <p:cNvSpPr txBox="1"/>
          <p:nvPr/>
        </p:nvSpPr>
        <p:spPr>
          <a:xfrm>
            <a:off x="8430768" y="5532120"/>
            <a:ext cx="3047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累计最高垫付</a:t>
            </a:r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第 9 个月末，按季度推算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8229600" y="6044184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测算情景，非经营成绩；团队成员不领薪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</a:t>
            </a:r>
            <a:pPr indent="0" marL="0">
              <a:buNone/>
            </a:pPr>
            <a:r>
              <a:rPr lang="en-US" sz="1100" u="sng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[S9] 抖音直播行为规范</a:t>
            </a:r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依据：计划书第 11–16 页；公式见《预算测算明细-改稿v2.xlsx》</a:t>
            </a:r>
            <a:endParaRPr lang="en-US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市场战略规划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首阶段申请 4.62 万元，先完成形象、试播与观众验证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2459D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96596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人机节目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148840" y="1463040"/>
            <a:ext cx="1463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48840" y="15361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B站直播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1901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横屏 · 连载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 flipV="1">
            <a:off x="1801368" y="1865376"/>
            <a:ext cx="320040" cy="484632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639312" y="1865376"/>
            <a:ext cx="310896" cy="484632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148840" y="2377440"/>
            <a:ext cx="1463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48840" y="2450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抖音直播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148840" y="2816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竖屏 · 快速情境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801368" y="2350008"/>
            <a:ext cx="320040" cy="429768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 flipV="1">
            <a:off x="3639312" y="2350008"/>
            <a:ext cx="310896" cy="429768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977640" y="1828800"/>
            <a:ext cx="11430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069080" y="182880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切片与社群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 4–5 条，回流直播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 flipV="1">
            <a:off x="4549140" y="1508760"/>
            <a:ext cx="0" cy="320040"/>
          </a:xfrm>
          <a:prstGeom prst="line">
            <a:avLst/>
          </a:prstGeom>
          <a:noFill/>
          <a:ln w="19050">
            <a:solidFill>
              <a:srgbClr val="2459D6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 flipH="1">
            <a:off x="3657600" y="1508760"/>
            <a:ext cx="891540" cy="137160"/>
          </a:xfrm>
          <a:prstGeom prst="line">
            <a:avLst/>
          </a:prstGeom>
          <a:noFill/>
          <a:ln w="19050">
            <a:solidFill>
              <a:srgbClr val="2459D6"/>
            </a:solidFill>
            <a:prstDash val="dash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532120" y="1463040"/>
            <a:ext cx="291830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33288" y="1600200"/>
            <a:ext cx="2552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首阶段 · 1–6 月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733288" y="2011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733288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本次申请覆盖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733288" y="2395728"/>
            <a:ext cx="25525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形象交付 → 内部试播与接梗测试 → 观众验证 → 双平台开播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724748" y="1463040"/>
            <a:ext cx="291830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8925916" y="1600200"/>
            <a:ext cx="2552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下半年 · 7–12 月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8925916" y="2011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925916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依靠到账收入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925916" y="2395728"/>
            <a:ext cx="25525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固定栏目 → 会员测试 → 小批量周边 → 品牌样例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3337560"/>
            <a:ext cx="6110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进入下一阶段先看：稳定完成 · 记住角色与事件 · 主动回访 · 收入覆盖直接成本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首阶段申请支持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1148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46,200</a:t>
            </a:r>
            <a:pPr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元</a:t>
            </a:r>
            <a:endParaRPr lang="en-US" sz="54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12064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原方案 100,000 元，减少 53.8%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预测收入不计入资金来源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周边改预售，推广待回访达标后追加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5532120" y="3794760"/>
            <a:ext cx="6110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资金用途（元）</a:t>
            </a:r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语音云 6 个月 · 剪辑补贴半额 · 预备金 10%</a:t>
            </a:r>
            <a:endParaRPr lang="en-US" sz="1600" dirty="0"/>
          </a:p>
        </p:txBody>
      </p:sp>
      <p:graphicFrame>
        <p:nvGraphicFramePr>
          <p:cNvPr id="36" name="首阶段资金用途条形图" descr=""/>
          <p:cNvGraphicFramePr/>
          <p:nvPr/>
        </p:nvGraphicFramePr>
        <p:xfrm>
          <a:off x="5532120" y="4069080"/>
          <a:ext cx="6110935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Shape 3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</a:t>
            </a:r>
            <a:pPr indent="0" marL="0">
              <a:buNone/>
            </a:pPr>
            <a:r>
              <a:rPr lang="en-US" sz="1100" u="sng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[S8] 抖音开放平台直播 SDK</a:t>
            </a:r>
            <a:pPr indent="0" marL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依据：计划书第 16–19 页；重算见《预算测算明细-改稿v2.xlsx》第 5 表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pPr algn="r" indent="0" marL="0">
              <a:buNone/>
            </a:pP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潮生智能 · 姬岁歌人机共同直播（改稿v2）</dc:title>
  <dc:subject>PptxGenJS Presentation</dc:subject>
  <dc:creator>PptxGenJS</dc:creator>
  <cp:lastModifiedBy>PptxGenJS</cp:lastModifiedBy>
  <cp:revision>1</cp:revision>
  <dcterms:created xsi:type="dcterms:W3CDTF">2026-10-24T13:49:09Z</dcterms:created>
  <dcterms:modified xsi:type="dcterms:W3CDTF">2026-10-24T13:49:09Z</dcterms:modified>
</cp:coreProperties>
</file>