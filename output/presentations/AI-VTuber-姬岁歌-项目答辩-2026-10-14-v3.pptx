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5ee292f75ca4bc1" /><Relationship Type="http://schemas.openxmlformats.org/officeDocument/2006/relationships/extended-properties" Target="/docProps/app.xml" Id="Rd4cf9c08bbd04cd2" /><Relationship Type="http://schemas.openxmlformats.org/officeDocument/2006/relationships/officeDocument" Target="/ppt/presentation.xml" Id="R1cdbf783b88641a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3db32f1f615460d"/>
  </p:sldMasterIdLst>
  <p:notesMasterIdLst>
    <p:notesMasterId xmlns:r="http://schemas.openxmlformats.org/officeDocument/2006/relationships" r:id="Rab753b34bd324632"/>
  </p:notesMasterIdLst>
  <p:sldIdLst>
    <p:sldId xmlns:r="http://schemas.openxmlformats.org/officeDocument/2006/relationships" id="256" r:id="Ra34dcf8d78b64fc3"/>
    <p:sldId xmlns:r="http://schemas.openxmlformats.org/officeDocument/2006/relationships" id="257" r:id="Rc4d6874baa0546a6"/>
    <p:sldId xmlns:r="http://schemas.openxmlformats.org/officeDocument/2006/relationships" id="258" r:id="R7b20fdc946ee4b0a"/>
    <p:sldId xmlns:r="http://schemas.openxmlformats.org/officeDocument/2006/relationships" id="259" r:id="R85acf5c219384f73"/>
    <p:sldId xmlns:r="http://schemas.openxmlformats.org/officeDocument/2006/relationships" id="260" r:id="R98f35c3b8d234302"/>
    <p:sldId xmlns:r="http://schemas.openxmlformats.org/officeDocument/2006/relationships" id="261" r:id="Ra122f0dc4216418a"/>
    <p:sldId xmlns:r="http://schemas.openxmlformats.org/officeDocument/2006/relationships" id="262" r:id="Rddd3950cdb534e6d"/>
    <p:sldId xmlns:r="http://schemas.openxmlformats.org/officeDocument/2006/relationships" id="263" r:id="R63a4e5e8f28543ad"/>
    <p:sldId xmlns:r="http://schemas.openxmlformats.org/officeDocument/2006/relationships" id="264" r:id="R8f2939bdd4744817"/>
    <p:sldId xmlns:r="http://schemas.openxmlformats.org/officeDocument/2006/relationships" id="265" r:id="R88d8956b8c6547e0"/>
    <p:sldId xmlns:r="http://schemas.openxmlformats.org/officeDocument/2006/relationships" id="266" r:id="Ra1a69bf0d947498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5b769fdcc8d493d" /><Relationship Type="http://schemas.openxmlformats.org/officeDocument/2006/relationships/slideMaster" Target="/ppt/slideMasters/slideMaster1.xml" Id="Ra3db32f1f615460d" /><Relationship Type="http://schemas.openxmlformats.org/officeDocument/2006/relationships/notesMaster" Target="/ppt/notesMasters/notesMaster1.xml" Id="Rab753b34bd324632" /><Relationship Type="http://schemas.openxmlformats.org/officeDocument/2006/relationships/presProps" Target="/ppt/presProps.xml" Id="R97954421f7174d2b" /><Relationship Type="http://schemas.openxmlformats.org/officeDocument/2006/relationships/tableStyles" Target="/ppt/tableStyles.xml" Id="R3b5273f71f5a4cc5" /><Relationship Type="http://schemas.openxmlformats.org/officeDocument/2006/relationships/slide" Target="/ppt/slides/slide1.xml" Id="Ra34dcf8d78b64fc3" /><Relationship Type="http://schemas.openxmlformats.org/officeDocument/2006/relationships/slide" Target="/ppt/slides/slide2.xml" Id="Rc4d6874baa0546a6" /><Relationship Type="http://schemas.openxmlformats.org/officeDocument/2006/relationships/slide" Target="/ppt/slides/slide3.xml" Id="R7b20fdc946ee4b0a" /><Relationship Type="http://schemas.openxmlformats.org/officeDocument/2006/relationships/slide" Target="/ppt/slides/slide4.xml" Id="R85acf5c219384f73" /><Relationship Type="http://schemas.openxmlformats.org/officeDocument/2006/relationships/slide" Target="/ppt/slides/slide5.xml" Id="R98f35c3b8d234302" /><Relationship Type="http://schemas.openxmlformats.org/officeDocument/2006/relationships/slide" Target="/ppt/slides/slide6.xml" Id="Ra122f0dc4216418a" /><Relationship Type="http://schemas.openxmlformats.org/officeDocument/2006/relationships/slide" Target="/ppt/slides/slide7.xml" Id="Rddd3950cdb534e6d" /><Relationship Type="http://schemas.openxmlformats.org/officeDocument/2006/relationships/slide" Target="/ppt/slides/slide8.xml" Id="R63a4e5e8f28543ad" /><Relationship Type="http://schemas.openxmlformats.org/officeDocument/2006/relationships/slide" Target="/ppt/slides/slide9.xml" Id="R8f2939bdd4744817" /><Relationship Type="http://schemas.openxmlformats.org/officeDocument/2006/relationships/slide" Target="/ppt/slides/slide10.xml" Id="R88d8956b8c6547e0" /><Relationship Type="http://schemas.openxmlformats.org/officeDocument/2006/relationships/slide" Target="/ppt/slides/slide11.xml" Id="Ra1a69bf0d947498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2d6c89e7a2b441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7ea9a3fb6404af8" /><Relationship Type="http://schemas.openxmlformats.org/officeDocument/2006/relationships/notesMaster" Target="/ppt/notesMasters/notesMaster1.xml" Id="R522db4c6903b4ab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e28f79c53564bfe" /><Relationship Type="http://schemas.openxmlformats.org/officeDocument/2006/relationships/notesMaster" Target="/ppt/notesMasters/notesMaster1.xml" Id="Rcd8e38ed463d463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938793ea6d6426d" /><Relationship Type="http://schemas.openxmlformats.org/officeDocument/2006/relationships/notesMaster" Target="/ppt/notesMasters/notesMaster1.xml" Id="R18d09b804d0c4c1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4e17f864e484a67" /><Relationship Type="http://schemas.openxmlformats.org/officeDocument/2006/relationships/notesMaster" Target="/ppt/notesMasters/notesMaster1.xml" Id="R014cfc015dfe43b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c1b33938b634b0e" /><Relationship Type="http://schemas.openxmlformats.org/officeDocument/2006/relationships/notesMaster" Target="/ppt/notesMasters/notesMaster1.xml" Id="R7a0373fc1c314be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a81819b204c47c9" /><Relationship Type="http://schemas.openxmlformats.org/officeDocument/2006/relationships/notesMaster" Target="/ppt/notesMasters/notesMaster1.xml" Id="R9ee30563e50d48d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835988ce34843b4" /><Relationship Type="http://schemas.openxmlformats.org/officeDocument/2006/relationships/notesMaster" Target="/ppt/notesMasters/notesMaster1.xml" Id="R1d90c339f2d344d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94d7f7d304f484c" /><Relationship Type="http://schemas.openxmlformats.org/officeDocument/2006/relationships/notesMaster" Target="/ppt/notesMasters/notesMaster1.xml" Id="R308c3c26299d4b9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c8d74cf76f14e11" /><Relationship Type="http://schemas.openxmlformats.org/officeDocument/2006/relationships/notesMaster" Target="/ppt/notesMasters/notesMaster1.xml" Id="R4f6ab3a1789a485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6f31ede108c4f4e" /><Relationship Type="http://schemas.openxmlformats.org/officeDocument/2006/relationships/notesMaster" Target="/ppt/notesMasters/notesMaster1.xml" Id="R9c5887d00ca84b8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555e0a50ca74b6c" /><Relationship Type="http://schemas.openxmlformats.org/officeDocument/2006/relationships/notesMaster" Target="/ppt/notesMasters/notesMaster1.xml" Id="Ree1e21e7a5dc4e0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来源：README.md；PROJECT_HANDOFF.md；docs/design/姬岁歌-画师交接稿-2026-10-04.docx。封面概念稿不是已授权的正式角色原画。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来源：output/minecraft-demo/integrated-live-final.jpg；README.md；PROJECT_HANDOFF.md。截图只能证明演示界面和局部联调，不代表平台直播正式上线。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来源：PROJECT_HANDOFF.md 第 3、4、6 节；README.md 已实现和导演工作台；docs/realtime-ai-vtuber-architecture-v1.md。该图为源码模块关系概括，方框和文字可编辑。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来源：PROJECT_HANDOFF.md 第 4 节；docs/emotion-and-personality-engine.md；本机 studio.html 大脑诊断页截图，2026-10-14。双人格独立训练仍为目标架构。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来源：README.md；PROJECT_HANDOFF.md；docs/persona/希儿与洛天依融合主播人设-2026-09-29.md；docs/persona/姬岁歌-岁人格设定.md；docs/persona/姬岁歌-歌人格设定.md。不得将故事里的意识设定写为现实系统能力。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来源：README.md 已实现、OBS 使用；PROJECT_HANDOFF.md 第 5、6 节；output/minecraft-demo/audio-routing-panel.jpg。截图使用临时 Live2D 模型。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来源：docs/minecraft-local-qwen-training-results-20261013.md；docs/minecraft-live-v2-acceptance.md；output/minecraft-demo/qwen-goal-review.jpg。模型决策、执行器技能和安全反射必须分开归因。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来源：README.md 导演工作台、OBS 使用、B站边界；PROJECT_HANDOFF.md 平台与集成状态；本机 studio.html 直播运行页截图，2026-10-14。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来源：docs/minecraft-local-qwen-training-results-20261013.md。57 个开发输入上两版 schema 有效率均 57/57，动作可接受为 v4r1 20/57、v6r1 24/57；但 v6r1 因关键材料与阶段回退被拒绝部署。开发集分数不能代表完整自主游戏表现。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来源：PROJECT_HANDOFF.md 第 6、7 节；.env.example。硬件为项目文档记录，目标机器需核实当前服务与权重路径。该部署结构为可编辑原生图。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来源：README.md；PROJECT_HANDOFF.md；docs/minecraft-local-qwen-training-results-20261013.md；docs/minecraft-live-v2-acceptance.md。正式原画、授权、双人格独立训练和歌唱仍待补齐。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b89d952a894ea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6a8d9d522d472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7ecf45ab2ff404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db95d5f6ad0404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4f988e6eb1461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7af0ef04cb4f3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5BB0D87-FD58-4057-B727-18EFB986AFB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BEDAE75-6AD0-451F-BF11-35B73E9FAB8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ABFB4D7-920B-41C8-B8D2-4024150BF3A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1EDEFEE-6074-41C8-8A08-5A1E5BD4598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2009535-47B0-4E6B-859A-377BC56B075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662F2AE-BEDB-4668-A367-22266EB385D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AE796CC-85D7-4903-8AC7-1F3BD1132AE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8B437DC-2E95-4C7E-82AD-E43DD812692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5A4ABE4-8AE3-4CE6-B0CC-FCAEF9F9B21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5CE5E03-0088-492B-B19C-61BC016FA86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20d2c3069944044" /><Relationship Type="http://schemas.openxmlformats.org/officeDocument/2006/relationships/slideLayout" Target="/ppt/slideLayouts/slideLayout1.xml" Id="R2ef9ca7125f84769" /><Relationship Type="http://schemas.openxmlformats.org/officeDocument/2006/relationships/slideLayout" Target="/ppt/slideLayouts/slideLayout2.xml" Id="Ra790c43869f84f77" /><Relationship Type="http://schemas.openxmlformats.org/officeDocument/2006/relationships/slideLayout" Target="/ppt/slideLayouts/slideLayout3.xml" Id="R8469f34e74484ccc" /><Relationship Type="http://schemas.openxmlformats.org/officeDocument/2006/relationships/slideLayout" Target="/ppt/slideLayouts/slideLayout4.xml" Id="R2c0d9d4bd89a400a" /><Relationship Type="http://schemas.openxmlformats.org/officeDocument/2006/relationships/slideLayout" Target="/ppt/slideLayouts/slideLayout5.xml" Id="Rec4caf052b764a69" /><Relationship Type="http://schemas.openxmlformats.org/officeDocument/2006/relationships/slideLayout" Target="/ppt/slideLayouts/slideLayout6.xml" Id="R2c8776c9297b43f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ef9ca7125f84769"/>
    <p:sldLayoutId xmlns:r="http://schemas.openxmlformats.org/officeDocument/2006/relationships" id="2147483650" r:id="Ra790c43869f84f77"/>
    <p:sldLayoutId xmlns:r="http://schemas.openxmlformats.org/officeDocument/2006/relationships" id="2147483651" r:id="R8469f34e74484ccc"/>
    <p:sldLayoutId xmlns:r="http://schemas.openxmlformats.org/officeDocument/2006/relationships" id="2147483652" r:id="R2c0d9d4bd89a400a"/>
    <p:sldLayoutId xmlns:r="http://schemas.openxmlformats.org/officeDocument/2006/relationships" id="2147483653" r:id="Rec4caf052b764a69"/>
    <p:sldLayoutId xmlns:r="http://schemas.openxmlformats.org/officeDocument/2006/relationships" id="2147483654" r:id="R2c8776c9297b43f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0fdbfaa23cb416b" /><Relationship Type="http://schemas.openxmlformats.org/officeDocument/2006/relationships/image" Target="/ppt/media/image.png" Id="R2f119e7b0bf7474d" /><Relationship Type="http://schemas.openxmlformats.org/officeDocument/2006/relationships/notesSlide" Target="/ppt/notesSlides/notesSlide1.xml" Id="R5a3babdb8ba14f1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fb336a2a21c4e3e" /><Relationship Type="http://schemas.openxmlformats.org/officeDocument/2006/relationships/image" Target="/ppt/media/image2.png" Id="Rabcbd2a9a2824e4d" /><Relationship Type="http://schemas.openxmlformats.org/officeDocument/2006/relationships/notesSlide" Target="/ppt/notesSlides/notesSlide2.xml" Id="R6750f77ee7e14d0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0ccb123c4d04017" /><Relationship Type="http://schemas.openxmlformats.org/officeDocument/2006/relationships/notesSlide" Target="/ppt/notesSlides/notesSlide3.xml" Id="R87143d736cb84b5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1e33b09e2d144c2" /><Relationship Type="http://schemas.openxmlformats.org/officeDocument/2006/relationships/image" Target="/ppt/media/image3.png" Id="Rbaf782007a3341cd" /><Relationship Type="http://schemas.openxmlformats.org/officeDocument/2006/relationships/notesSlide" Target="/ppt/notesSlides/notesSlide4.xml" Id="R2c60aa82db3f4f8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f69c34dafbc4fa8" /><Relationship Type="http://schemas.openxmlformats.org/officeDocument/2006/relationships/notesSlide" Target="/ppt/notesSlides/notesSlide5.xml" Id="Rd1e75000c156453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6921ff29b6d4df8" /><Relationship Type="http://schemas.openxmlformats.org/officeDocument/2006/relationships/image" Target="/ppt/media/image4.png" Id="Re30de8086231459a" /><Relationship Type="http://schemas.openxmlformats.org/officeDocument/2006/relationships/notesSlide" Target="/ppt/notesSlides/notesSlide6.xml" Id="Rb791efcc5c0f4cb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95db775e0b24587" /><Relationship Type="http://schemas.openxmlformats.org/officeDocument/2006/relationships/image" Target="/ppt/media/image5.png" Id="R92aed129d4c745c2" /><Relationship Type="http://schemas.openxmlformats.org/officeDocument/2006/relationships/notesSlide" Target="/ppt/notesSlides/notesSlide7.xml" Id="R9106118b476e4d4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7460b154d6749d1" /><Relationship Type="http://schemas.openxmlformats.org/officeDocument/2006/relationships/image" Target="/ppt/media/image6.png" Id="R7762ab56d6b94911" /><Relationship Type="http://schemas.openxmlformats.org/officeDocument/2006/relationships/notesSlide" Target="/ppt/notesSlides/notesSlide8.xml" Id="R33330c862d18479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91e9b07f04e4073" /><Relationship Type="http://schemas.openxmlformats.org/officeDocument/2006/relationships/notesSlide" Target="/ppt/notesSlides/notesSlide9.xml" Id="R03fcc5c6b8ea449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8a59fb70e014ca4" /><Relationship Type="http://schemas.openxmlformats.org/officeDocument/2006/relationships/notesSlide" Target="/ppt/notesSlides/notesSlide10.xml" Id="Rff832a5b621242b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c1d88d1a1dd489a" /><Relationship Type="http://schemas.openxmlformats.org/officeDocument/2006/relationships/notesSlide" Target="/ppt/notesSlides/notesSlide11.xml" Id="Re13629703e92427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DF6106-53D8-4E21-A10E-68BDFA2DC18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119e7b0bf7474d"/>
          <a:stretch xmlns:a="http://schemas.openxmlformats.org/drawingml/2006/main"/>
        </p:blipFill>
        <p:spPr>
          <a:xfrm xmlns:a="http://schemas.openxmlformats.org/drawingml/2006/main">
            <a:off x="0" y="239290"/>
            <a:ext cx="6096000" cy="6379419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20C075-CF5F-4A4B-BEBB-40D69E256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838200"/>
            <a:ext cx="466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A73E3C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A73E3C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A73E3C"/>
                </a:solidFill>
                <a:latin typeface="Noto Sans SC"/>
                <a:ea typeface="Noto Sans SC"/>
                <a:cs typeface="Noto Sans SC"/>
              </a:rPr>
              <a:t>AI VTUBER  /  项目答辩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092A64-9E5F-4797-A127-1F44679CC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05000"/>
            <a:ext cx="5048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5400" b="1">
                <a:solidFill>
                  <a:srgbClr val="14161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5400" b="1">
                <a:solidFill>
                  <a:srgbClr val="14161A"/>
                </a:solidFill>
                <a:latin typeface="Noto Sans SC"/>
                <a:ea typeface="Noto Sans SC"/>
                <a:cs typeface="Noto Sans SC"/>
              </a:defRPr>
            </a:pPr>
            <a:r>
              <a:rPr sz="5400" b="1">
                <a:solidFill>
                  <a:srgbClr val="14161A"/>
                </a:solidFill>
                <a:latin typeface="Noto Sans SC"/>
                <a:ea typeface="Noto Sans SC"/>
                <a:cs typeface="Noto Sans SC"/>
              </a:rPr>
              <a:t>姬岁歌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23C0C7-8379-48A5-873E-2EF676D7F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076575"/>
            <a:ext cx="4905375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325" b="1">
                <a:solidFill>
                  <a:srgbClr val="14161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14161A"/>
                </a:solidFill>
                <a:latin typeface="Noto Sans SC"/>
                <a:ea typeface="Noto Sans SC"/>
                <a:cs typeface="Noto Sans SC"/>
              </a:defRPr>
            </a:pPr>
            <a:r>
              <a:rPr sz="2325" b="1">
                <a:solidFill>
                  <a:srgbClr val="14161A"/>
                </a:solidFill>
                <a:latin typeface="Noto Sans SC"/>
                <a:ea typeface="Noto Sans SC"/>
                <a:cs typeface="Noto Sans SC"/>
              </a:rPr>
              <a:t>让角色记住经历，</a:t>
            </a:r>
          </a:p>
          <a:p xmlns:a="http://schemas.openxmlformats.org/drawingml/2006/main">
            <a:pPr algn="l">
              <a:defRPr sz="2325" b="1">
                <a:solidFill>
                  <a:srgbClr val="14161A"/>
                </a:solidFill>
                <a:latin typeface="Noto Sans SC"/>
                <a:ea typeface="Noto Sans SC"/>
                <a:cs typeface="Noto Sans SC"/>
              </a:defRPr>
            </a:pPr>
            <a:r>
              <a:rPr sz="2325" b="1">
                <a:solidFill>
                  <a:srgbClr val="14161A"/>
                </a:solidFill>
                <a:latin typeface="Noto Sans SC"/>
                <a:ea typeface="Noto Sans SC"/>
                <a:cs typeface="Noto Sans SC"/>
              </a:rPr>
              <a:t>在游戏直播中持续回应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7B568D-0E21-4D6F-B5C9-F0E6C0573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095875"/>
            <a:ext cx="4857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5A5D61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A5D61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0">
                <a:solidFill>
                  <a:srgbClr val="5A5D61"/>
                </a:solidFill>
                <a:latin typeface="Noto Sans SC"/>
                <a:ea typeface="Noto Sans SC"/>
                <a:cs typeface="Noto Sans SC"/>
              </a:rPr>
              <a:t>人格与记忆 · 本地语音 · Live2D · 游戏视觉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0BEFA3-4613-465D-8BE2-2BE0DF950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6315075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5A5D61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A5D61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5A5D61"/>
                </a:solidFill>
                <a:latin typeface="Noto Sans SC"/>
                <a:ea typeface="Noto Sans SC"/>
                <a:cs typeface="Noto Sans SC"/>
              </a:rPr>
              <a:t>角色图为画师交接概念稿，正式原画与 Live2D 形象待定</a:t>
            </a:r>
          </a:p>
        </p:txBody>
      </p:sp>
    </p:spTree>
    <p:extLst>
      <p:ext uri="{BB962C8B-B14F-4D97-AF65-F5344CB8AC3E}">
        <p14:creationId xmlns:p14="http://schemas.microsoft.com/office/powerpoint/2010/main" val="13442802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E11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4D043C-A4FB-4408-AEEC-9E1E653A2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B58D52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B58D52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>
                <a:solidFill>
                  <a:srgbClr val="B58D52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691818-A19E-4D89-8ECE-75DB2099C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700" b="1">
                <a:solidFill>
                  <a:srgbClr val="F7F4EC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F7F4EC"/>
                </a:solidFill>
                <a:latin typeface="Noto Sans SC"/>
                <a:ea typeface="Noto Sans SC"/>
                <a:cs typeface="Noto Sans SC"/>
              </a:defRPr>
            </a:pPr>
            <a:r>
              <a:rPr sz="2700" b="1">
                <a:solidFill>
                  <a:srgbClr val="F7F4EC"/>
                </a:solidFill>
                <a:latin typeface="Noto Sans SC"/>
                <a:ea typeface="Noto Sans SC"/>
                <a:cs typeface="Noto Sans SC"/>
              </a:rPr>
              <a:t>现在已经能看到一场游戏直播的雏形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304B4F-FD84-4ED7-97CF-340196C48A7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cbd2a9a2824e4d"/>
          <a:stretch xmlns:a="http://schemas.openxmlformats.org/drawingml/2006/main"/>
        </p:blipFill>
        <p:spPr>
          <a:xfrm xmlns:a="http://schemas.openxmlformats.org/drawingml/2006/main">
            <a:off x="609966" y="1562100"/>
            <a:ext cx="10953017" cy="471487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332FD2-DC4F-4A85-B11D-80E3E0462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DFD8C9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DFD8C9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DFD8C9"/>
                </a:solidFill>
                <a:latin typeface="Noto Sans SC"/>
                <a:ea typeface="Noto Sans SC"/>
                <a:cs typeface="Noto Sans SC"/>
              </a:rPr>
              <a:t>本机 Minecraft 联调截图。画面中的 Live2D 是临时模型，姬岁歌正式形象尚未接入</a:t>
            </a:r>
          </a:p>
        </p:txBody>
      </p:sp>
    </p:spTree>
    <p:extLst>
      <p:ext uri="{BB962C8B-B14F-4D97-AF65-F5344CB8AC3E}">
        <p14:creationId xmlns:p14="http://schemas.microsoft.com/office/powerpoint/2010/main" val="179766202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60E54B4-4D5F-4E11-BC97-9F3A16A81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A73E3C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A73E3C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>
                <a:solidFill>
                  <a:srgbClr val="A73E3C"/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73E772-3B29-4D91-99CF-CED68BCFF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700" b="1">
                <a:solidFill>
                  <a:srgbClr val="14161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161A"/>
                </a:solidFill>
                <a:latin typeface="Noto Sans SC"/>
                <a:ea typeface="Noto Sans SC"/>
                <a:cs typeface="Noto Sans SC"/>
              </a:defRPr>
            </a:pPr>
            <a:r>
              <a:rPr sz="2700" b="1">
                <a:solidFill>
                  <a:srgbClr val="14161A"/>
                </a:solidFill>
                <a:latin typeface="Noto Sans SC"/>
                <a:ea typeface="Noto Sans SC"/>
                <a:cs typeface="Noto Sans SC"/>
              </a:rPr>
              <a:t>从输入到直播输出的实时闭环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66590A-109D-48A2-9C4A-A986CC805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20383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D8C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6568F6-3705-462B-92D8-385E88538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38400"/>
            <a:ext cx="95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A73E3C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A73E3C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1">
                <a:solidFill>
                  <a:srgbClr val="A73E3C"/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8E55A9-D177-402A-8383-23C1969FE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00375"/>
            <a:ext cx="16573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14161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4161A"/>
                </a:solidFill>
                <a:latin typeface="Noto Sans SC"/>
                <a:ea typeface="Noto Sans SC"/>
                <a:cs typeface="Noto Sans SC"/>
              </a:defRPr>
            </a:pPr>
            <a:r>
              <a:rPr sz="2175" b="1">
                <a:solidFill>
                  <a:srgbClr val="14161A"/>
                </a:solidFill>
                <a:latin typeface="Noto Sans SC"/>
                <a:ea typeface="Noto Sans SC"/>
                <a:cs typeface="Noto Sans SC"/>
              </a:rPr>
              <a:t>观众与游戏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2DC6CF-3B96-4430-AA97-573D17959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38575"/>
            <a:ext cx="16573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A5D61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A5D61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5A5D61"/>
                </a:solidFill>
                <a:latin typeface="Noto Sans SC"/>
                <a:ea typeface="Noto Sans SC"/>
                <a:cs typeface="Noto Sans SC"/>
              </a:rPr>
              <a:t>弹幕、语音、游戏状态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9A8ACA-14F5-41DF-917D-646971928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2238375"/>
            <a:ext cx="20383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D8C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0066E4-9038-44DB-9064-F14EEAAD6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2438400"/>
            <a:ext cx="95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A73E3C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A73E3C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1">
                <a:solidFill>
                  <a:srgbClr val="A73E3C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296B04-C5ED-4B94-A273-41AA7E321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3000375"/>
            <a:ext cx="16573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14161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4161A"/>
                </a:solidFill>
                <a:latin typeface="Noto Sans SC"/>
                <a:ea typeface="Noto Sans SC"/>
                <a:cs typeface="Noto Sans SC"/>
              </a:defRPr>
            </a:pPr>
            <a:r>
              <a:rPr sz="2175" b="1">
                <a:solidFill>
                  <a:srgbClr val="14161A"/>
                </a:solidFill>
                <a:latin typeface="Noto Sans SC"/>
                <a:ea typeface="Noto Sans SC"/>
                <a:cs typeface="Noto Sans SC"/>
              </a:rPr>
              <a:t>运行协调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019E33-8E7E-474A-A616-651DEE669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3838575"/>
            <a:ext cx="16573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A5D61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A5D61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5A5D61"/>
                </a:solidFill>
                <a:latin typeface="Noto Sans SC"/>
                <a:ea typeface="Noto Sans SC"/>
                <a:cs typeface="Noto Sans SC"/>
              </a:rPr>
              <a:t>事件排序、取消、调度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619A63-04CC-4CEC-9DC7-7323F945B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238375"/>
            <a:ext cx="20383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D8C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A09834-FB0A-460C-83A7-597C0E07D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438400"/>
            <a:ext cx="95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A73E3C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A73E3C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1">
                <a:solidFill>
                  <a:srgbClr val="A73E3C"/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3C7D17-D8A1-461A-B237-D4BCB5A7F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000375"/>
            <a:ext cx="16573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14161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4161A"/>
                </a:solidFill>
                <a:latin typeface="Noto Sans SC"/>
                <a:ea typeface="Noto Sans SC"/>
                <a:cs typeface="Noto Sans SC"/>
              </a:defRPr>
            </a:pPr>
            <a:r>
              <a:rPr sz="2175" b="1">
                <a:solidFill>
                  <a:srgbClr val="14161A"/>
                </a:solidFill>
                <a:latin typeface="Noto Sans SC"/>
                <a:ea typeface="Noto Sans SC"/>
                <a:cs typeface="Noto Sans SC"/>
              </a:rPr>
              <a:t>角色大脑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AA5DBB-326E-4958-8B82-ADD64C9DC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838575"/>
            <a:ext cx="16573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A5D61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A5D61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5A5D61"/>
                </a:solidFill>
                <a:latin typeface="Noto Sans SC"/>
                <a:ea typeface="Noto Sans SC"/>
                <a:cs typeface="Noto Sans SC"/>
              </a:rPr>
              <a:t>人格、情绪、记忆检索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ADE41A-B0D2-49AA-A73E-218B85F2B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2238375"/>
            <a:ext cx="20383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D8C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E80DC5-9E15-4CFF-BAB6-8CDBF2180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2438400"/>
            <a:ext cx="95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A73E3C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A73E3C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1">
                <a:solidFill>
                  <a:srgbClr val="A73E3C"/>
                </a:solidFill>
                <a:latin typeface="Noto Sans SC"/>
                <a:ea typeface="Noto Sans SC"/>
                <a:cs typeface="Noto Sans SC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F624F6-BAA7-4148-AB21-0707FB657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3000375"/>
            <a:ext cx="16573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14161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4161A"/>
                </a:solidFill>
                <a:latin typeface="Noto Sans SC"/>
                <a:ea typeface="Noto Sans SC"/>
                <a:cs typeface="Noto Sans SC"/>
              </a:defRPr>
            </a:pPr>
            <a:r>
              <a:rPr sz="2175" b="1">
                <a:solidFill>
                  <a:srgbClr val="14161A"/>
                </a:solidFill>
                <a:latin typeface="Noto Sans SC"/>
                <a:ea typeface="Noto Sans SC"/>
                <a:cs typeface="Noto Sans SC"/>
              </a:rPr>
              <a:t>模型决策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0A5575-4116-4B5B-B865-C87C4C9A1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3838575"/>
            <a:ext cx="16573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A5D61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A5D61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5A5D61"/>
                </a:solidFill>
                <a:latin typeface="Noto Sans SC"/>
                <a:ea typeface="Noto Sans SC"/>
                <a:cs typeface="Noto Sans SC"/>
              </a:rPr>
              <a:t>本地 Qwen 或兼容接口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4E9099-2626-4872-A85E-96ED71BAA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238375"/>
            <a:ext cx="20383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D8C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2AD41A1-2F2B-4E33-84DF-ADE89E9FB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438400"/>
            <a:ext cx="95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A73E3C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A73E3C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1">
                <a:solidFill>
                  <a:srgbClr val="A73E3C"/>
                </a:solidFill>
                <a:latin typeface="Noto Sans SC"/>
                <a:ea typeface="Noto Sans SC"/>
                <a:cs typeface="Noto Sans SC"/>
              </a:rPr>
              <a:t>05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2AB425-3148-4B6E-A2C7-835F6BAF1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000375"/>
            <a:ext cx="16573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14161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4161A"/>
                </a:solidFill>
                <a:latin typeface="Noto Sans SC"/>
                <a:ea typeface="Noto Sans SC"/>
                <a:cs typeface="Noto Sans SC"/>
              </a:defRPr>
            </a:pPr>
            <a:r>
              <a:rPr sz="2175" b="1">
                <a:solidFill>
                  <a:srgbClr val="14161A"/>
                </a:solidFill>
                <a:latin typeface="Noto Sans SC"/>
                <a:ea typeface="Noto Sans SC"/>
                <a:cs typeface="Noto Sans SC"/>
              </a:rPr>
              <a:t>直播呈现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339441-1EAC-41CE-B92F-1706512FF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838575"/>
            <a:ext cx="16573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A5D61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A5D61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5A5D61"/>
                </a:solidFill>
                <a:latin typeface="Noto Sans SC"/>
                <a:ea typeface="Noto Sans SC"/>
                <a:cs typeface="Noto Sans SC"/>
              </a:rPr>
              <a:t>语音、字幕、Live2D、OBS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6285163-9772-4A77-8C60-651ED1E92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147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A73E3C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A73E3C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1">
                <a:solidFill>
                  <a:srgbClr val="A73E3C"/>
                </a:solidFill>
                <a:latin typeface="Noto Sans SC"/>
                <a:ea typeface="Noto Sans SC"/>
                <a:cs typeface="Noto Sans SC"/>
              </a:rPr>
              <a:t>旁路控制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8999C0A-32EF-4BA5-8CC9-EE7EFD229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238750"/>
            <a:ext cx="9182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14161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161A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14161A"/>
                </a:solidFill>
                <a:latin typeface="Noto Sans SC"/>
                <a:ea typeface="Noto Sans SC"/>
                <a:cs typeface="Noto Sans SC"/>
              </a:rPr>
              <a:t>导演工作台可查看状态、审核记忆、介入任务；异常时允许取消或降级。</a:t>
            </a:r>
          </a:p>
        </p:txBody>
      </p:sp>
    </p:spTree>
    <p:extLst>
      <p:ext uri="{BB962C8B-B14F-4D97-AF65-F5344CB8AC3E}">
        <p14:creationId xmlns:p14="http://schemas.microsoft.com/office/powerpoint/2010/main" val="25518280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E11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E99D0C-545F-4B7A-9741-4A291440B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B58D52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B58D52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>
                <a:solidFill>
                  <a:srgbClr val="B58D52"/>
                </a:solidFill>
                <a:latin typeface="Noto Sans SC"/>
                <a:ea typeface="Noto Sans SC"/>
                <a:cs typeface="Noto Sans SC"/>
              </a:rPr>
              <a:t>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B0B0C7-4ED9-4CEB-B586-8BF17A4C7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700" b="1">
                <a:solidFill>
                  <a:srgbClr val="F7F4EC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F7F4EC"/>
                </a:solidFill>
                <a:latin typeface="Noto Sans SC"/>
                <a:ea typeface="Noto Sans SC"/>
                <a:cs typeface="Noto Sans SC"/>
              </a:defRPr>
            </a:pPr>
            <a:r>
              <a:rPr sz="2700" b="1">
                <a:solidFill>
                  <a:srgbClr val="F7F4EC"/>
                </a:solidFill>
                <a:latin typeface="Noto Sans SC"/>
                <a:ea typeface="Noto Sans SC"/>
                <a:cs typeface="Noto Sans SC"/>
              </a:rPr>
              <a:t>人格的稳定性来自状态与记忆分层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AF7911-7009-4C9E-8E5C-705EF8723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00250"/>
            <a:ext cx="233362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6525" b="1">
                <a:solidFill>
                  <a:srgbClr val="B58D52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6525" b="1">
                <a:solidFill>
                  <a:srgbClr val="B58D52"/>
                </a:solidFill>
                <a:latin typeface="Noto Sans SC"/>
                <a:ea typeface="Noto Sans SC"/>
                <a:cs typeface="Noto Sans SC"/>
              </a:defRPr>
            </a:pPr>
            <a:r>
              <a:rPr sz="6525" b="1">
                <a:solidFill>
                  <a:srgbClr val="B58D52"/>
                </a:solidFill>
                <a:latin typeface="Noto Sans SC"/>
                <a:ea typeface="Noto Sans SC"/>
                <a:cs typeface="Noto Sans SC"/>
              </a:rPr>
              <a:t>34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0148F0-6517-438A-9B58-AE5062E28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228975"/>
            <a:ext cx="2619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F7F4EC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F7F4EC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F7F4EC"/>
                </a:solidFill>
                <a:latin typeface="Noto Sans SC"/>
                <a:ea typeface="Noto Sans SC"/>
                <a:cs typeface="Noto Sans SC"/>
              </a:rPr>
              <a:t>稳定人格维度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CB97ED-E175-49D2-ABAA-BA1AE6506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000250"/>
            <a:ext cx="233362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6525" b="1">
                <a:solidFill>
                  <a:srgbClr val="B58D52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6525" b="1">
                <a:solidFill>
                  <a:srgbClr val="B58D52"/>
                </a:solidFill>
                <a:latin typeface="Noto Sans SC"/>
                <a:ea typeface="Noto Sans SC"/>
                <a:cs typeface="Noto Sans SC"/>
              </a:defRPr>
            </a:pPr>
            <a:r>
              <a:rPr sz="6525" b="1">
                <a:solidFill>
                  <a:srgbClr val="B58D52"/>
                </a:solidFill>
                <a:latin typeface="Noto Sans SC"/>
                <a:ea typeface="Noto Sans SC"/>
                <a:cs typeface="Noto Sans SC"/>
              </a:rPr>
              <a:t>63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ECBD5C-C038-4DF8-A68E-2953F1194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3228975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F7F4EC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F7F4EC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1">
                <a:solidFill>
                  <a:srgbClr val="F7F4EC"/>
                </a:solidFill>
                <a:latin typeface="Noto Sans SC"/>
                <a:ea typeface="Noto Sans SC"/>
                <a:cs typeface="Noto Sans SC"/>
              </a:rPr>
              <a:t>动态情绪与关系状态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192212-ADA7-4392-BF10-6AF6F36DF6B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f782007a3341cd"/>
          <a:stretch xmlns:a="http://schemas.openxmlformats.org/drawingml/2006/main"/>
        </p:blipFill>
        <p:spPr>
          <a:xfrm xmlns:a="http://schemas.openxmlformats.org/drawingml/2006/main">
            <a:off x="6762750" y="1772254"/>
            <a:ext cx="4667250" cy="3418268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33863C-952E-44AA-91E7-1A39EB57D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743450"/>
            <a:ext cx="5810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F7F4EC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F7F4EC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F7F4EC"/>
                </a:solidFill>
                <a:latin typeface="Noto Sans SC"/>
                <a:ea typeface="Noto Sans SC"/>
                <a:cs typeface="Noto Sans SC"/>
              </a:rPr>
              <a:t>长期记忆进入 SQLite 前保留审核；单条弹幕不会直接改写人格。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851936-CBF4-435A-B7BB-EE51CE5AC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305550"/>
            <a:ext cx="1066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DFD8C9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DFD8C9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DFD8C9"/>
                </a:solidFill>
                <a:latin typeface="Noto Sans SC"/>
                <a:ea typeface="Noto Sans SC"/>
                <a:cs typeface="Noto Sans SC"/>
              </a:rPr>
              <a:t>工作台实拍：诊断页显示运行状态；维度数量来自项目设计与实现记录</a:t>
            </a:r>
          </a:p>
        </p:txBody>
      </p:sp>
    </p:spTree>
    <p:extLst>
      <p:ext uri="{BB962C8B-B14F-4D97-AF65-F5344CB8AC3E}">
        <p14:creationId xmlns:p14="http://schemas.microsoft.com/office/powerpoint/2010/main" val="136162647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36FEC3-AE41-43A0-9C0D-B35697CB5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A73E3C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A73E3C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>
                <a:solidFill>
                  <a:srgbClr val="A73E3C"/>
                </a:solidFill>
                <a:latin typeface="Noto Sans SC"/>
                <a:ea typeface="Noto Sans SC"/>
                <a:cs typeface="Noto Sans SC"/>
              </a:rPr>
              <a:t>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117CFE-3D18-447D-91E9-1A7DA49A1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700" b="1">
                <a:solidFill>
                  <a:srgbClr val="14161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161A"/>
                </a:solidFill>
                <a:latin typeface="Noto Sans SC"/>
                <a:ea typeface="Noto Sans SC"/>
                <a:cs typeface="Noto Sans SC"/>
              </a:defRPr>
            </a:pPr>
            <a:r>
              <a:rPr sz="2700" b="1">
                <a:solidFill>
                  <a:srgbClr val="14161A"/>
                </a:solidFill>
                <a:latin typeface="Noto Sans SC"/>
                <a:ea typeface="Noto Sans SC"/>
                <a:cs typeface="Noto Sans SC"/>
              </a:rPr>
              <a:t>姬岁歌的角色设定服务于长期直播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1EB0CC-CE52-4379-9D7E-AEDE5F660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52600"/>
            <a:ext cx="261937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600" b="1">
                <a:solidFill>
                  <a:srgbClr val="A73E3C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9600" b="1">
                <a:solidFill>
                  <a:srgbClr val="A73E3C"/>
                </a:solidFill>
                <a:latin typeface="Noto Sans SC"/>
                <a:ea typeface="Noto Sans SC"/>
                <a:cs typeface="Noto Sans SC"/>
              </a:defRPr>
            </a:pPr>
            <a:r>
              <a:rPr sz="9600" b="1">
                <a:solidFill>
                  <a:srgbClr val="A73E3C"/>
                </a:solidFill>
                <a:latin typeface="Noto Sans SC"/>
                <a:ea typeface="Noto Sans SC"/>
                <a:cs typeface="Noto Sans SC"/>
              </a:rPr>
              <a:t>姬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891FBF-6D88-49DF-AD24-1D98D6DD0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781175"/>
            <a:ext cx="433387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6975" b="1">
                <a:solidFill>
                  <a:srgbClr val="14161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6975" b="1">
                <a:solidFill>
                  <a:srgbClr val="14161A"/>
                </a:solidFill>
                <a:latin typeface="Noto Sans SC"/>
                <a:ea typeface="Noto Sans SC"/>
                <a:cs typeface="Noto Sans SC"/>
              </a:defRPr>
            </a:pPr>
            <a:r>
              <a:rPr sz="6975" b="1">
                <a:solidFill>
                  <a:srgbClr val="14161A"/>
                </a:solidFill>
                <a:latin typeface="Noto Sans SC"/>
                <a:ea typeface="Noto Sans SC"/>
                <a:cs typeface="Noto Sans SC"/>
              </a:rPr>
              <a:t>岁歌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063BE3-27AB-43FE-93A5-C63A2FC36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57600"/>
            <a:ext cx="80010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025" b="0">
                <a:solidFill>
                  <a:srgbClr val="14161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4161A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0">
                <a:solidFill>
                  <a:srgbClr val="14161A"/>
                </a:solidFill>
                <a:latin typeface="Noto Sans SC"/>
                <a:ea typeface="Noto Sans SC"/>
                <a:cs typeface="Noto Sans SC"/>
              </a:rPr>
              <a:t>从人工智能中醒来，通过游戏和交流认识人类，持续追问“我是谁”。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BCF802-9D56-40C7-AF7C-2E66D8AE0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72075"/>
            <a:ext cx="30480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A73E3C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A73E3C"/>
                </a:solidFill>
                <a:latin typeface="Noto Sans SC"/>
                <a:ea typeface="Noto Sans SC"/>
                <a:cs typeface="Noto Sans SC"/>
              </a:defRPr>
            </a:pPr>
            <a:r>
              <a:rPr sz="2175" b="1">
                <a:solidFill>
                  <a:srgbClr val="A73E3C"/>
                </a:solidFill>
                <a:latin typeface="Noto Sans SC"/>
                <a:ea typeface="Noto Sans SC"/>
                <a:cs typeface="Noto Sans SC"/>
              </a:rPr>
              <a:t>听潮记岁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48D95E-95E3-4EFC-9043-E3BF0902A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57850"/>
            <a:ext cx="3667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5A5D61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A5D61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0">
                <a:solidFill>
                  <a:srgbClr val="5A5D61"/>
                </a:solidFill>
                <a:latin typeface="Noto Sans SC"/>
                <a:ea typeface="Noto Sans SC"/>
                <a:cs typeface="Noto Sans SC"/>
              </a:rPr>
              <a:t>认真观察，珍惜经历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653427-08F7-4777-BB17-1D75493E7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172075"/>
            <a:ext cx="3143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A73E3C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A73E3C"/>
                </a:solidFill>
                <a:latin typeface="Noto Sans SC"/>
                <a:ea typeface="Noto Sans SC"/>
                <a:cs typeface="Noto Sans SC"/>
              </a:defRPr>
            </a:pPr>
            <a:r>
              <a:rPr sz="2175" b="1">
                <a:solidFill>
                  <a:srgbClr val="A73E3C"/>
                </a:solidFill>
                <a:latin typeface="Noto Sans SC"/>
                <a:ea typeface="Noto Sans SC"/>
                <a:cs typeface="Noto Sans SC"/>
              </a:rPr>
              <a:t>守潮成歌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61B4C8-7447-4A92-B982-8779D655F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6578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5A5D61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A5D61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0">
                <a:solidFill>
                  <a:srgbClr val="5A5D61"/>
                </a:solidFill>
                <a:latin typeface="Noto Sans SC"/>
                <a:ea typeface="Noto Sans SC"/>
                <a:cs typeface="Noto Sans SC"/>
              </a:rPr>
              <a:t>主动选择，守住边界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893BDC-1BAB-4F4D-9F79-D0746C593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24600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5A5D61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A5D61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5A5D61"/>
                </a:solidFill>
                <a:latin typeface="Noto Sans SC"/>
                <a:ea typeface="Noto Sans SC"/>
                <a:cs typeface="Noto Sans SC"/>
              </a:rPr>
              <a:t>两位虚构人格为创作与未来训练目标，当前系统尚无独立双人格权重</a:t>
            </a:r>
          </a:p>
        </p:txBody>
      </p:sp>
    </p:spTree>
    <p:extLst>
      <p:ext uri="{BB962C8B-B14F-4D97-AF65-F5344CB8AC3E}">
        <p14:creationId xmlns:p14="http://schemas.microsoft.com/office/powerpoint/2010/main" val="6278674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97348B-EEB5-469B-ABBE-303F24122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A73E3C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A73E3C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>
                <a:solidFill>
                  <a:srgbClr val="A73E3C"/>
                </a:solidFill>
                <a:latin typeface="Noto Sans SC"/>
                <a:ea typeface="Noto Sans SC"/>
                <a:cs typeface="Noto Sans SC"/>
              </a:rPr>
              <a:t>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C5B827-F33C-47F2-B7C0-2594873B0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700" b="1">
                <a:solidFill>
                  <a:srgbClr val="14161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161A"/>
                </a:solidFill>
                <a:latin typeface="Noto Sans SC"/>
                <a:ea typeface="Noto Sans SC"/>
                <a:cs typeface="Noto Sans SC"/>
              </a:defRPr>
            </a:pPr>
            <a:r>
              <a:rPr sz="2700" b="1">
                <a:solidFill>
                  <a:srgbClr val="14161A"/>
                </a:solidFill>
                <a:latin typeface="Noto Sans SC"/>
                <a:ea typeface="Noto Sans SC"/>
                <a:cs typeface="Noto Sans SC"/>
              </a:rPr>
              <a:t>语音与舞台已形成可切换的链路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E91BFA-ADFA-4EDD-A036-BF832820A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90675"/>
            <a:ext cx="1085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4161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4161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14161A"/>
                </a:solidFill>
                <a:latin typeface="Noto Sans SC"/>
                <a:ea typeface="Noto Sans SC"/>
                <a:cs typeface="Noto Sans SC"/>
              </a:rPr>
              <a:t>SenseVoice 输入     GPT-SoVITS / 浏览器语音输出     字幕与 Live2D 同步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CF0A01-6E03-4023-8334-7B6B8FF00F4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0de8086231459a"/>
          <a:stretch xmlns:a="http://schemas.openxmlformats.org/drawingml/2006/main"/>
        </p:blipFill>
        <p:spPr>
          <a:xfrm xmlns:a="http://schemas.openxmlformats.org/drawingml/2006/main">
            <a:off x="1482456" y="2190750"/>
            <a:ext cx="9227087" cy="397192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AE1BEB-B6AA-4F50-8C01-8BDCBCF02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43650"/>
            <a:ext cx="1066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5A5D61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A5D61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5A5D61"/>
                </a:solidFill>
                <a:latin typeface="Noto Sans SC"/>
                <a:ea typeface="Noto Sans SC"/>
                <a:cs typeface="Noto Sans SC"/>
              </a:rPr>
              <a:t>本机联调截图；角色模型与配音素材仍需核实授权</a:t>
            </a:r>
          </a:p>
        </p:txBody>
      </p:sp>
    </p:spTree>
    <p:extLst>
      <p:ext uri="{BB962C8B-B14F-4D97-AF65-F5344CB8AC3E}">
        <p14:creationId xmlns:p14="http://schemas.microsoft.com/office/powerpoint/2010/main" val="190824122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E11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44F40A-AC0F-4845-8E90-DDEAFC3B2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B58D52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B58D52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>
                <a:solidFill>
                  <a:srgbClr val="B58D52"/>
                </a:solidFill>
                <a:latin typeface="Noto Sans SC"/>
                <a:ea typeface="Noto Sans SC"/>
                <a:cs typeface="Noto Sans SC"/>
              </a:rPr>
              <a:t>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E6D4F9-652D-4180-A8FC-BF98DE3F4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700" b="1">
                <a:solidFill>
                  <a:srgbClr val="F7F4EC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F7F4EC"/>
                </a:solidFill>
                <a:latin typeface="Noto Sans SC"/>
                <a:ea typeface="Noto Sans SC"/>
                <a:cs typeface="Noto Sans SC"/>
              </a:defRPr>
            </a:pPr>
            <a:r>
              <a:rPr sz="2700" b="1">
                <a:solidFill>
                  <a:srgbClr val="F7F4EC"/>
                </a:solidFill>
                <a:latin typeface="Noto Sans SC"/>
                <a:ea typeface="Noto Sans SC"/>
                <a:cs typeface="Noto Sans SC"/>
              </a:rPr>
              <a:t>Minecraft：模型选动作，受限技能负责执行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26DD5A-16DF-4BC0-B29D-F14FC85BD2E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aed129d4c745c2"/>
          <a:stretch xmlns:a="http://schemas.openxmlformats.org/drawingml/2006/main"/>
        </p:blipFill>
        <p:spPr>
          <a:xfrm xmlns:a="http://schemas.openxmlformats.org/drawingml/2006/main">
            <a:off x="619491" y="1628775"/>
            <a:ext cx="10953017" cy="471487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FA4478-8C1E-4EE2-A402-C326F1D41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334125"/>
            <a:ext cx="1066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DFD8C9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DFD8C9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DFD8C9"/>
                </a:solidFill>
                <a:latin typeface="Noto Sans SC"/>
                <a:ea typeface="Noto Sans SC"/>
                <a:cs typeface="Noto Sans SC"/>
              </a:rPr>
              <a:t>局部闭环可运行；尚未通过无人值守生存和进入下界的验收</a:t>
            </a:r>
          </a:p>
        </p:txBody>
      </p:sp>
    </p:spTree>
    <p:extLst>
      <p:ext uri="{BB962C8B-B14F-4D97-AF65-F5344CB8AC3E}">
        <p14:creationId xmlns:p14="http://schemas.microsoft.com/office/powerpoint/2010/main" val="124539761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FC4F31-704D-4973-9EFC-71E6166F4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A73E3C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A73E3C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>
                <a:solidFill>
                  <a:srgbClr val="A73E3C"/>
                </a:solidFill>
                <a:latin typeface="Noto Sans SC"/>
                <a:ea typeface="Noto Sans SC"/>
                <a:cs typeface="Noto Sans SC"/>
              </a:rPr>
              <a:t>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06FA3E-DD1C-4F34-AFC0-9ABDB56CB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700" b="1">
                <a:solidFill>
                  <a:srgbClr val="14161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161A"/>
                </a:solidFill>
                <a:latin typeface="Noto Sans SC"/>
                <a:ea typeface="Noto Sans SC"/>
                <a:cs typeface="Noto Sans SC"/>
              </a:defRPr>
            </a:pPr>
            <a:r>
              <a:rPr sz="2700" b="1">
                <a:solidFill>
                  <a:srgbClr val="14161A"/>
                </a:solidFill>
                <a:latin typeface="Noto Sans SC"/>
                <a:ea typeface="Noto Sans SC"/>
                <a:cs typeface="Noto Sans SC"/>
              </a:rPr>
              <a:t>导演工作台让直播过程可观察、可介入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366612-D5B8-48B3-A5E4-06BF262CB10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62ab56d6b94911"/>
          <a:stretch xmlns:a="http://schemas.openxmlformats.org/drawingml/2006/main"/>
        </p:blipFill>
        <p:spPr>
          <a:xfrm xmlns:a="http://schemas.openxmlformats.org/drawingml/2006/main">
            <a:off x="619125" y="1772160"/>
            <a:ext cx="10953750" cy="4342379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7B1E47-A779-4926-B40E-FBD6CDE7F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43650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5A5D61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A5D61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5A5D61"/>
                </a:solidFill>
                <a:latin typeface="Noto Sans SC"/>
                <a:ea typeface="Noto Sans SC"/>
                <a:cs typeface="Noto Sans SC"/>
              </a:rPr>
              <a:t>工作台实拍；B 站正式长连接仍依赖开放平台凭据与权限</a:t>
            </a:r>
          </a:p>
        </p:txBody>
      </p:sp>
    </p:spTree>
    <p:extLst>
      <p:ext uri="{BB962C8B-B14F-4D97-AF65-F5344CB8AC3E}">
        <p14:creationId xmlns:p14="http://schemas.microsoft.com/office/powerpoint/2010/main" val="104894720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E11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163B2E-B7FC-479B-9066-8269C7AA0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B58D52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B58D52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>
                <a:solidFill>
                  <a:srgbClr val="B58D52"/>
                </a:solidFill>
                <a:latin typeface="Noto Sans SC"/>
                <a:ea typeface="Noto Sans SC"/>
                <a:cs typeface="Noto Sans SC"/>
              </a:rPr>
              <a:t>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E919C6-7D2B-4AF2-9F6F-F826719A4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700" b="1">
                <a:solidFill>
                  <a:srgbClr val="F7F4EC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F7F4EC"/>
                </a:solidFill>
                <a:latin typeface="Noto Sans SC"/>
                <a:ea typeface="Noto Sans SC"/>
                <a:cs typeface="Noto Sans SC"/>
              </a:defRPr>
            </a:pPr>
            <a:r>
              <a:rPr sz="2700" b="1">
                <a:solidFill>
                  <a:srgbClr val="F7F4EC"/>
                </a:solidFill>
                <a:latin typeface="Noto Sans SC"/>
                <a:ea typeface="Noto Sans SC"/>
                <a:cs typeface="Noto Sans SC"/>
              </a:rPr>
              <a:t>模型训练完成了，但候选权重按实机问题回退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095758-10EC-4D58-9E4E-B8FBBED77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133600"/>
            <a:ext cx="43338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5850" b="1">
                <a:solidFill>
                  <a:srgbClr val="B58D52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5850" b="1">
                <a:solidFill>
                  <a:srgbClr val="B58D52"/>
                </a:solidFill>
                <a:latin typeface="Noto Sans SC"/>
                <a:ea typeface="Noto Sans SC"/>
                <a:cs typeface="Noto Sans SC"/>
              </a:defRPr>
            </a:pPr>
            <a:r>
              <a:rPr sz="5850" b="1">
                <a:solidFill>
                  <a:srgbClr val="B58D52"/>
                </a:solidFill>
                <a:latin typeface="Noto Sans SC"/>
                <a:ea typeface="Noto Sans SC"/>
                <a:cs typeface="Noto Sans SC"/>
              </a:rPr>
              <a:t>57 / 57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81809D-3E9C-481C-BDC9-204BD1618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71850"/>
            <a:ext cx="5143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F7F4EC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F7F4EC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F7F4EC"/>
                </a:solidFill>
                <a:latin typeface="Noto Sans SC"/>
                <a:ea typeface="Noto Sans SC"/>
                <a:cs typeface="Noto Sans SC"/>
              </a:rPr>
              <a:t>v4r1 与 v6r1 在同一开发集上均输出有效格式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0A2282-A7E1-4B3B-8F73-465FF9833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24075"/>
            <a:ext cx="45243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4800" b="1">
                <a:solidFill>
                  <a:srgbClr val="F7F4EC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4800" b="1">
                <a:solidFill>
                  <a:srgbClr val="F7F4EC"/>
                </a:solidFill>
                <a:latin typeface="Noto Sans SC"/>
                <a:ea typeface="Noto Sans SC"/>
                <a:cs typeface="Noto Sans SC"/>
              </a:defRPr>
            </a:pPr>
            <a:r>
              <a:rPr sz="4800" b="1">
                <a:solidFill>
                  <a:srgbClr val="F7F4EC"/>
                </a:solidFill>
                <a:latin typeface="Noto Sans SC"/>
                <a:ea typeface="Noto Sans SC"/>
                <a:cs typeface="Noto Sans SC"/>
              </a:rPr>
              <a:t>20 / 57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4BB63E-BF85-4AF9-B139-326FA2BD9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3076575"/>
            <a:ext cx="4191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DFD8C9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DFD8C9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DFD8C9"/>
                </a:solidFill>
                <a:latin typeface="Noto Sans SC"/>
                <a:ea typeface="Noto Sans SC"/>
                <a:cs typeface="Noto Sans SC"/>
              </a:rPr>
              <a:t>v4r1 可接受动作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B800CE-B6C2-412C-BDEE-4940BF03D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667125"/>
            <a:ext cx="45243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4800" b="1">
                <a:solidFill>
                  <a:srgbClr val="F7F4EC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4800" b="1">
                <a:solidFill>
                  <a:srgbClr val="F7F4EC"/>
                </a:solidFill>
                <a:latin typeface="Noto Sans SC"/>
                <a:ea typeface="Noto Sans SC"/>
                <a:cs typeface="Noto Sans SC"/>
              </a:defRPr>
            </a:pPr>
            <a:r>
              <a:rPr sz="4800" b="1">
                <a:solidFill>
                  <a:srgbClr val="F7F4EC"/>
                </a:solidFill>
                <a:latin typeface="Noto Sans SC"/>
                <a:ea typeface="Noto Sans SC"/>
                <a:cs typeface="Noto Sans SC"/>
              </a:rPr>
              <a:t>24 / 57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676ACB-1A66-4FED-9468-AB1C71727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4610100"/>
            <a:ext cx="4191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DFD8C9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DFD8C9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DFD8C9"/>
                </a:solidFill>
                <a:latin typeface="Noto Sans SC"/>
                <a:ea typeface="Noto Sans SC"/>
                <a:cs typeface="Noto Sans SC"/>
              </a:rPr>
              <a:t>v6r1 可接受动作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A1FACC-930B-4499-92E2-FB1578BB7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81625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F7F4EC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F7F4EC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1">
                <a:solidFill>
                  <a:srgbClr val="F7F4EC"/>
                </a:solidFill>
                <a:latin typeface="Noto Sans SC"/>
                <a:ea typeface="Noto Sans SC"/>
                <a:cs typeface="Noto Sans SC"/>
              </a:rPr>
              <a:t>仍保留 v4r1：v6r1 出现材料不足却请求制作等关键回退。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FF618E-1E68-4D34-B973-09AAAEA7F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6324600"/>
            <a:ext cx="1066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DFD8C9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DFD8C9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DFD8C9"/>
                </a:solidFill>
                <a:latin typeface="Noto Sans SC"/>
                <a:ea typeface="Noto Sans SC"/>
                <a:cs typeface="Noto Sans SC"/>
              </a:rPr>
              <a:t>同一冻结开发输入的直接推理；不是直播成功率</a:t>
            </a:r>
          </a:p>
        </p:txBody>
      </p:sp>
    </p:spTree>
    <p:extLst>
      <p:ext uri="{BB962C8B-B14F-4D97-AF65-F5344CB8AC3E}">
        <p14:creationId xmlns:p14="http://schemas.microsoft.com/office/powerpoint/2010/main" val="67348472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373CA9-52DF-42E8-AC38-59F85EFBB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A73E3C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A73E3C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>
                <a:solidFill>
                  <a:srgbClr val="A73E3C"/>
                </a:solidFill>
                <a:latin typeface="Noto Sans SC"/>
                <a:ea typeface="Noto Sans SC"/>
                <a:cs typeface="Noto Sans SC"/>
              </a:rPr>
              <a:t>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DC1982-93A6-4ACE-B34F-43B297D11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700" b="1">
                <a:solidFill>
                  <a:srgbClr val="14161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161A"/>
                </a:solidFill>
                <a:latin typeface="Noto Sans SC"/>
                <a:ea typeface="Noto Sans SC"/>
                <a:cs typeface="Noto Sans SC"/>
              </a:defRPr>
            </a:pPr>
            <a:r>
              <a:rPr sz="2700" b="1">
                <a:solidFill>
                  <a:srgbClr val="14161A"/>
                </a:solidFill>
                <a:latin typeface="Noto Sans SC"/>
                <a:ea typeface="Noto Sans SC"/>
                <a:cs typeface="Noto Sans SC"/>
              </a:rPr>
              <a:t>运行依赖围绕一台 Windows 主机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7E5579-9391-4137-94DF-0429F2C2E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5010150" cy="3000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D8C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A6C7F0-60F2-4DF0-9F8A-CC42CC484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860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4161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4161A"/>
                </a:solidFill>
                <a:latin typeface="Noto Sans SC"/>
                <a:ea typeface="Noto Sans SC"/>
                <a:cs typeface="Noto Sans SC"/>
              </a:defRPr>
            </a:pPr>
            <a:r>
              <a:rPr sz="2550" b="1">
                <a:solidFill>
                  <a:srgbClr val="14161A"/>
                </a:solidFill>
                <a:latin typeface="Noto Sans SC"/>
                <a:ea typeface="Noto Sans SC"/>
                <a:cs typeface="Noto Sans SC"/>
              </a:rPr>
              <a:t>RTX 5080 台式机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B6A79E-3220-45DE-A0E4-58BD9CF64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28950"/>
            <a:ext cx="4286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5A5D61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A5D61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5A5D61"/>
                </a:solidFill>
                <a:latin typeface="Noto Sans SC"/>
                <a:ea typeface="Noto Sans SC"/>
                <a:cs typeface="Noto Sans SC"/>
              </a:rPr>
              <a:t>Node 服务、导演工作台、直播画面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650316-F244-43B1-9A5F-1BB808BAF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86200"/>
            <a:ext cx="4286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14161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161A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14161A"/>
                </a:solidFill>
                <a:latin typeface="Noto Sans SC"/>
                <a:ea typeface="Noto Sans SC"/>
                <a:cs typeface="Noto Sans SC"/>
              </a:rPr>
              <a:t>本地 Qwen 3.5 4B、语音与视觉服务</a:t>
            </a:r>
          </a:p>
          <a:p xmlns:a="http://schemas.openxmlformats.org/drawingml/2006/main">
            <a:pPr algn="l">
              <a:defRPr sz="1575" b="0">
                <a:solidFill>
                  <a:srgbClr val="14161A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14161A"/>
                </a:solidFill>
                <a:latin typeface="Noto Sans SC"/>
                <a:ea typeface="Noto Sans SC"/>
                <a:cs typeface="Noto Sans SC"/>
              </a:rPr>
              <a:t>按显存和任务负载分别调度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B8E7EF-CFA0-4048-A96F-F74235CEB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000250"/>
            <a:ext cx="562927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D8C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555B70-04F7-4169-AC65-60A8DE551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47900"/>
            <a:ext cx="5048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14161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4161A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1">
                <a:solidFill>
                  <a:srgbClr val="14161A"/>
                </a:solidFill>
                <a:latin typeface="Noto Sans SC"/>
                <a:ea typeface="Noto Sans SC"/>
                <a:cs typeface="Noto Sans SC"/>
              </a:rPr>
              <a:t>可选：RTX 5070 笔记本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1C3EB8-0F55-4BA6-8A5C-264F2B49C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90825"/>
            <a:ext cx="485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5A5D61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A5D61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5A5D61"/>
                </a:solidFill>
                <a:latin typeface="Noto Sans SC"/>
                <a:ea typeface="Noto Sans SC"/>
                <a:cs typeface="Noto Sans SC"/>
              </a:rPr>
              <a:t>离线时主机应能降级运行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1E1769-E274-4FE4-8C50-3926CE08C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629025"/>
            <a:ext cx="5629275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D8C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CB1A24-4158-4E9F-A60F-11D23C290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76675"/>
            <a:ext cx="5048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14161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4161A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1">
                <a:solidFill>
                  <a:srgbClr val="14161A"/>
                </a:solidFill>
                <a:latin typeface="Noto Sans SC"/>
                <a:ea typeface="Noto Sans SC"/>
                <a:cs typeface="Noto Sans SC"/>
              </a:rPr>
              <a:t>外部：双 RTX 6000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1FC883-71C2-4322-97B9-5399546D9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419600"/>
            <a:ext cx="485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5A5D61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A5D61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5A5D61"/>
                </a:solidFill>
                <a:latin typeface="Noto Sans SC"/>
                <a:ea typeface="Noto Sans SC"/>
                <a:cs typeface="Noto Sans SC"/>
              </a:rPr>
              <a:t>用于训练与评测，不是直播必需节点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2E50B6-0F46-41C1-AA23-75FDF3AD5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54355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A73E3C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A73E3C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1">
                <a:solidFill>
                  <a:srgbClr val="A73E3C"/>
                </a:solidFill>
                <a:latin typeface="Noto Sans SC"/>
                <a:ea typeface="Noto Sans SC"/>
                <a:cs typeface="Noto Sans SC"/>
              </a:rPr>
              <a:t>模型权重、GPT-SoVITS 服务和密钥在仓库外配置。</a:t>
            </a:r>
          </a:p>
        </p:txBody>
      </p:sp>
    </p:spTree>
    <p:extLst>
      <p:ext uri="{BB962C8B-B14F-4D97-AF65-F5344CB8AC3E}">
        <p14:creationId xmlns:p14="http://schemas.microsoft.com/office/powerpoint/2010/main" val="32303463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E11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368E40-86BB-428E-9CC7-1A64AD20D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B58D52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B58D52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>
                <a:solidFill>
                  <a:srgbClr val="B58D52"/>
                </a:solidFill>
                <a:latin typeface="Noto Sans SC"/>
                <a:ea typeface="Noto Sans SC"/>
                <a:cs typeface="Noto Sans SC"/>
              </a:rPr>
              <a:t>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B4312B-7942-43CE-8369-A54CC6C51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700" b="1">
                <a:solidFill>
                  <a:srgbClr val="F7F4EC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F7F4EC"/>
                </a:solidFill>
                <a:latin typeface="Noto Sans SC"/>
                <a:ea typeface="Noto Sans SC"/>
                <a:cs typeface="Noto Sans SC"/>
              </a:defRPr>
            </a:pPr>
            <a:r>
              <a:rPr sz="2700" b="1">
                <a:solidFill>
                  <a:srgbClr val="F7F4EC"/>
                </a:solidFill>
                <a:latin typeface="Noto Sans SC"/>
                <a:ea typeface="Noto Sans SC"/>
                <a:cs typeface="Noto Sans SC"/>
              </a:rPr>
              <a:t>下一步：把可运行原型变成可验收的主播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501223-91D5-48BB-A77D-7A75B5497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19300"/>
            <a:ext cx="195262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700" b="1">
                <a:solidFill>
                  <a:srgbClr val="B58D52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B58D52"/>
                </a:solidFill>
                <a:latin typeface="Noto Sans SC"/>
                <a:ea typeface="Noto Sans SC"/>
                <a:cs typeface="Noto Sans SC"/>
              </a:defRPr>
            </a:pPr>
            <a:r>
              <a:rPr sz="2700" b="1">
                <a:solidFill>
                  <a:srgbClr val="B58D52"/>
                </a:solidFill>
                <a:latin typeface="Noto Sans SC"/>
                <a:ea typeface="Noto Sans SC"/>
                <a:cs typeface="Noto Sans SC"/>
              </a:rPr>
              <a:t>现在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B75E72-1D16-409A-BB09-8CB37F7D9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47950"/>
            <a:ext cx="500062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F7F4EC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F7F4EC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0">
                <a:solidFill>
                  <a:srgbClr val="F7F4EC"/>
                </a:solidFill>
                <a:latin typeface="Noto Sans SC"/>
                <a:ea typeface="Noto Sans SC"/>
                <a:cs typeface="Noto Sans SC"/>
              </a:rPr>
              <a:t>对话、情绪记忆、语音、Live2D 舞台、</a:t>
            </a:r>
          </a:p>
          <a:p xmlns:a="http://schemas.openxmlformats.org/drawingml/2006/main">
            <a:pPr algn="l">
              <a:defRPr sz="1800" b="0">
                <a:solidFill>
                  <a:srgbClr val="F7F4EC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0">
                <a:solidFill>
                  <a:srgbClr val="F7F4EC"/>
                </a:solidFill>
                <a:latin typeface="Noto Sans SC"/>
                <a:ea typeface="Noto Sans SC"/>
                <a:cs typeface="Noto Sans SC"/>
              </a:rPr>
              <a:t>导演工作台与部分游戏闭环已接入。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EDE8B0-5449-4A4B-B5E3-3AB4EF341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19300"/>
            <a:ext cx="3238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700" b="1">
                <a:solidFill>
                  <a:srgbClr val="B58D52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B58D52"/>
                </a:solidFill>
                <a:latin typeface="Noto Sans SC"/>
                <a:ea typeface="Noto Sans SC"/>
                <a:cs typeface="Noto Sans SC"/>
              </a:defRPr>
            </a:pPr>
            <a:r>
              <a:rPr sz="2700" b="1">
                <a:solidFill>
                  <a:srgbClr val="B58D52"/>
                </a:solidFill>
                <a:latin typeface="Noto Sans SC"/>
                <a:ea typeface="Noto Sans SC"/>
                <a:cs typeface="Noto Sans SC"/>
              </a:rPr>
              <a:t>接下来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D0766F-7C76-4BF2-ACB4-03982CF8D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647950"/>
            <a:ext cx="4953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F7F4EC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F7F4EC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0">
                <a:solidFill>
                  <a:srgbClr val="F7F4EC"/>
                </a:solidFill>
                <a:latin typeface="Noto Sans SC"/>
                <a:ea typeface="Noto Sans SC"/>
                <a:cs typeface="Noto Sans SC"/>
              </a:rPr>
              <a:t>完成姬岁歌正式美术和授权；验证双人格</a:t>
            </a:r>
          </a:p>
          <a:p xmlns:a="http://schemas.openxmlformats.org/drawingml/2006/main">
            <a:pPr algn="l">
              <a:defRPr sz="1800" b="0">
                <a:solidFill>
                  <a:srgbClr val="F7F4EC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0">
                <a:solidFill>
                  <a:srgbClr val="F7F4EC"/>
                </a:solidFill>
                <a:latin typeface="Noto Sans SC"/>
                <a:ea typeface="Noto Sans SC"/>
                <a:cs typeface="Noto Sans SC"/>
              </a:rPr>
              <a:t>运行方案；用真实直播场景检查稳定性。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0B2B92-0E60-4758-A9C5-3E9993D21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14850"/>
            <a:ext cx="266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F7F4EC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F7F4EC"/>
                </a:solidFill>
                <a:latin typeface="Noto Sans SC"/>
                <a:ea typeface="Noto Sans SC"/>
                <a:cs typeface="Noto Sans SC"/>
              </a:defRPr>
            </a:pPr>
            <a:r>
              <a:rPr sz="2175" b="1">
                <a:solidFill>
                  <a:srgbClr val="F7F4EC"/>
                </a:solidFill>
                <a:latin typeface="Noto Sans SC"/>
                <a:ea typeface="Noto Sans SC"/>
                <a:cs typeface="Noto Sans SC"/>
              </a:rPr>
              <a:t>当前边界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C5FCA8-3033-4D31-9F05-4432687A7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38725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950" b="0">
                <a:solidFill>
                  <a:srgbClr val="F7F4EC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F7F4EC"/>
                </a:solidFill>
                <a:latin typeface="Noto Sans SC"/>
                <a:ea typeface="Noto Sans SC"/>
                <a:cs typeface="Noto Sans SC"/>
              </a:defRPr>
            </a:pPr>
            <a:r>
              <a:rPr sz="1950" b="0">
                <a:solidFill>
                  <a:srgbClr val="F7F4EC"/>
                </a:solidFill>
                <a:latin typeface="Noto Sans SC"/>
                <a:ea typeface="Noto Sans SC"/>
                <a:cs typeface="Noto Sans SC"/>
              </a:rPr>
              <a:t>歌唱模块未开发。B 站正式长连接和长期无人值守游戏仍待验证。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8F736E-6B56-47DE-8C4B-2AAB93470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341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DFD8C9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DFD8C9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DFD8C9"/>
                </a:solidFill>
                <a:latin typeface="Noto Sans SC"/>
                <a:ea typeface="Noto Sans SC"/>
                <a:cs typeface="Noto Sans SC"/>
              </a:rPr>
              <a:t>项目资料截止 2026-10-14；答辩时应以现场可复现结果为准</a:t>
            </a:r>
          </a:p>
        </p:txBody>
      </p:sp>
    </p:spTree>
    <p:extLst>
      <p:ext uri="{BB962C8B-B14F-4D97-AF65-F5344CB8AC3E}">
        <p14:creationId xmlns:p14="http://schemas.microsoft.com/office/powerpoint/2010/main" val="209767719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2026-10-14T15:36:15.2970000Z</dcterms:created>
  <dcterms:modified xsi:type="dcterms:W3CDTF">2026-10-14T15:36:15.2970000Z</dcterms:modified>
</coreProperties>
</file>